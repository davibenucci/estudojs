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325" r:id="rId3"/>
    <p:sldId id="355" r:id="rId4"/>
    <p:sldId id="336" r:id="rId5"/>
    <p:sldId id="337" r:id="rId6"/>
    <p:sldId id="356" r:id="rId7"/>
    <p:sldId id="334" r:id="rId8"/>
    <p:sldId id="329" r:id="rId9"/>
    <p:sldId id="357" r:id="rId10"/>
    <p:sldId id="330" r:id="rId11"/>
    <p:sldId id="326" r:id="rId12"/>
    <p:sldId id="338" r:id="rId13"/>
    <p:sldId id="358" r:id="rId14"/>
    <p:sldId id="360" r:id="rId15"/>
    <p:sldId id="331" r:id="rId16"/>
    <p:sldId id="344" r:id="rId17"/>
    <p:sldId id="359" r:id="rId18"/>
    <p:sldId id="345" r:id="rId19"/>
    <p:sldId id="340" r:id="rId20"/>
    <p:sldId id="346" r:id="rId21"/>
    <p:sldId id="347" r:id="rId22"/>
    <p:sldId id="348" r:id="rId23"/>
    <p:sldId id="341" r:id="rId24"/>
    <p:sldId id="349" r:id="rId25"/>
    <p:sldId id="350" r:id="rId26"/>
    <p:sldId id="339" r:id="rId27"/>
    <p:sldId id="351" r:id="rId28"/>
    <p:sldId id="352" r:id="rId29"/>
    <p:sldId id="361" r:id="rId30"/>
    <p:sldId id="363" r:id="rId31"/>
    <p:sldId id="320" r:id="rId32"/>
    <p:sldId id="343" r:id="rId33"/>
    <p:sldId id="342" r:id="rId34"/>
    <p:sldId id="353" r:id="rId35"/>
    <p:sldId id="354" r:id="rId36"/>
    <p:sldId id="362" r:id="rId37"/>
  </p:sldIdLst>
  <p:sldSz cx="9144000" cy="6858000" type="screen4x3"/>
  <p:notesSz cx="6888163" cy="10017125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6" autoAdjust="0"/>
    <p:restoredTop sz="90929"/>
  </p:normalViewPr>
  <p:slideViewPr>
    <p:cSldViewPr>
      <p:cViewPr varScale="1">
        <p:scale>
          <a:sx n="57" d="100"/>
          <a:sy n="57" d="100"/>
        </p:scale>
        <p:origin x="17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6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95DE05F1-AB7D-DA80-D777-CFCFDD1E0F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D9DC0BE-B2BE-7EBF-7E09-0F558847CFB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2037D01B-CB40-387B-BCBC-C5EE3B9E2BD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7063"/>
            <a:ext cx="2984500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DB1885A8-8655-42B0-F612-492FF718A9F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7063"/>
            <a:ext cx="2984500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fld id="{46847CC9-BA9C-49AE-A260-457AC856AF3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AEE2E09E-34AC-FBCF-696F-5599390FFE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7647EA3-6F66-B776-CCBF-DF437AA6AC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EAFD25F-D8B7-4983-B4E8-AB5DD4BD44B0}" type="datetimeFigureOut">
              <a:rPr lang="pt-BR"/>
              <a:pPr>
                <a:defRPr/>
              </a:pPr>
              <a:t>26/08/2026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6673EC1B-87E9-CB87-7B07-29EBE407E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D34963B8-1461-360B-D605-63D1024EA1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757738"/>
            <a:ext cx="5510213" cy="4508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D6E157-3C14-B058-AD0E-99DA0B5F79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51388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D6D5FD-3F5E-1EA8-9ECC-F68F44A59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075" y="9513888"/>
            <a:ext cx="2984500" cy="5016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91DD89D-AFA1-4C1E-AD8A-B8E785D2E0E6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7A38EA4-9335-A4C7-4220-F1B4500858D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ED1A92D-4B58-9093-9320-4C1F315516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3F257AF6-B751-0CBE-E1A3-A32ECE4FD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3953EC4-0593-EC54-68BB-4AD5A04777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7E434599-D329-1DBF-0939-361EE2BF6A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4C7706D-7778-BBDC-66B8-C1C124D586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AA032F-39E7-3514-0454-CEC0C3DDA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B3313EC-DC3C-FDAB-78AC-141136629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043583D1-02F1-47F2-60A8-9F2F39085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411FE818-2277-FD79-26E2-FF53C146451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1F3F770-3C09-602D-90AF-6BCEAF4B98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8EE11C73-1D5E-4CDD-8A13-298E35FF04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BBDBB3B0-8507-4B40-75D1-0574DC7606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898E9B0-C251-4009-8DB4-550491B1751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7330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4B12329-7A5D-D9D2-EC45-BCA1504FD4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7C589A3E-8B30-5EB0-5C60-E54F335993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CDDDEFCD-1A08-6F07-885A-3E5E6C72B2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FB28DA-6F1C-4EC0-B0E4-537085DF2BF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241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794D186D-02B4-2D18-F2CF-81ABEDF3EC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D3F04215-F891-BD85-FABE-9845D7A039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405C4F7A-EB6F-252D-2462-BA61DC07B6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1B8E42-D557-47F9-8325-E192AAE9031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0265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463E8772-8F33-A6F8-14C9-3B1E344B71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D2502878-FCCB-33F4-266E-E189D7C76E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F805C326-9E54-18E2-9816-3D097D038E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12C06-082E-4931-ADB7-A4976655D58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6715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98D95137-13D6-C07D-179E-78DFDA0BDD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96A9EFBB-0DB5-EE58-0A6A-E801149DD1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0D9A0506-67D9-F45F-7B1A-5536B505C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359441-C18A-4BDA-81C2-C9741C4834B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3302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AA38888C-1E34-1D20-1F56-62E80A0EFE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40C9A97F-BDFB-E27F-5D9D-3D647F3A4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1D9EF92E-B67D-5C26-C4A4-51EC763239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6E3860-E14C-4DE8-81C4-B5F16E29765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7888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70F154AC-7352-3467-CA62-E361EA38DB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839C3AB7-FEC1-4BAE-FA1D-D6F319D0C1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D7FCD7B1-D6D8-FBF0-4DCA-5C015DEC9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6D13E9-7E6D-4E34-BB0D-676550917F3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97377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78BD286A-655C-0B5F-7B71-2C6FBCF89D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BD4C8E03-8236-B11B-0EB0-1BD14A864A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B6202C61-A065-6EDA-67BA-F3F3FBAAB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7B343B-8456-4819-BC8B-565E905981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23667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42A3040D-CEFC-5FE3-6358-4FD19FDBBC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34D88120-BFAF-3807-35AF-E5F1362CED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E59002BC-92B2-827F-D885-A2BADC07EE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35DDEA-BBF6-488E-902E-6100923204B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05156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7F5CC654-40CF-BFAA-375B-55B29983FC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17BA3C02-312E-A794-D48B-FB54405296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54C46B03-A3A9-77BE-7AC0-ACE359BB38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1C8EF1-196C-4ADC-9BDD-A84E1AB684A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227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CCB9F83B-DEBE-949E-EE81-C8EC4BA14A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4F19A6A0-FC9A-452C-3CEF-175B81000C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394D6C91-4251-6090-7305-0285ECC250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37B923-3C4A-420B-898C-05EF0BE062D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4644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61CC4AD6-2287-DD16-B10F-A4D043116C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518482D7-4F5E-542F-2D9A-F9A0CC50DFD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F7658FAD-B5D5-612E-0462-415D34A5F6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FA010D8F-F3EA-76B2-ABDF-98F19F3A9F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A5664366-F1C9-EAB9-95E9-D302400C21E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29CA3F6A-BAAF-AD38-4290-EBB8F1EB96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6D0E0B83-2B33-9F8D-CCAA-E28E21538E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E82D600F-6B82-7065-F8AF-4DF90C166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3BF3B8CF-55AA-C0A1-28BB-89F5B6DA0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EE6AE28C-F67B-4DE0-49D5-E9B837FC0F0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9971D2B6-3957-0608-8F7D-B82D29BB8F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6A91329E-1CBE-3443-28AA-8B3B8D00DB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9F976C1-3685-45D0-A33F-2689C5BFCB72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956E5C1-EF02-C380-72A6-C8AADDB74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0996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pt-BR" sz="66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Lógica de Programação </a:t>
            </a:r>
            <a:r>
              <a:rPr lang="pt-BR" sz="6600" b="1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e</a:t>
            </a:r>
            <a:r>
              <a:rPr lang="pt-BR" sz="4400" b="1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 </a:t>
            </a:r>
            <a:r>
              <a:rPr lang="pt-BR" sz="6000" b="1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Algoritmos</a:t>
            </a:r>
            <a:endParaRPr lang="pt-BR" sz="4400" b="1" dirty="0">
              <a:effectLst>
                <a:outerShdw blurRad="38100" dist="38100" dir="2700000" algn="tl">
                  <a:srgbClr val="000000"/>
                </a:outerShdw>
              </a:effectLst>
              <a:latin typeface="BookmanITC Lt BT" pitchFamily="18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lang="pt-BR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02</a:t>
            </a:r>
          </a:p>
          <a:p>
            <a:pPr algn="ctr" eaLnBrk="1" hangingPunct="1">
              <a:defRPr/>
            </a:pPr>
            <a:endParaRPr lang="pt-BR" altLang="pt-BR" sz="4400" b="1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  <p:sp>
        <p:nvSpPr>
          <p:cNvPr id="5123" name="Espaço Reservado para Número de Slide 1">
            <a:extLst>
              <a:ext uri="{FF2B5EF4-FFF2-40B4-BE49-F238E27FC236}">
                <a16:creationId xmlns:a16="http://schemas.microsoft.com/office/drawing/2014/main" id="{0B099C94-0719-86A5-9316-EE9F8720A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7563F27-B633-4691-95C6-0FE02E4BFE6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pt-BR" altLang="pt-BR" sz="1400"/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AAF4872C-A446-FA67-744A-D87CBFA99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419850"/>
            <a:ext cx="598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028">
            <a:extLst>
              <a:ext uri="{FF2B5EF4-FFF2-40B4-BE49-F238E27FC236}">
                <a16:creationId xmlns:a16="http://schemas.microsoft.com/office/drawing/2014/main" id="{C57DD972-F692-E3BA-1441-64444362E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</p:txBody>
      </p:sp>
      <p:sp>
        <p:nvSpPr>
          <p:cNvPr id="6147" name="Espaço Reservado para Número de Slide 1">
            <a:extLst>
              <a:ext uri="{FF2B5EF4-FFF2-40B4-BE49-F238E27FC236}">
                <a16:creationId xmlns:a16="http://schemas.microsoft.com/office/drawing/2014/main" id="{0F2BB599-AF17-61CB-89FA-1F190F6F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EFAC10-7009-474D-AB90-A1F39BB02AB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6148" name="Rectangle 25">
            <a:extLst>
              <a:ext uri="{FF2B5EF4-FFF2-40B4-BE49-F238E27FC236}">
                <a16:creationId xmlns:a16="http://schemas.microsoft.com/office/drawing/2014/main" id="{FD690EFF-8682-54E1-DBE6-E7A2A4F62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VARIÁVEL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28">
            <a:extLst>
              <a:ext uri="{FF2B5EF4-FFF2-40B4-BE49-F238E27FC236}">
                <a16:creationId xmlns:a16="http://schemas.microsoft.com/office/drawing/2014/main" id="{46859E83-D7C1-4CCD-C10F-2D58B02DA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Dados</a:t>
            </a:r>
          </a:p>
        </p:txBody>
      </p:sp>
      <p:sp>
        <p:nvSpPr>
          <p:cNvPr id="7171" name="Rectangle 25">
            <a:extLst>
              <a:ext uri="{FF2B5EF4-FFF2-40B4-BE49-F238E27FC236}">
                <a16:creationId xmlns:a16="http://schemas.microsoft.com/office/drawing/2014/main" id="{7CD2A165-39EE-3704-B1FB-2A273EF4E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Para realizar uma tarefa o computador baseia-se na manipulação das informações contidas em sua memória, classificadas em dois tipos: –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 - Instruções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 - Informações de dados</a:t>
            </a:r>
          </a:p>
        </p:txBody>
      </p:sp>
      <p:sp>
        <p:nvSpPr>
          <p:cNvPr id="7172" name="Espaço Reservado para Número de Slide 1">
            <a:extLst>
              <a:ext uri="{FF2B5EF4-FFF2-40B4-BE49-F238E27FC236}">
                <a16:creationId xmlns:a16="http://schemas.microsoft.com/office/drawing/2014/main" id="{CFD198A2-45BD-4156-5B99-E7554DA9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A37A96-9DEC-4B2A-A57E-873252D7CB4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5">
            <a:extLst>
              <a:ext uri="{FF2B5EF4-FFF2-40B4-BE49-F238E27FC236}">
                <a16:creationId xmlns:a16="http://schemas.microsoft.com/office/drawing/2014/main" id="{5656C3BE-4C25-728F-6D3E-6EC7C4254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 Black" panose="020B0A04020102020204" pitchFamily="34" charset="0"/>
                <a:cs typeface="Arial" panose="020B0604020202020204" pitchFamily="34" charset="0"/>
              </a:rPr>
              <a:t>Tipos Inteiros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: São os dados numéricos positivos ou negativos. Por exemplo: 35, 0, -56.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 Black" panose="020B0A04020102020204" pitchFamily="34" charset="0"/>
                <a:cs typeface="Arial" panose="020B0604020202020204" pitchFamily="34" charset="0"/>
              </a:rPr>
              <a:t>Tipos Reais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: São os dados numéricos positivos e negativos e números fracionários. Por exemplo:  35, 0, -56, 1.2, -45.987. </a:t>
            </a:r>
          </a:p>
        </p:txBody>
      </p:sp>
      <p:sp>
        <p:nvSpPr>
          <p:cNvPr id="8195" name="Espaço Reservado para Número de Slide 1">
            <a:extLst>
              <a:ext uri="{FF2B5EF4-FFF2-40B4-BE49-F238E27FC236}">
                <a16:creationId xmlns:a16="http://schemas.microsoft.com/office/drawing/2014/main" id="{1A8DF431-E423-AE56-15A9-BC2156060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3CA562-3132-4E24-B8F3-B796B119E12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8196" name="Text Box 1028">
            <a:extLst>
              <a:ext uri="{FF2B5EF4-FFF2-40B4-BE49-F238E27FC236}">
                <a16:creationId xmlns:a16="http://schemas.microsoft.com/office/drawing/2014/main" id="{B261A28E-C4CC-C986-9E04-8360D844D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5">
            <a:extLst>
              <a:ext uri="{FF2B5EF4-FFF2-40B4-BE49-F238E27FC236}">
                <a16:creationId xmlns:a16="http://schemas.microsoft.com/office/drawing/2014/main" id="{585D6FAB-34A6-08A1-D1A0-33EF637E6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 Black" panose="020B0A04020102020204" pitchFamily="34" charset="0"/>
                <a:cs typeface="Arial" panose="020B0604020202020204" pitchFamily="34" charset="0"/>
              </a:rPr>
              <a:t>Tipos Caracteres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: São caracteres, seqüências contendo letras, números e símbolos especiais. Poe exemplo: “Programação”, “Rua Alfa, 52 Apto 1”, “Fone 574-9988”, “04387-030”,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“ ”, “7”.</a:t>
            </a:r>
          </a:p>
        </p:txBody>
      </p:sp>
      <p:sp>
        <p:nvSpPr>
          <p:cNvPr id="9219" name="Espaço Reservado para Número de Slide 1">
            <a:extLst>
              <a:ext uri="{FF2B5EF4-FFF2-40B4-BE49-F238E27FC236}">
                <a16:creationId xmlns:a16="http://schemas.microsoft.com/office/drawing/2014/main" id="{9C11C5FA-C4AB-B300-F44D-0BB0A772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6B0CB0-B471-4D19-B7BA-C841ADAE6A9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9220" name="Text Box 1028">
            <a:extLst>
              <a:ext uri="{FF2B5EF4-FFF2-40B4-BE49-F238E27FC236}">
                <a16:creationId xmlns:a16="http://schemas.microsoft.com/office/drawing/2014/main" id="{4CAFC831-2CC1-3A0E-3D84-47A348A98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5">
            <a:extLst>
              <a:ext uri="{FF2B5EF4-FFF2-40B4-BE49-F238E27FC236}">
                <a16:creationId xmlns:a16="http://schemas.microsoft.com/office/drawing/2014/main" id="{F8AF99B9-C446-30DF-5776-79A0C3A11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 Black" panose="020B0A04020102020204" pitchFamily="34" charset="0"/>
                <a:cs typeface="Arial" panose="020B0604020202020204" pitchFamily="34" charset="0"/>
              </a:rPr>
              <a:t>Tipos Lógicos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: São os dados com valor verdadeiro ou falso (também conhecido como  tipo booleano).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Exemplo: True, False.</a:t>
            </a:r>
          </a:p>
        </p:txBody>
      </p:sp>
      <p:sp>
        <p:nvSpPr>
          <p:cNvPr id="10243" name="Espaço Reservado para Número de Slide 1">
            <a:extLst>
              <a:ext uri="{FF2B5EF4-FFF2-40B4-BE49-F238E27FC236}">
                <a16:creationId xmlns:a16="http://schemas.microsoft.com/office/drawing/2014/main" id="{296058D8-E4C3-E4D7-A643-A91C14E62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27CE91-0B05-4DEF-BF57-EE8E0D9BCFC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10244" name="Text Box 1028">
            <a:extLst>
              <a:ext uri="{FF2B5EF4-FFF2-40B4-BE49-F238E27FC236}">
                <a16:creationId xmlns:a16="http://schemas.microsoft.com/office/drawing/2014/main" id="{E4B7D9E8-0BE1-8811-D209-258A515A5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Dados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5">
            <a:extLst>
              <a:ext uri="{FF2B5EF4-FFF2-40B4-BE49-F238E27FC236}">
                <a16:creationId xmlns:a16="http://schemas.microsoft.com/office/drawing/2014/main" id="{6FD4901B-02F1-0BF6-8BB2-462161EE9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866900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 memória do computador pode ser entendida como uma sequência finita de caixas, que num dado momento, </a:t>
            </a:r>
            <a:r>
              <a:rPr lang="pt-BR" altLang="pt-BR" sz="4000" b="1" dirty="0">
                <a:latin typeface="Arial Black" panose="020B0A04020102020204" pitchFamily="34" charset="0"/>
                <a:cs typeface="Arial" panose="020B0604020202020204" pitchFamily="34" charset="0"/>
              </a:rPr>
              <a:t>guardam</a:t>
            </a: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algum tipo de informação, como número, um valor, uma letra, uma palavra, uma frase, etc., basta saber que lá sempre existe alguma informação.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Espaço Reservado para Número de Slide 1">
            <a:extLst>
              <a:ext uri="{FF2B5EF4-FFF2-40B4-BE49-F238E27FC236}">
                <a16:creationId xmlns:a16="http://schemas.microsoft.com/office/drawing/2014/main" id="{50371623-FC9F-493A-A958-726B56FE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795909-5032-4B6E-8DBE-91C5FA3572A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11268" name="Text Box 1028">
            <a:extLst>
              <a:ext uri="{FF2B5EF4-FFF2-40B4-BE49-F238E27FC236}">
                <a16:creationId xmlns:a16="http://schemas.microsoft.com/office/drawing/2014/main" id="{5BFB4067-9878-E60D-85AA-9D82AE580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5">
            <a:extLst>
              <a:ext uri="{FF2B5EF4-FFF2-40B4-BE49-F238E27FC236}">
                <a16:creationId xmlns:a16="http://schemas.microsoft.com/office/drawing/2014/main" id="{C3873708-55E0-C74F-5D54-C8D615509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 computador, para poder trabalhar com estas informações, precisa saber em que local da memória o dado está localizado.</a:t>
            </a:r>
          </a:p>
        </p:txBody>
      </p:sp>
      <p:sp>
        <p:nvSpPr>
          <p:cNvPr id="12291" name="Espaço Reservado para Número de Slide 1">
            <a:extLst>
              <a:ext uri="{FF2B5EF4-FFF2-40B4-BE49-F238E27FC236}">
                <a16:creationId xmlns:a16="http://schemas.microsoft.com/office/drawing/2014/main" id="{7E761ED0-FFE6-C1C4-2994-E4DA13DC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5E93B7-CE68-4468-A440-60EB78DC4BD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2292" name="Text Box 1028">
            <a:extLst>
              <a:ext uri="{FF2B5EF4-FFF2-40B4-BE49-F238E27FC236}">
                <a16:creationId xmlns:a16="http://schemas.microsoft.com/office/drawing/2014/main" id="{7E0FA027-D375-8C65-03F2-11870C622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5">
            <a:extLst>
              <a:ext uri="{FF2B5EF4-FFF2-40B4-BE49-F238E27FC236}">
                <a16:creationId xmlns:a16="http://schemas.microsoft.com/office/drawing/2014/main" id="{928B84E5-FCC6-92A1-53C1-519B8484D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Fisicamente cada posição de memória possui um endereço, ou seja, um número, que indica onde cada informação está localizada.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endParaRPr lang="pt-BR" altLang="pt-BR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Este número, normalmente, é representado através da notação hexadecimal.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Espaço Reservado para Número de Slide 1">
            <a:extLst>
              <a:ext uri="{FF2B5EF4-FFF2-40B4-BE49-F238E27FC236}">
                <a16:creationId xmlns:a16="http://schemas.microsoft.com/office/drawing/2014/main" id="{5B5CDEA6-13E2-21D2-61CA-CA422148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B6BDFB-53AF-4C66-8BBF-BE952CD158B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13316" name="Text Box 1028">
            <a:extLst>
              <a:ext uri="{FF2B5EF4-FFF2-40B4-BE49-F238E27FC236}">
                <a16:creationId xmlns:a16="http://schemas.microsoft.com/office/drawing/2014/main" id="{73AD4BEC-F7C1-3577-C604-4DE7358E4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5">
            <a:extLst>
              <a:ext uri="{FF2B5EF4-FFF2-40B4-BE49-F238E27FC236}">
                <a16:creationId xmlns:a16="http://schemas.microsoft.com/office/drawing/2014/main" id="{29158B65-0081-DA6C-651F-B2D14E046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Dentro da sequenia lógica serão criados  nomes, para estes endereços, e através desses nomes referencia-se, nas instruções do algoritmo, para os tratamentos dos dados (leitura, calculo, exibição, etc.).</a:t>
            </a:r>
          </a:p>
        </p:txBody>
      </p:sp>
      <p:sp>
        <p:nvSpPr>
          <p:cNvPr id="14339" name="Espaço Reservado para Número de Slide 1">
            <a:extLst>
              <a:ext uri="{FF2B5EF4-FFF2-40B4-BE49-F238E27FC236}">
                <a16:creationId xmlns:a16="http://schemas.microsoft.com/office/drawing/2014/main" id="{1ABB5B4F-69C5-6814-FDF2-CC80641C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DDEDBC-0F88-4E87-9804-8EA0023E1F6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14340" name="Text Box 1028">
            <a:extLst>
              <a:ext uri="{FF2B5EF4-FFF2-40B4-BE49-F238E27FC236}">
                <a16:creationId xmlns:a16="http://schemas.microsoft.com/office/drawing/2014/main" id="{28EA68C3-AAF9-4433-9AE2-B0C2A9DE6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8">
            <a:extLst>
              <a:ext uri="{FF2B5EF4-FFF2-40B4-BE49-F238E27FC236}">
                <a16:creationId xmlns:a16="http://schemas.microsoft.com/office/drawing/2014/main" id="{78810487-C494-1B0B-7FC7-0578F7873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 – Pincipais Tipos</a:t>
            </a:r>
          </a:p>
        </p:txBody>
      </p:sp>
      <p:sp>
        <p:nvSpPr>
          <p:cNvPr id="15363" name="Rectangle 25">
            <a:extLst>
              <a:ext uri="{FF2B5EF4-FFF2-40B4-BE49-F238E27FC236}">
                <a16:creationId xmlns:a16="http://schemas.microsoft.com/office/drawing/2014/main" id="{56B1973D-D9E5-02F1-7D75-CA03046CD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 Tipos de Dados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Numérico       Literal                Lógico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        Caractere           (Boolean)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        String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Inteiro     Real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4" name="Espaço Reservado para Número de Slide 1">
            <a:extLst>
              <a:ext uri="{FF2B5EF4-FFF2-40B4-BE49-F238E27FC236}">
                <a16:creationId xmlns:a16="http://schemas.microsoft.com/office/drawing/2014/main" id="{27C3492F-FB65-88C5-DBDC-F0400AD6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B80F7D-D431-4B28-8E54-7EE77783FE5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5365" name="Rectangle 1">
            <a:extLst>
              <a:ext uri="{FF2B5EF4-FFF2-40B4-BE49-F238E27FC236}">
                <a16:creationId xmlns:a16="http://schemas.microsoft.com/office/drawing/2014/main" id="{EADECDC2-5F6B-B4DD-90AF-680E854EC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7863" y="2063750"/>
            <a:ext cx="7196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cxnSp>
        <p:nvCxnSpPr>
          <p:cNvPr id="15366" name="Conector reto 6">
            <a:extLst>
              <a:ext uri="{FF2B5EF4-FFF2-40B4-BE49-F238E27FC236}">
                <a16:creationId xmlns:a16="http://schemas.microsoft.com/office/drawing/2014/main" id="{399FEC4B-86C3-948D-ED4F-05614F373B3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763713" y="2520950"/>
            <a:ext cx="2232025" cy="1123950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67" name="Conector reto 8">
            <a:extLst>
              <a:ext uri="{FF2B5EF4-FFF2-40B4-BE49-F238E27FC236}">
                <a16:creationId xmlns:a16="http://schemas.microsoft.com/office/drawing/2014/main" id="{F50EF6D8-7E29-489C-E033-1EC6FAB966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95738" y="2520950"/>
            <a:ext cx="0" cy="1268413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68" name="Conector reto 10">
            <a:extLst>
              <a:ext uri="{FF2B5EF4-FFF2-40B4-BE49-F238E27FC236}">
                <a16:creationId xmlns:a16="http://schemas.microsoft.com/office/drawing/2014/main" id="{E8DF7C35-1B25-5464-A265-5B4668B09AF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995738" y="2520950"/>
            <a:ext cx="3384550" cy="1268413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69" name="Conector reto 13">
            <a:extLst>
              <a:ext uri="{FF2B5EF4-FFF2-40B4-BE49-F238E27FC236}">
                <a16:creationId xmlns:a16="http://schemas.microsoft.com/office/drawing/2014/main" id="{E1D1BED2-5CEB-39B1-0FA3-E4C798A29A4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27088" y="4365625"/>
            <a:ext cx="936625" cy="1223963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70" name="Conector reto 15">
            <a:extLst>
              <a:ext uri="{FF2B5EF4-FFF2-40B4-BE49-F238E27FC236}">
                <a16:creationId xmlns:a16="http://schemas.microsoft.com/office/drawing/2014/main" id="{A45BAA2D-1EB1-426A-AE30-4023AD04658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63713" y="4365625"/>
            <a:ext cx="720725" cy="1223963"/>
          </a:xfrm>
          <a:prstGeom prst="line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5">
            <a:extLst>
              <a:ext uri="{FF2B5EF4-FFF2-40B4-BE49-F238E27FC236}">
                <a16:creationId xmlns:a16="http://schemas.microsoft.com/office/drawing/2014/main" id="{22DFF301-95ED-A796-E24A-F323B662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 Black" panose="020B0A04020102020204" pitchFamily="34" charset="0"/>
                <a:cs typeface="Arial" panose="020B0604020202020204" pitchFamily="34" charset="0"/>
              </a:rPr>
              <a:t>Declaração</a:t>
            </a: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das variáveis: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var número: inteiro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      valor: real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      nome: caractere.</a:t>
            </a:r>
          </a:p>
        </p:txBody>
      </p:sp>
      <p:sp>
        <p:nvSpPr>
          <p:cNvPr id="16387" name="Espaço Reservado para Número de Slide 1">
            <a:extLst>
              <a:ext uri="{FF2B5EF4-FFF2-40B4-BE49-F238E27FC236}">
                <a16:creationId xmlns:a16="http://schemas.microsoft.com/office/drawing/2014/main" id="{EA8A7A2D-3F0D-3E38-8C9B-AAAC775B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658775-338D-4BB5-9073-C31C17E7014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16388" name="Text Box 1028">
            <a:extLst>
              <a:ext uri="{FF2B5EF4-FFF2-40B4-BE49-F238E27FC236}">
                <a16:creationId xmlns:a16="http://schemas.microsoft.com/office/drawing/2014/main" id="{CD0382B1-2899-C334-F233-C289C4F03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5">
            <a:extLst>
              <a:ext uri="{FF2B5EF4-FFF2-40B4-BE49-F238E27FC236}">
                <a16:creationId xmlns:a16="http://schemas.microsoft.com/office/drawing/2014/main" id="{E94A38AE-CDA0-D2BE-3825-D80A5A801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 Black" panose="020B0A04020102020204" pitchFamily="34" charset="0"/>
                <a:cs typeface="Arial" panose="020B0604020202020204" pitchFamily="34" charset="0"/>
              </a:rPr>
              <a:t>Atribuição</a:t>
            </a: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(movimentação para a variável):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      numero &lt;- 10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          valor &lt;- </a:t>
            </a:r>
            <a:r>
              <a:rPr lang="pt-BR" alt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quant</a:t>
            </a: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pt-BR" alt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preco_unit</a:t>
            </a:r>
            <a:endParaRPr lang="pt-BR" alt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1" name="Espaço Reservado para Número de Slide 1">
            <a:extLst>
              <a:ext uri="{FF2B5EF4-FFF2-40B4-BE49-F238E27FC236}">
                <a16:creationId xmlns:a16="http://schemas.microsoft.com/office/drawing/2014/main" id="{33071107-AF33-5C3B-F0F7-CEF8060CA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42CA1F-9E59-4C58-B6EE-E7473925EFB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17412" name="Text Box 1028">
            <a:extLst>
              <a:ext uri="{FF2B5EF4-FFF2-40B4-BE49-F238E27FC236}">
                <a16:creationId xmlns:a16="http://schemas.microsoft.com/office/drawing/2014/main" id="{5242F022-7675-DED1-EAAD-C7FDACC85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5D4DE549-0DFD-1149-7483-182848A2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59E12A-7FD2-48D3-9841-3641E9E5B6D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18435" name="Text Box 1028">
            <a:extLst>
              <a:ext uri="{FF2B5EF4-FFF2-40B4-BE49-F238E27FC236}">
                <a16:creationId xmlns:a16="http://schemas.microsoft.com/office/drawing/2014/main" id="{0C4BCFF2-56FA-3DB2-2F0F-EB75EA01E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Variáveis</a:t>
            </a:r>
          </a:p>
        </p:txBody>
      </p:sp>
      <p:sp>
        <p:nvSpPr>
          <p:cNvPr id="18436" name="Rectangle 25">
            <a:extLst>
              <a:ext uri="{FF2B5EF4-FFF2-40B4-BE49-F238E27FC236}">
                <a16:creationId xmlns:a16="http://schemas.microsoft.com/office/drawing/2014/main" id="{16D5AE28-2455-686A-15DB-09830C6CC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Exemplos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028">
            <a:extLst>
              <a:ext uri="{FF2B5EF4-FFF2-40B4-BE49-F238E27FC236}">
                <a16:creationId xmlns:a16="http://schemas.microsoft.com/office/drawing/2014/main" id="{3354FC00-09A5-3B9D-D6EB-CB62B04FD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05</a:t>
            </a:r>
          </a:p>
        </p:txBody>
      </p:sp>
      <p:sp>
        <p:nvSpPr>
          <p:cNvPr id="19459" name="Rectangle 25">
            <a:extLst>
              <a:ext uri="{FF2B5EF4-FFF2-40B4-BE49-F238E27FC236}">
                <a16:creationId xmlns:a16="http://schemas.microsoft.com/office/drawing/2014/main" id="{20210CFD-8423-86A8-3653-CF36D6528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Escreva um algoritmo que receba o raio e a altura de um cilindro circular e calcule o volume, sabendo que: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  V = π * r</a:t>
            </a:r>
            <a:r>
              <a:rPr lang="pt-BR" altLang="pt-BR" sz="4000" b="1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* h,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  onde π é 3.14, r = raio 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           h = altura.</a:t>
            </a:r>
          </a:p>
        </p:txBody>
      </p:sp>
      <p:sp>
        <p:nvSpPr>
          <p:cNvPr id="19460" name="Espaço Reservado para Número de Slide 1">
            <a:extLst>
              <a:ext uri="{FF2B5EF4-FFF2-40B4-BE49-F238E27FC236}">
                <a16:creationId xmlns:a16="http://schemas.microsoft.com/office/drawing/2014/main" id="{069F4006-0E16-5F69-874E-18F5C04D4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1DDB14-E1EA-48AD-AEBE-3DE1B5B700F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61B6EB66-A92A-9F5B-5A34-B5BA4197F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5">
            <a:extLst>
              <a:ext uri="{FF2B5EF4-FFF2-40B4-BE49-F238E27FC236}">
                <a16:creationId xmlns:a16="http://schemas.microsoft.com/office/drawing/2014/main" id="{1363A514-C246-A81F-FFCA-EDBBDFD0B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// Função: Calcula o volume de um cilindro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// Autor: 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// Data: Agosto/;2022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algoritmo "Exemplo05"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var  raio, altura, volume: real</a:t>
            </a:r>
            <a:endParaRPr lang="pt-BR" altLang="pt-BR" sz="2800"/>
          </a:p>
        </p:txBody>
      </p:sp>
      <p:sp>
        <p:nvSpPr>
          <p:cNvPr id="20483" name="Espaço Reservado para Número de Slide 1">
            <a:extLst>
              <a:ext uri="{FF2B5EF4-FFF2-40B4-BE49-F238E27FC236}">
                <a16:creationId xmlns:a16="http://schemas.microsoft.com/office/drawing/2014/main" id="{546C7DBD-D832-D399-ACC6-765804A9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02E9F85-6DDE-4843-A8AC-5A70AE6AAB7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179FB9BD-D126-ECE7-8481-1A04CE202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0485" name="Text Box 1028">
            <a:extLst>
              <a:ext uri="{FF2B5EF4-FFF2-40B4-BE49-F238E27FC236}">
                <a16:creationId xmlns:a16="http://schemas.microsoft.com/office/drawing/2014/main" id="{59E19E80-845D-AB06-0B0B-D099A5E77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5">
            <a:extLst>
              <a:ext uri="{FF2B5EF4-FFF2-40B4-BE49-F238E27FC236}">
                <a16:creationId xmlns:a16="http://schemas.microsoft.com/office/drawing/2014/main" id="{69A1C824-D1DC-9DF7-13D2-00E8C70A8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inicio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escreval(“&lt;&gt;&lt;&gt;&lt;&gt;&lt;&gt;&lt;&gt; PROGRAMA PARA CALCULAR O VOLUME DE UM CILINDRO &lt;&gt;&lt;&gt;&lt;&gt;&lt;&gt;&lt;&gt;”)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escreva("Digite o raio do cilindro: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leia(raio)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escreva("Digite a altura do cilindro: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leia(altura)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 ")</a:t>
            </a:r>
            <a:endParaRPr lang="pt-BR" altLang="pt-BR" sz="2800"/>
          </a:p>
        </p:txBody>
      </p:sp>
      <p:sp>
        <p:nvSpPr>
          <p:cNvPr id="21507" name="Espaço Reservado para Número de Slide 1">
            <a:extLst>
              <a:ext uri="{FF2B5EF4-FFF2-40B4-BE49-F238E27FC236}">
                <a16:creationId xmlns:a16="http://schemas.microsoft.com/office/drawing/2014/main" id="{990587CC-FF76-7B5A-B374-03D8809F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EC885E-FFD4-4696-A400-798BBAE0A15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7C489909-1D3F-0DB7-008A-1876FA54A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1509" name="Text Box 1028">
            <a:extLst>
              <a:ext uri="{FF2B5EF4-FFF2-40B4-BE49-F238E27FC236}">
                <a16:creationId xmlns:a16="http://schemas.microsoft.com/office/drawing/2014/main" id="{9C221F3E-38B4-8940-CEAA-510DEBFBB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5">
            <a:extLst>
              <a:ext uri="{FF2B5EF4-FFF2-40B4-BE49-F238E27FC236}">
                <a16:creationId xmlns:a16="http://schemas.microsoft.com/office/drawing/2014/main" id="{0B825D5C-2B75-9304-6B1C-0B58042A5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escreval("&lt;&gt;&lt;&gt;&lt;&gt;&lt;&gt;&lt;&gt; Resultado do cálculo do Volume &lt;&gt;&lt;&gt;&lt;&gt;&lt;&gt;&lt;&gt;")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volume &lt;- 3.14 * raio * raio * altura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escreval("O Volume do cilindro de raio: “,raio,” e altura: “ ,altura, “ é: “, volume)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 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   escreval("***** ENCERRAMENTO DO ALGOROTMO *****")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fimalgoritmo</a:t>
            </a:r>
            <a:endParaRPr lang="pt-BR" altLang="pt-BR" sz="2800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/>
              <a:t> </a:t>
            </a:r>
            <a:endParaRPr lang="pt-BR" altLang="pt-BR" sz="2800"/>
          </a:p>
        </p:txBody>
      </p:sp>
      <p:sp>
        <p:nvSpPr>
          <p:cNvPr id="22531" name="Espaço Reservado para Número de Slide 1">
            <a:extLst>
              <a:ext uri="{FF2B5EF4-FFF2-40B4-BE49-F238E27FC236}">
                <a16:creationId xmlns:a16="http://schemas.microsoft.com/office/drawing/2014/main" id="{B7C1E1C9-3604-C1B7-FACD-982C1D03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11C4C4E-F7E0-4C93-BD99-14180A721E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5ED4097C-15C8-A240-0AB6-F81B1B654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2533" name="Text Box 1028">
            <a:extLst>
              <a:ext uri="{FF2B5EF4-FFF2-40B4-BE49-F238E27FC236}">
                <a16:creationId xmlns:a16="http://schemas.microsoft.com/office/drawing/2014/main" id="{45CB5AE4-7A88-5044-F8E4-EB181B8A7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5">
            <a:extLst>
              <a:ext uri="{FF2B5EF4-FFF2-40B4-BE49-F238E27FC236}">
                <a16:creationId xmlns:a16="http://schemas.microsoft.com/office/drawing/2014/main" id="{849740D6-F9AE-113F-B3FE-5DF9DCB3A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Escreva um algoritmo que calcule o gasto com material escola de um aluno, sabendo que: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Lapis: R$ 0.80      Caneta: R$ 1.50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Caderno 100 fls: R$ 17.50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Caderno 150 fls: R$ 23.80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Borracha: R$ 4.10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Pedir para digitar as quantidades de:  Lapis, canetas, cadernos de 100 folhas, cadernos de 150 folhas e borrachas.</a:t>
            </a:r>
          </a:p>
        </p:txBody>
      </p:sp>
      <p:sp>
        <p:nvSpPr>
          <p:cNvPr id="23555" name="Espaço Reservado para Número de Slide 1">
            <a:extLst>
              <a:ext uri="{FF2B5EF4-FFF2-40B4-BE49-F238E27FC236}">
                <a16:creationId xmlns:a16="http://schemas.microsoft.com/office/drawing/2014/main" id="{E8D5AB65-500A-3367-605D-28746CAB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78968B-A644-4B93-B0EE-8DD9E256AE8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370AB2A4-0A50-6D53-9119-10D7A397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3557" name="Text Box 1028">
            <a:extLst>
              <a:ext uri="{FF2B5EF4-FFF2-40B4-BE49-F238E27FC236}">
                <a16:creationId xmlns:a16="http://schemas.microsoft.com/office/drawing/2014/main" id="{8DBF22D5-6F54-225D-E060-EF68A7FBE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5">
            <a:extLst>
              <a:ext uri="{FF2B5EF4-FFF2-40B4-BE49-F238E27FC236}">
                <a16:creationId xmlns:a16="http://schemas.microsoft.com/office/drawing/2014/main" id="{4F12F61A-6DF1-5015-668D-3C475D8C9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Função: Calcula o valor do material escolar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Data: Agosto/;2022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algoritmo "Exemplo06"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var  lapis, cad100, cad150, caneta, borracha: inteiro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  valor: real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PROGRAMA PARA CALCULAR O GASTO COM MATERIAL ESCOLAR &lt;&gt;&lt;&gt;&lt;&gt;&lt;&gt;&lt;&gt;")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Espaço Reservado para Número de Slide 1">
            <a:extLst>
              <a:ext uri="{FF2B5EF4-FFF2-40B4-BE49-F238E27FC236}">
                <a16:creationId xmlns:a16="http://schemas.microsoft.com/office/drawing/2014/main" id="{351BD493-622D-CE83-4CF5-3D04E3CE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8CB2B9-5B75-40DD-A114-D1D864255A6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AF25E92D-FD57-BC56-D5E0-FA16B1C0F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4581" name="Text Box 1028">
            <a:extLst>
              <a:ext uri="{FF2B5EF4-FFF2-40B4-BE49-F238E27FC236}">
                <a16:creationId xmlns:a16="http://schemas.microsoft.com/office/drawing/2014/main" id="{1615C089-55CC-EF06-4FC0-FC003229E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5">
            <a:extLst>
              <a:ext uri="{FF2B5EF4-FFF2-40B4-BE49-F238E27FC236}">
                <a16:creationId xmlns:a16="http://schemas.microsoft.com/office/drawing/2014/main" id="{B8D65BED-8703-7096-72F5-FDF719A2F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escreval("Lápis; R$ 0.80")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escreval("Caneta; R$ 1.50")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escreval("Caderno de 100 folhas: R$ 17.50")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escreval("Caderno de 150 filhas; R$ 23.80")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escreval("Borracha; R$ 4.100")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escreval("Digite a quantidade de lapis: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leia(lapis)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escreval("Digite a quantidade de canetas: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leia(caneta)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escreva("Digite a quantidade cadernos de 100 folhas: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leia(cad100)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escreva("Digite a quantidade cadernos de 150 folhas: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leia(cad150)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Espaço Reservado para Número de Slide 1">
            <a:extLst>
              <a:ext uri="{FF2B5EF4-FFF2-40B4-BE49-F238E27FC236}">
                <a16:creationId xmlns:a16="http://schemas.microsoft.com/office/drawing/2014/main" id="{37408741-2B75-CBB3-0DD6-E68BC839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908B67-0D15-407A-B250-2423B8A5BBA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BAC046B4-F0D5-3C72-A1FD-475E0A1D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5605" name="Text Box 1028">
            <a:extLst>
              <a:ext uri="{FF2B5EF4-FFF2-40B4-BE49-F238E27FC236}">
                <a16:creationId xmlns:a16="http://schemas.microsoft.com/office/drawing/2014/main" id="{9726AB3D-EF85-7867-7684-2B9FE4341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5">
            <a:extLst>
              <a:ext uri="{FF2B5EF4-FFF2-40B4-BE49-F238E27FC236}">
                <a16:creationId xmlns:a16="http://schemas.microsoft.com/office/drawing/2014/main" id="{F5504D31-9916-9121-EA5C-1870A40B0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escreva("Digite a quantidade de borrachas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leia(borracha)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Calculo do valor a se pago &lt;&gt;&lt;&gt;&lt;&gt;&lt;&gt;&lt;&gt;")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valor &lt;- lapis*0.80 +  caneta*1.50 + cad100*17.50 + cad150*23.80 + borracha*4.10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escreval("O Valor do gasto com material é : ",valor)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escreval("***** ENCERRAMENTO DO ALGOROTMO *****")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Espaço Reservado para Número de Slide 1">
            <a:extLst>
              <a:ext uri="{FF2B5EF4-FFF2-40B4-BE49-F238E27FC236}">
                <a16:creationId xmlns:a16="http://schemas.microsoft.com/office/drawing/2014/main" id="{85920D3E-695D-3D0F-6C7B-2D8CBB88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64D9A8-252E-4D3D-BB95-E90AE6D5269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363156A3-BE54-7B9C-338B-4B7A2596D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6629" name="Text Box 1028">
            <a:extLst>
              <a:ext uri="{FF2B5EF4-FFF2-40B4-BE49-F238E27FC236}">
                <a16:creationId xmlns:a16="http://schemas.microsoft.com/office/drawing/2014/main" id="{2A4B5B88-8F2D-6CE3-834A-588C1BE6F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5">
            <a:extLst>
              <a:ext uri="{FF2B5EF4-FFF2-40B4-BE49-F238E27FC236}">
                <a16:creationId xmlns:a16="http://schemas.microsoft.com/office/drawing/2014/main" id="{CA7ED559-F27D-D996-4FBE-54E41B0B1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Um encanador precisa calcular as dimensões de uma tubulação que irá passar pela diagonal de uma casa:</a:t>
            </a:r>
            <a:b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Como não é possível calcular diretamente essa distância, a solução foi medir os lados da casa e aplicar o Teorema de Pitágoras (diagonal</a:t>
            </a:r>
            <a:r>
              <a:rPr lang="pt-BR" altLang="pt-BR" b="1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= lado1</a:t>
            </a:r>
            <a:r>
              <a:rPr lang="pt-BR" altLang="pt-BR" b="1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+ lado2</a:t>
            </a:r>
            <a:r>
              <a:rPr lang="pt-BR" altLang="pt-BR" b="1" baseline="30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). Faça um algoritmo que leia os lados da casa e calcule a diagonal dela.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27651" name="Espaço Reservado para Número de Slide 1">
            <a:extLst>
              <a:ext uri="{FF2B5EF4-FFF2-40B4-BE49-F238E27FC236}">
                <a16:creationId xmlns:a16="http://schemas.microsoft.com/office/drawing/2014/main" id="{AB11B4A6-3694-4E30-8311-2ED3D103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3AE431-41D4-4244-8E6E-8DBDEE717AB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2D231CAB-4A97-4F00-E5CF-C20F9DF1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7653" name="Text Box 1028">
            <a:extLst>
              <a:ext uri="{FF2B5EF4-FFF2-40B4-BE49-F238E27FC236}">
                <a16:creationId xmlns:a16="http://schemas.microsoft.com/office/drawing/2014/main" id="{7EFF528D-A765-E91E-1113-810E6173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5">
            <a:extLst>
              <a:ext uri="{FF2B5EF4-FFF2-40B4-BE49-F238E27FC236}">
                <a16:creationId xmlns:a16="http://schemas.microsoft.com/office/drawing/2014/main" id="{D4185A07-5395-581B-C6C3-646F90DC1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Função: Calcular  a diagonal de uma casa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Data: Agosto/;2022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algoritmo "Exemplo07"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var  lado1, lado2, diagonal: real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escreval("******** PROGRAMA PARA CALCULAR A DIAGONAL DE UMA CASA ********")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escreva("Digite um lado da casa: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leia(lado1)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escreva("Digite o outro lada da casa: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leia(lado2)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Espaço Reservado para Número de Slide 1">
            <a:extLst>
              <a:ext uri="{FF2B5EF4-FFF2-40B4-BE49-F238E27FC236}">
                <a16:creationId xmlns:a16="http://schemas.microsoft.com/office/drawing/2014/main" id="{DD8961D7-C8FA-1B74-B9D2-CF1DA2F8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751508-FCDD-4497-AA66-B2301B3EF56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BC941F3C-1C08-42F1-1D78-03C1F4B1F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8677" name="Text Box 1028">
            <a:extLst>
              <a:ext uri="{FF2B5EF4-FFF2-40B4-BE49-F238E27FC236}">
                <a16:creationId xmlns:a16="http://schemas.microsoft.com/office/drawing/2014/main" id="{BEE810D5-D444-BC55-803B-D7EF8D75B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5">
            <a:extLst>
              <a:ext uri="{FF2B5EF4-FFF2-40B4-BE49-F238E27FC236}">
                <a16:creationId xmlns:a16="http://schemas.microsoft.com/office/drawing/2014/main" id="{B08CC67E-C103-6C9A-B950-CA924D74E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escreval("******** Calculo da diagonal ********")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diagonal &lt;- lado1*lado1 + lado2*lado2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diagonal &lt;- raizQ(diagonal)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escreval("A quantidade de tubulação é: “,diagonal)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escreval("***** ENCERRAMENTO DO ALGOROTMO *****")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99" name="Espaço Reservado para Número de Slide 1">
            <a:extLst>
              <a:ext uri="{FF2B5EF4-FFF2-40B4-BE49-F238E27FC236}">
                <a16:creationId xmlns:a16="http://schemas.microsoft.com/office/drawing/2014/main" id="{A516510B-57C6-E6CE-262D-D41A2B54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6B87B3-AC43-43DA-A654-A6227B827F2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A71F3DD3-6F58-6119-71D7-02B10C16D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  <p:sp>
        <p:nvSpPr>
          <p:cNvPr id="29701" name="Text Box 1028">
            <a:extLst>
              <a:ext uri="{FF2B5EF4-FFF2-40B4-BE49-F238E27FC236}">
                <a16:creationId xmlns:a16="http://schemas.microsoft.com/office/drawing/2014/main" id="{88232DCF-DDC9-877B-297C-66E0AC6D1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5">
            <a:extLst>
              <a:ext uri="{FF2B5EF4-FFF2-40B4-BE49-F238E27FC236}">
                <a16:creationId xmlns:a16="http://schemas.microsoft.com/office/drawing/2014/main" id="{3696A100-AA4D-7B7F-924C-53A25318E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Uma conta telefônica é composta dos seguintes custos: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    Assinatura : R$ 29,90.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Ligações Locais : R$ 0,15 cada 3 minutos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Interurbanos : R$ 0,65 cada minuto.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Celulares : R$ 0,30 cada 3 minutos.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Faça um algoritmo que pergunte quantos minutos foram gastos em cada tipo de chamada e calcule o valor total a ser cobrado.</a:t>
            </a:r>
          </a:p>
        </p:txBody>
      </p:sp>
      <p:sp>
        <p:nvSpPr>
          <p:cNvPr id="30723" name="Espaço Reservado para Número de Slide 1">
            <a:extLst>
              <a:ext uri="{FF2B5EF4-FFF2-40B4-BE49-F238E27FC236}">
                <a16:creationId xmlns:a16="http://schemas.microsoft.com/office/drawing/2014/main" id="{F83B3EB4-3805-FDCC-CBE4-44453533E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C3E679-CD79-493D-B77E-D09504D4BBD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30724" name="Text Box 1028">
            <a:extLst>
              <a:ext uri="{FF2B5EF4-FFF2-40B4-BE49-F238E27FC236}">
                <a16:creationId xmlns:a16="http://schemas.microsoft.com/office/drawing/2014/main" id="{79086FC7-B9EA-6497-D592-E3885C5C0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7625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5">
            <a:extLst>
              <a:ext uri="{FF2B5EF4-FFF2-40B4-BE49-F238E27FC236}">
                <a16:creationId xmlns:a16="http://schemas.microsoft.com/office/drawing/2014/main" id="{D90F4FCA-EBAD-EEEA-D185-37FAF2047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Função: Calcula o valor das ligações telefônicas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// Data: Agosto/;2017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algoritmo "Exemplo08"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var  ligLocal, ligInter, ligCel: inteiro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  valor: real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PROGRAMA PARA CALCULAR O VALOR GASTO EM LIGAÇÔES TELEFÔNICAS &lt;&gt;&lt;&gt;&lt;&gt;&lt;&gt;&lt;&gt;")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escreva("Ligações Locais - Quantidade de minutos: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leia(ligLocal)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escreva("Ligações Interubanass - Quantidade de minutos: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leia(ligInter)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Espaço Reservado para Número de Slide 1">
            <a:extLst>
              <a:ext uri="{FF2B5EF4-FFF2-40B4-BE49-F238E27FC236}">
                <a16:creationId xmlns:a16="http://schemas.microsoft.com/office/drawing/2014/main" id="{D7875927-D6C9-15A2-D0B6-E16FAF5D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4D279F-FAC9-47D2-AE6C-8C65AD129E9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31748" name="Text Box 1028">
            <a:extLst>
              <a:ext uri="{FF2B5EF4-FFF2-40B4-BE49-F238E27FC236}">
                <a16:creationId xmlns:a16="http://schemas.microsoft.com/office/drawing/2014/main" id="{FE42593A-0AC7-D9EC-F70C-3C68F38FD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7625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5">
            <a:extLst>
              <a:ext uri="{FF2B5EF4-FFF2-40B4-BE49-F238E27FC236}">
                <a16:creationId xmlns:a16="http://schemas.microsoft.com/office/drawing/2014/main" id="{29EA4F91-49C6-FB62-015C-DA4B376CE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escreva("Ligações Celular - Quantidade de minutos: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leia(ligCel)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escreval("&lt;&gt;&lt;&gt;&lt;&gt;&lt;&gt;&lt;&gt; Calculo do valor a se pago &lt;&gt;&lt;&gt;&lt;&gt;&lt;&gt;&lt;&gt;")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valor &lt;- ligLocal/3*0.15 + ligInter*0.65 + ligCel/3*0.30 + 29.90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escreval("O Valor da Conta Telefônica é: “,valor)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   escreval("***** ENCERRAMENTO DO ALGOROTMO *****")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2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  <a:endParaRPr lang="pt-BR" altLang="pt-BR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Espaço Reservado para Número de Slide 1">
            <a:extLst>
              <a:ext uri="{FF2B5EF4-FFF2-40B4-BE49-F238E27FC236}">
                <a16:creationId xmlns:a16="http://schemas.microsoft.com/office/drawing/2014/main" id="{45F462F2-04E8-3CFA-DF62-B80E37AA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BC763A-56E2-42A7-AD6F-82CD6B39D0E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32772" name="Text Box 1028">
            <a:extLst>
              <a:ext uri="{FF2B5EF4-FFF2-40B4-BE49-F238E27FC236}">
                <a16:creationId xmlns:a16="http://schemas.microsoft.com/office/drawing/2014/main" id="{C776FB98-CD67-2CFE-0074-3665E88D1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7625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ço Reservado para Número de Slide 1">
            <a:extLst>
              <a:ext uri="{FF2B5EF4-FFF2-40B4-BE49-F238E27FC236}">
                <a16:creationId xmlns:a16="http://schemas.microsoft.com/office/drawing/2014/main" id="{2999FD19-7DDC-CC59-86D1-73ACBE87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F3AEFC-25FB-4C1E-9DB1-F55E8F61136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33795" name="Text Box 1028">
            <a:extLst>
              <a:ext uri="{FF2B5EF4-FFF2-40B4-BE49-F238E27FC236}">
                <a16:creationId xmlns:a16="http://schemas.microsoft.com/office/drawing/2014/main" id="{71042AEB-01CF-09AE-478F-96EE1C0B1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7625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pic>
        <p:nvPicPr>
          <p:cNvPr id="33796" name="Picture 6" descr="Recursos Humanos: 6 dúvidas mais comuns sobre pessoal em sua PME">
            <a:extLst>
              <a:ext uri="{FF2B5EF4-FFF2-40B4-BE49-F238E27FC236}">
                <a16:creationId xmlns:a16="http://schemas.microsoft.com/office/drawing/2014/main" id="{8FDEF905-9D36-138C-8CC9-7BFC2A5CD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262188"/>
            <a:ext cx="6913562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ço Reservado para Número de Slide 1">
            <a:extLst>
              <a:ext uri="{FF2B5EF4-FFF2-40B4-BE49-F238E27FC236}">
                <a16:creationId xmlns:a16="http://schemas.microsoft.com/office/drawing/2014/main" id="{34D93002-2CD6-4015-DC54-1CCE1B57A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60DFC9-5688-4F08-983A-69C648116C5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  <p:sp>
        <p:nvSpPr>
          <p:cNvPr id="34819" name="Text Box 1028">
            <a:extLst>
              <a:ext uri="{FF2B5EF4-FFF2-40B4-BE49-F238E27FC236}">
                <a16:creationId xmlns:a16="http://schemas.microsoft.com/office/drawing/2014/main" id="{A442D7C8-E182-1B00-0F0E-CD2CC0E0D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8" y="47625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34820" name="Rectangle 25">
            <a:extLst>
              <a:ext uri="{FF2B5EF4-FFF2-40B4-BE49-F238E27FC236}">
                <a16:creationId xmlns:a16="http://schemas.microsoft.com/office/drawing/2014/main" id="{F0ABA969-2D1D-E358-4CF0-122B65EB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EXERCÍCIOS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4">
            <a:extLst>
              <a:ext uri="{FF2B5EF4-FFF2-40B4-BE49-F238E27FC236}">
                <a16:creationId xmlns:a16="http://schemas.microsoft.com/office/drawing/2014/main" id="{E6255C73-CBC8-F39D-616E-1F222B409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Escreva um algoritmo para ler dois valores inteiros, nas variáveis A e B, e efetuar as trocas dos valores de forma que a variável A passe a possuir o valor da variável B e a variável B passe a possuir o valor da variável A. No final, apresentar os valores trocados.</a:t>
            </a:r>
          </a:p>
        </p:txBody>
      </p:sp>
      <p:sp>
        <p:nvSpPr>
          <p:cNvPr id="35843" name="Espaço Reservado para Número de Slide 1">
            <a:extLst>
              <a:ext uri="{FF2B5EF4-FFF2-40B4-BE49-F238E27FC236}">
                <a16:creationId xmlns:a16="http://schemas.microsoft.com/office/drawing/2014/main" id="{0AC8BBBD-2C6F-7687-87EF-88CFDFBA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B5DE69-A1AE-427F-A549-F971D9899A9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35844" name="Text Box 1028">
            <a:extLst>
              <a:ext uri="{FF2B5EF4-FFF2-40B4-BE49-F238E27FC236}">
                <a16:creationId xmlns:a16="http://schemas.microsoft.com/office/drawing/2014/main" id="{998926AB-C044-0A81-A490-3E213F7D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4">
            <a:extLst>
              <a:ext uri="{FF2B5EF4-FFF2-40B4-BE49-F238E27FC236}">
                <a16:creationId xmlns:a16="http://schemas.microsoft.com/office/drawing/2014/main" id="{1D6781F7-6BAF-5FF5-BAF4-80A2BAA78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025" y="1873177"/>
            <a:ext cx="882015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Escreva um algoritmo que receba um valor que foi depositado e a quantidade de meses que ficou aplicado.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Exiba o valor investido, calculando e o rendimento mensal, sabendo que: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Juro mensal da aplicação é fixo: 9.5% ao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mês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Taxa de administração: 20%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Portanto: Valor final = Valor inicial +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(meses * juros) – 20% do total.</a:t>
            </a:r>
          </a:p>
        </p:txBody>
      </p:sp>
      <p:sp>
        <p:nvSpPr>
          <p:cNvPr id="36867" name="Espaço Reservado para Número de Slide 1">
            <a:extLst>
              <a:ext uri="{FF2B5EF4-FFF2-40B4-BE49-F238E27FC236}">
                <a16:creationId xmlns:a16="http://schemas.microsoft.com/office/drawing/2014/main" id="{1652B9AD-D741-E48B-D1B8-EA35A090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2F4DDA-7F9A-489A-81EF-8C1F4E753BB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36869" name="Text Box 1028">
            <a:extLst>
              <a:ext uri="{FF2B5EF4-FFF2-40B4-BE49-F238E27FC236}">
                <a16:creationId xmlns:a16="http://schemas.microsoft.com/office/drawing/2014/main" id="{834D91FC-BD23-BB4C-CC0A-D728CEB00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>
            <a:extLst>
              <a:ext uri="{FF2B5EF4-FFF2-40B4-BE49-F238E27FC236}">
                <a16:creationId xmlns:a16="http://schemas.microsoft.com/office/drawing/2014/main" id="{A4D74EFD-1E7D-25E9-83D9-74D2DA950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Escreva um algoritmo que leia as seguintes informações de um funcionário: Nome, idade, cargo e o seu salário bruto considere: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a) O salário bruto teve um reajuste de 18%.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b) O funcionário receberá uma gratificação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de 20% sobre salário bruto reajustado.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c) No Salário Liquido é descontado em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15% sobre salário bruto reajustado.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No final mostre: Nome, idade e cargo,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salário bruto e salário líquido.</a:t>
            </a:r>
          </a:p>
        </p:txBody>
      </p:sp>
      <p:sp>
        <p:nvSpPr>
          <p:cNvPr id="37891" name="Espaço Reservado para Número de Slide 1">
            <a:extLst>
              <a:ext uri="{FF2B5EF4-FFF2-40B4-BE49-F238E27FC236}">
                <a16:creationId xmlns:a16="http://schemas.microsoft.com/office/drawing/2014/main" id="{D1E1E6AC-F8E3-53CB-11D4-51361FAB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0CEB27-D2CC-4F51-924E-EAF968BFC69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  <p:sp>
        <p:nvSpPr>
          <p:cNvPr id="37892" name="Text Box 1028">
            <a:extLst>
              <a:ext uri="{FF2B5EF4-FFF2-40B4-BE49-F238E27FC236}">
                <a16:creationId xmlns:a16="http://schemas.microsoft.com/office/drawing/2014/main" id="{6CCF03C6-B91E-F36F-5714-5BE3A0268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>
            <a:extLst>
              <a:ext uri="{FF2B5EF4-FFF2-40B4-BE49-F238E27FC236}">
                <a16:creationId xmlns:a16="http://schemas.microsoft.com/office/drawing/2014/main" id="{A6E06B6A-D283-6758-39FE-07F33609E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Uma empresa tem para um determinado funcionário uma ficha contendo o nome, número de horas trabalhadas e o n</a:t>
            </a:r>
            <a:r>
              <a:rPr lang="pt-BR" altLang="pt-BR" b="1" baseline="30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de dependentes de um funcionário.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Considerando que: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A empresa paga R$ 12.00 por hora e R$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40.00 reais por dependente.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Sobre o salário são feito descontos de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8% para o INSS e 5% para IR.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Espaço Reservado para Número de Slide 1">
            <a:extLst>
              <a:ext uri="{FF2B5EF4-FFF2-40B4-BE49-F238E27FC236}">
                <a16:creationId xmlns:a16="http://schemas.microsoft.com/office/drawing/2014/main" id="{DED1323C-C220-71EE-F7D3-4BEA0573F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E30202-DB15-4E34-BF63-DDE5836031A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38916" name="Text Box 1028">
            <a:extLst>
              <a:ext uri="{FF2B5EF4-FFF2-40B4-BE49-F238E27FC236}">
                <a16:creationId xmlns:a16="http://schemas.microsoft.com/office/drawing/2014/main" id="{7044A1D4-E4DF-2CFF-C95B-022575300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4">
            <a:extLst>
              <a:ext uri="{FF2B5EF4-FFF2-40B4-BE49-F238E27FC236}">
                <a16:creationId xmlns:a16="http://schemas.microsoft.com/office/drawing/2014/main" id="{7E4F24E4-260E-88AC-E0E5-1E77E91B9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Escreva um algoritmo para ler o Nome, número de horas trabalhadas e número de dependentes de um funcionário. No final mostre o Nome do funcionário, salário bruto, os valores dos descontos para cada tipo de imposto e o salário líquido do funcionário.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pt-BR" altLang="pt-B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Espaço Reservado para Número de Slide 1">
            <a:extLst>
              <a:ext uri="{FF2B5EF4-FFF2-40B4-BE49-F238E27FC236}">
                <a16:creationId xmlns:a16="http://schemas.microsoft.com/office/drawing/2014/main" id="{14FD7FB9-5201-D03C-9997-CBFDB879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FEEE77-169D-470E-B5D9-B160AC6874F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  <p:sp>
        <p:nvSpPr>
          <p:cNvPr id="39940" name="Text Box 1028">
            <a:extLst>
              <a:ext uri="{FF2B5EF4-FFF2-40B4-BE49-F238E27FC236}">
                <a16:creationId xmlns:a16="http://schemas.microsoft.com/office/drawing/2014/main" id="{064239B9-6438-470F-B8EC-D30EB975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</a:t>
            </a:r>
            <a:r>
              <a:rPr lang="pt-BR" altLang="pt-BR" sz="3600" dirty="0">
                <a:latin typeface="Arial Black" panose="020B0A04020102020204" pitchFamily="34" charset="0"/>
              </a:rPr>
              <a:t>09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ço Reservado para Número de Slide 1">
            <a:extLst>
              <a:ext uri="{FF2B5EF4-FFF2-40B4-BE49-F238E27FC236}">
                <a16:creationId xmlns:a16="http://schemas.microsoft.com/office/drawing/2014/main" id="{75511FF2-1F0D-5090-6966-BBDCCDC5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FABD59-B08A-44B7-9F9D-C20A86DCE5B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  <p:sp>
        <p:nvSpPr>
          <p:cNvPr id="40963" name="Text Box 1028">
            <a:extLst>
              <a:ext uri="{FF2B5EF4-FFF2-40B4-BE49-F238E27FC236}">
                <a16:creationId xmlns:a16="http://schemas.microsoft.com/office/drawing/2014/main" id="{7E746A3F-E2F1-71AC-C9B7-CE0D849B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DE VARIÁVEL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pic>
        <p:nvPicPr>
          <p:cNvPr id="40964" name="Picture 2" descr="FIM - Creative Digital Studio">
            <a:extLst>
              <a:ext uri="{FF2B5EF4-FFF2-40B4-BE49-F238E27FC236}">
                <a16:creationId xmlns:a16="http://schemas.microsoft.com/office/drawing/2014/main" id="{CA2D44AB-A695-8004-4F08-9F7728CBD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5184775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77435081057B40A489DF4F858BB6F6" ma:contentTypeVersion="3" ma:contentTypeDescription="Crie um novo documento." ma:contentTypeScope="" ma:versionID="3d24ba63a063443182cb9be0098d81a9">
  <xsd:schema xmlns:xsd="http://www.w3.org/2001/XMLSchema" xmlns:xs="http://www.w3.org/2001/XMLSchema" xmlns:p="http://schemas.microsoft.com/office/2006/metadata/properties" xmlns:ns2="c763d9d6-67d4-4f43-b9a9-cbfbd948e2d1" targetNamespace="http://schemas.microsoft.com/office/2006/metadata/properties" ma:root="true" ma:fieldsID="2f727c3dd44bbea65ab8478cd985a77d" ns2:_="">
    <xsd:import namespace="c763d9d6-67d4-4f43-b9a9-cbfbd948e2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3d9d6-67d4-4f43-b9a9-cbfbd948e2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E75B808-97BE-4F77-94E0-7EF145DA2137}"/>
</file>

<file path=customXml/itemProps2.xml><?xml version="1.0" encoding="utf-8"?>
<ds:datastoreItem xmlns:ds="http://schemas.openxmlformats.org/officeDocument/2006/customXml" ds:itemID="{93499357-FB4E-4C60-90FC-F76B37F4E173}"/>
</file>

<file path=customXml/itemProps3.xml><?xml version="1.0" encoding="utf-8"?>
<ds:datastoreItem xmlns:ds="http://schemas.openxmlformats.org/officeDocument/2006/customXml" ds:itemID="{ADFD9AEA-84D6-4C7E-B51C-2F731BC2DD66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3463</TotalTime>
  <Words>1854</Words>
  <Application>Microsoft Office PowerPoint</Application>
  <PresentationFormat>Apresentação na tela (4:3)</PresentationFormat>
  <Paragraphs>290</Paragraphs>
  <Slides>36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BookmanITC Lt BT</vt:lpstr>
      <vt:lpstr>Calibri</vt:lpstr>
      <vt:lpstr>Tahoma</vt:lpstr>
      <vt:lpstr>Wingdings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MARCOS JR</cp:lastModifiedBy>
  <cp:revision>160</cp:revision>
  <dcterms:created xsi:type="dcterms:W3CDTF">2008-02-25T13:34:03Z</dcterms:created>
  <dcterms:modified xsi:type="dcterms:W3CDTF">2026-08-26T19:40:03Z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0x0101005677435081057B40A489DF4F858BB6F6</vt:lpwstr>
  </property>
</Properties>
</file>