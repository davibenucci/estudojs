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0"/>
  </p:notesMasterIdLst>
  <p:handoutMasterIdLst>
    <p:handoutMasterId r:id="rId51"/>
  </p:handoutMasterIdLst>
  <p:sldIdLst>
    <p:sldId id="256" r:id="rId2"/>
    <p:sldId id="338" r:id="rId3"/>
    <p:sldId id="346" r:id="rId4"/>
    <p:sldId id="334" r:id="rId5"/>
    <p:sldId id="335" r:id="rId6"/>
    <p:sldId id="336" r:id="rId7"/>
    <p:sldId id="337" r:id="rId8"/>
    <p:sldId id="327" r:id="rId9"/>
    <p:sldId id="347" r:id="rId10"/>
    <p:sldId id="328" r:id="rId11"/>
    <p:sldId id="348" r:id="rId12"/>
    <p:sldId id="321" r:id="rId13"/>
    <p:sldId id="288" r:id="rId14"/>
    <p:sldId id="289" r:id="rId15"/>
    <p:sldId id="291" r:id="rId16"/>
    <p:sldId id="292" r:id="rId17"/>
    <p:sldId id="293" r:id="rId18"/>
    <p:sldId id="294" r:id="rId19"/>
    <p:sldId id="324" r:id="rId20"/>
    <p:sldId id="296" r:id="rId21"/>
    <p:sldId id="322" r:id="rId22"/>
    <p:sldId id="295" r:id="rId23"/>
    <p:sldId id="349" r:id="rId24"/>
    <p:sldId id="297" r:id="rId25"/>
    <p:sldId id="350" r:id="rId26"/>
    <p:sldId id="298" r:id="rId27"/>
    <p:sldId id="299" r:id="rId28"/>
    <p:sldId id="351" r:id="rId29"/>
    <p:sldId id="325" r:id="rId30"/>
    <p:sldId id="352" r:id="rId31"/>
    <p:sldId id="331" r:id="rId32"/>
    <p:sldId id="300" r:id="rId33"/>
    <p:sldId id="301" r:id="rId34"/>
    <p:sldId id="302" r:id="rId35"/>
    <p:sldId id="303" r:id="rId36"/>
    <p:sldId id="304" r:id="rId37"/>
    <p:sldId id="269" r:id="rId38"/>
    <p:sldId id="305" r:id="rId39"/>
    <p:sldId id="310" r:id="rId40"/>
    <p:sldId id="311" r:id="rId41"/>
    <p:sldId id="353" r:id="rId42"/>
    <p:sldId id="355" r:id="rId43"/>
    <p:sldId id="318" r:id="rId44"/>
    <p:sldId id="319" r:id="rId45"/>
    <p:sldId id="320" r:id="rId46"/>
    <p:sldId id="332" r:id="rId47"/>
    <p:sldId id="333" r:id="rId48"/>
    <p:sldId id="354" r:id="rId49"/>
  </p:sldIdLst>
  <p:sldSz cx="9144000" cy="6858000" type="screen4x3"/>
  <p:notesSz cx="6888163" cy="10017125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06" autoAdjust="0"/>
    <p:restoredTop sz="90929"/>
  </p:normalViewPr>
  <p:slideViewPr>
    <p:cSldViewPr>
      <p:cViewPr varScale="1">
        <p:scale>
          <a:sx n="57" d="100"/>
          <a:sy n="57" d="100"/>
        </p:scale>
        <p:origin x="1784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1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71DA482-AAF7-1D58-4BE4-87D46A8B3D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t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89C0DAA-6874-E54B-DD82-BCE9C353B8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t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FA23E3B6-2A45-5535-19A4-41DB56A0AF6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7063"/>
            <a:ext cx="2984500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b" anchorCtr="0" compatLnSpc="1">
            <a:prstTxWarp prst="textNoShape">
              <a:avLst/>
            </a:prstTxWarp>
          </a:bodyPr>
          <a:lstStyle>
            <a:lvl1pPr defTabSz="965200" eaLnBrk="1" hangingPunct="1">
              <a:defRPr sz="13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B0809D8C-68A9-F1CC-9780-AE042238B31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517063"/>
            <a:ext cx="2984500" cy="500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597" tIns="48299" rIns="96597" bIns="48299" numCol="1" anchor="b" anchorCtr="0" compatLnSpc="1">
            <a:prstTxWarp prst="textNoShape">
              <a:avLst/>
            </a:prstTxWarp>
          </a:bodyPr>
          <a:lstStyle>
            <a:lvl1pPr algn="r" defTabSz="965200" eaLnBrk="1" hangingPunct="1">
              <a:defRPr sz="1300"/>
            </a:lvl1pPr>
          </a:lstStyle>
          <a:p>
            <a:fld id="{A4D50E8E-BF7A-4D82-9A56-CEADCB078F7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FD4D419-950D-5BE3-FFD8-E89E615987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78165E6-2532-2BAA-40B8-09A2DAEC5B0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11EDDCE-579A-4BEF-830E-9C07040B905C}" type="datetimeFigureOut">
              <a:rPr lang="pt-BR"/>
              <a:pPr>
                <a:defRPr/>
              </a:pPr>
              <a:t>26/08/2026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D9E7F845-FEA5-1A66-4947-0DCA4AF48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39800" y="750888"/>
            <a:ext cx="5008563" cy="37576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AA9264D4-DA27-84BB-E468-FA4C1DE51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8975" y="4757738"/>
            <a:ext cx="5510213" cy="45085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A3E703-C53A-6E8E-5524-7F79A18F822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513888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13D759-EAB1-9096-F60A-74F8A8B73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02075" y="9513888"/>
            <a:ext cx="2984500" cy="5016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1BC40FC-F9D2-4233-98F5-CD22730F7218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896F7D-0F20-2269-D641-65A35CEF852A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706FF50-1654-E0D4-BC3C-460C09448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F6B8D9DC-DAFA-0387-211D-0106CCD04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8E7E1EB-8EA3-D850-28BD-6D5116EF62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6C2F954-54F5-1699-4F42-3BE767520F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5B6DC79-2B68-65B4-E3D0-AEC93D5DDE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CCC1C6-13EA-2C71-4A80-5E3AF45A3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8A3D620F-EDCE-AD3D-2E8B-0E2944CA0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7F879AE1-CE22-A097-730C-75E9324A42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D9FDEAE-9758-6244-8691-6930E5025B5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pt-BR" altLang="pt-BR" noProof="0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pt-BR" altLang="pt-BR" noProof="0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BC54832D-C59B-ACD5-D726-147364D71B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5CD02A3-2ACB-6539-AA31-DDD800A2F9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C3AF8AB8-E6E1-17B0-EB1D-F0788B5EE2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A4495B3-BB27-43B8-B2A4-F8AE04208E7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02636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EC41EAF-9812-A589-FAB3-10DE943E89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A14A6B57-5C8B-B033-4031-1F4287051D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C1C92FD2-E885-B7C1-91B0-8878AD16EC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0A3E01-21B6-4AE2-A164-EDA1E95B6D6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41009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57468755-C161-DB39-0177-48D1B5ED84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65A588C3-FC92-D957-9562-6891980F1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F4E4A4D2-7609-6BEA-A6AD-92ED26DE09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3E1B2-E1E5-4BC3-BE4A-755357E48E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0367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F7C7159F-30AA-10F5-1185-46E8B2A269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88EDC436-1062-BBBC-299D-0E693BE7D1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32EA4EB4-EEA3-5F26-B992-DCA580880F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9D749C-F471-4038-9670-021E67DB404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7270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122D4C14-8DFF-533C-5C4C-DC28B5AB61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AC4E2AB3-FB4A-0FA4-AE1F-8C68492C56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CC5AB7E4-B847-4E62-664F-B4E8569189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FC0E2C-09B1-4FB3-BBAE-82774812FC1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5442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FA64173C-72B5-0FC7-1670-4743AC04B3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8985DE52-0160-555B-783C-CD98F27F52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1B38C2E8-412C-ADEA-3059-AD1AD7B8B7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74A744-9F9C-4364-ACC7-F22B18A6186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7204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2535101F-753E-0E3B-34F8-A94458302D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BE7B8030-AF5A-2AB6-3376-33B3544707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A7BF3A33-D400-6CEA-2987-66A172C5A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71FFBC-A4BC-433F-A7A3-2D3B5B532CF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0476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A0772B90-4361-B916-C936-309F25CBB7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F70EFAE0-9027-FD3F-33A5-C6395DE2AD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6C614E57-1D1A-D0A7-11AC-DEBCA44096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A6A3F8-829D-4D26-BC72-6E88EEB0EEB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4091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FD55A235-ED31-6BF1-CBA1-5D5AA19B20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82298B12-DF26-B9C9-550F-DF08E09268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4B65B31D-E050-6CD9-A2E1-FDCC538866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524B86-4397-4557-8430-1BD109ABADD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121896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A9195E7-BF3C-F425-7312-E9D5289CF8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6E28929A-1012-6FDC-06A4-9EAA8CDC02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E6C5C51F-302C-0FBC-5679-E88E4CE8CA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CE261C-DE64-4206-9E54-E0BA66CA029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03300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52DEFF88-859A-38EF-210D-ED59D36B62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A1EE1A2E-B835-8806-3D0E-98EE1E6FE0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2823FF6A-40F5-B43A-075C-5524F419F0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04BF8A-FE33-4C79-9643-5DD62C5FECC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75471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3CC09756-EC9C-C0B1-5830-BDB826C065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643A4DEC-EBB2-3880-F875-A40C7BE8760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5BBB217-434F-A501-198B-F2A54888D9C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BBFB552D-19F5-6B01-26D2-C65E5070CA3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A705ED9E-EE0B-D398-EF01-21C9A394204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82BFB20F-10D2-CCAE-F2FB-5B04D706024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BA5C2AE-6CF1-9091-567B-63C540F2719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C06E5D4E-2B7A-BDE1-B4D7-B9AC7FB23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9ED8608D-80DA-B93F-B160-EB4A065C4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EB00B652-1024-0336-A23D-8124FBF5088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1A449CD8-5F5B-A296-D8E9-9DDA25C585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28808965-51DC-E4B6-D3B1-29A159F2F40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225BF08-4748-4707-8F8D-96341AE86FD5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ED8320B-519B-6BFD-AD04-F466DD066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509963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pt-BR" sz="66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Lógica de Programação e</a:t>
            </a:r>
            <a:r>
              <a:rPr lang="pt-BR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 </a:t>
            </a:r>
            <a:r>
              <a:rPr lang="pt-BR" sz="60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Algoritmos</a:t>
            </a:r>
            <a:endParaRPr lang="pt-BR" sz="4400" b="1" dirty="0">
              <a:effectLst>
                <a:outerShdw blurRad="38100" dist="38100" dir="2700000" algn="tl">
                  <a:srgbClr val="000000"/>
                </a:outerShdw>
              </a:effectLst>
              <a:latin typeface="BookmanITC Lt BT" pitchFamily="18" charset="0"/>
            </a:endParaRPr>
          </a:p>
          <a:p>
            <a:pPr algn="ctr" eaLnBrk="1" hangingPunct="1">
              <a:spcBef>
                <a:spcPct val="50000"/>
              </a:spcBef>
              <a:defRPr/>
            </a:pPr>
            <a:r>
              <a:rPr lang="pt-BR" sz="4400" b="1" dirty="0">
                <a:effectLst>
                  <a:outerShdw blurRad="38100" dist="38100" dir="2700000" algn="tl">
                    <a:srgbClr val="000000"/>
                  </a:outerShdw>
                </a:effectLst>
                <a:latin typeface="BookmanITC Lt BT" pitchFamily="18" charset="0"/>
              </a:rPr>
              <a:t>01</a:t>
            </a:r>
          </a:p>
          <a:p>
            <a:pPr algn="ctr" eaLnBrk="1" hangingPunct="1">
              <a:defRPr/>
            </a:pPr>
            <a:endParaRPr lang="pt-BR" altLang="pt-BR" sz="4400" b="1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FBAC58F-FFAA-1272-BE77-4F268F468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6419850"/>
            <a:ext cx="59848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5124" name="Espaço Reservado para Número de Slide 1">
            <a:extLst>
              <a:ext uri="{FF2B5EF4-FFF2-40B4-BE49-F238E27FC236}">
                <a16:creationId xmlns:a16="http://schemas.microsoft.com/office/drawing/2014/main" id="{00F37C8B-E84C-35BD-D30D-CFD5BA48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3E48ED8-3A23-4E5F-A2AF-0B9CC441525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pt-BR" altLang="pt-BR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028">
            <a:extLst>
              <a:ext uri="{FF2B5EF4-FFF2-40B4-BE49-F238E27FC236}">
                <a16:creationId xmlns:a16="http://schemas.microsoft.com/office/drawing/2014/main" id="{1167CF83-D20D-E3C5-5DF5-97CFF17AE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6147" name="Rectangle 25">
            <a:extLst>
              <a:ext uri="{FF2B5EF4-FFF2-40B4-BE49-F238E27FC236}">
                <a16:creationId xmlns:a16="http://schemas.microsoft.com/office/drawing/2014/main" id="{056A6FF3-A205-CA57-6FA7-55E30CA43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LÓGICA</a:t>
            </a:r>
          </a:p>
        </p:txBody>
      </p:sp>
      <p:sp>
        <p:nvSpPr>
          <p:cNvPr id="6148" name="Espaço Reservado para Número de Slide 1">
            <a:extLst>
              <a:ext uri="{FF2B5EF4-FFF2-40B4-BE49-F238E27FC236}">
                <a16:creationId xmlns:a16="http://schemas.microsoft.com/office/drawing/2014/main" id="{17EF6DFB-EC16-EF2E-F575-A61359FF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51428F-B9C5-45F5-A4D3-A82331EEAAE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028">
            <a:extLst>
              <a:ext uri="{FF2B5EF4-FFF2-40B4-BE49-F238E27FC236}">
                <a16:creationId xmlns:a16="http://schemas.microsoft.com/office/drawing/2014/main" id="{8DD49D9C-9E69-7CB7-9017-2C2A21270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Lógica</a:t>
            </a:r>
          </a:p>
        </p:txBody>
      </p:sp>
      <p:sp>
        <p:nvSpPr>
          <p:cNvPr id="7171" name="Rectangle 25">
            <a:extLst>
              <a:ext uri="{FF2B5EF4-FFF2-40B4-BE49-F238E27FC236}">
                <a16:creationId xmlns:a16="http://schemas.microsoft.com/office/drawing/2014/main" id="{9C8DBDB6-1249-4C7F-8150-66CE58B43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É necessária para trabalhar com desenvolvimento de sistemas e programas, pois permite a definição da sequência lógica para o desenvolvimento. 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Lógica de programação é a técnica de encadear pensamentos para atingir determinado objetivo. </a:t>
            </a:r>
          </a:p>
          <a:p>
            <a:pPr>
              <a:buNone/>
            </a:pPr>
            <a:endParaRPr lang="pt-BR" alt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2" name="Espaço Reservado para Número de Slide 1">
            <a:extLst>
              <a:ext uri="{FF2B5EF4-FFF2-40B4-BE49-F238E27FC236}">
                <a16:creationId xmlns:a16="http://schemas.microsoft.com/office/drawing/2014/main" id="{AB99C8A7-AE5B-2EF4-D06C-67E085E94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83B10C-5B6B-4B55-B218-4E58C28A148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028">
            <a:extLst>
              <a:ext uri="{FF2B5EF4-FFF2-40B4-BE49-F238E27FC236}">
                <a16:creationId xmlns:a16="http://schemas.microsoft.com/office/drawing/2014/main" id="{D6504DFA-8058-92FC-F9AC-304D4C5A47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Lógica - Problema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A2F5C9A6-D8E9-C029-1547-CC60F979BE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TORRE DE HANOI, sendo:</a:t>
            </a:r>
          </a:p>
          <a:p>
            <a:pPr lvl="2" eaLnBrk="1" hangingPunct="1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pt-BR" alt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Deve-se mover todos os discos do primeiro eixo para o terceiro mantendo-se a ordem original.</a:t>
            </a:r>
          </a:p>
          <a:p>
            <a:pPr lvl="2" eaLnBrk="1" hangingPunct="1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pt-BR" alt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Em cada movimento, pode-se mover apenas um disco.</a:t>
            </a:r>
          </a:p>
          <a:p>
            <a:pPr lvl="2" eaLnBrk="1" hangingPunct="1">
              <a:spcBef>
                <a:spcPts val="0"/>
              </a:spcBef>
              <a:buFont typeface="Wingdings" pitchFamily="2" charset="2"/>
              <a:buChar char="§"/>
              <a:defRPr/>
            </a:pPr>
            <a:r>
              <a:rPr lang="pt-BR" alt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Um disco nunca poderá ser sobreposto por outro maior.</a:t>
            </a:r>
          </a:p>
          <a:p>
            <a:pPr marL="457200" indent="-457200" eaLnBrk="1" hangingPunct="1">
              <a:spcBef>
                <a:spcPts val="0"/>
              </a:spcBef>
              <a:buFont typeface="Wingdings" pitchFamily="2" charset="2"/>
              <a:buChar char="§"/>
              <a:defRPr/>
            </a:pPr>
            <a:endParaRPr lang="pt-BR" alt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6" name="Espaço Reservado para Número de Slide 1">
            <a:extLst>
              <a:ext uri="{FF2B5EF4-FFF2-40B4-BE49-F238E27FC236}">
                <a16:creationId xmlns:a16="http://schemas.microsoft.com/office/drawing/2014/main" id="{3F96864B-469F-CAE1-B119-97716033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1EE8AC1-C1D6-437D-BE3D-53485184094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grpSp>
        <p:nvGrpSpPr>
          <p:cNvPr id="5" name="Group 117">
            <a:extLst>
              <a:ext uri="{FF2B5EF4-FFF2-40B4-BE49-F238E27FC236}">
                <a16:creationId xmlns:a16="http://schemas.microsoft.com/office/drawing/2014/main" id="{02355D55-C9EB-310A-3B2C-D67A41587951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6051550"/>
            <a:ext cx="1905000" cy="762000"/>
            <a:chOff x="4416" y="3408"/>
            <a:chExt cx="1200" cy="480"/>
          </a:xfrm>
        </p:grpSpPr>
        <p:sp>
          <p:nvSpPr>
            <p:cNvPr id="8198" name="Rectangle 118">
              <a:extLst>
                <a:ext uri="{FF2B5EF4-FFF2-40B4-BE49-F238E27FC236}">
                  <a16:creationId xmlns:a16="http://schemas.microsoft.com/office/drawing/2014/main" id="{220951FC-CCAE-7014-BBDF-7E38B29B40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40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8199" name="Group 119">
              <a:extLst>
                <a:ext uri="{FF2B5EF4-FFF2-40B4-BE49-F238E27FC236}">
                  <a16:creationId xmlns:a16="http://schemas.microsoft.com/office/drawing/2014/main" id="{6522B1DF-C2B9-0648-612B-737DE412FC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456"/>
              <a:ext cx="1063" cy="417"/>
              <a:chOff x="1296" y="2448"/>
              <a:chExt cx="3540" cy="1392"/>
            </a:xfrm>
          </p:grpSpPr>
          <p:grpSp>
            <p:nvGrpSpPr>
              <p:cNvPr id="8200" name="Group 120">
                <a:extLst>
                  <a:ext uri="{FF2B5EF4-FFF2-40B4-BE49-F238E27FC236}">
                    <a16:creationId xmlns:a16="http://schemas.microsoft.com/office/drawing/2014/main" id="{7A4CC489-C7A8-C927-0F1F-C7303AB685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2448"/>
                <a:ext cx="948" cy="1392"/>
                <a:chOff x="912" y="2448"/>
                <a:chExt cx="948" cy="1392"/>
              </a:xfrm>
            </p:grpSpPr>
            <p:sp>
              <p:nvSpPr>
                <p:cNvPr id="8207" name="AutoShape 121">
                  <a:extLst>
                    <a:ext uri="{FF2B5EF4-FFF2-40B4-BE49-F238E27FC236}">
                      <a16:creationId xmlns:a16="http://schemas.microsoft.com/office/drawing/2014/main" id="{F3F9A5A1-0567-7A22-695A-611E40719E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326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08" name="AutoShape 122">
                  <a:extLst>
                    <a:ext uri="{FF2B5EF4-FFF2-40B4-BE49-F238E27FC236}">
                      <a16:creationId xmlns:a16="http://schemas.microsoft.com/office/drawing/2014/main" id="{C5043A18-3A91-E915-81B0-C324E26CD2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88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09" name="Oval 123">
                  <a:extLst>
                    <a:ext uri="{FF2B5EF4-FFF2-40B4-BE49-F238E27FC236}">
                      <a16:creationId xmlns:a16="http://schemas.microsoft.com/office/drawing/2014/main" id="{28A5EDED-E8B9-49DB-BA87-14271BAEB2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072"/>
                  <a:ext cx="948" cy="50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10" name="AutoShape 124">
                  <a:extLst>
                    <a:ext uri="{FF2B5EF4-FFF2-40B4-BE49-F238E27FC236}">
                      <a16:creationId xmlns:a16="http://schemas.microsoft.com/office/drawing/2014/main" id="{1C00C35B-39CC-FED3-05B0-E157F36A6D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78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11" name="Oval 125">
                  <a:extLst>
                    <a:ext uri="{FF2B5EF4-FFF2-40B4-BE49-F238E27FC236}">
                      <a16:creationId xmlns:a16="http://schemas.microsoft.com/office/drawing/2014/main" id="{9884EE1F-6D82-B87E-7FFF-D0B3AD8F01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784"/>
                  <a:ext cx="708" cy="43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12" name="AutoShape 126">
                  <a:extLst>
                    <a:ext uri="{FF2B5EF4-FFF2-40B4-BE49-F238E27FC236}">
                      <a16:creationId xmlns:a16="http://schemas.microsoft.com/office/drawing/2014/main" id="{39824487-D42F-7D06-3655-70F0C50496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13" name="Oval 127">
                  <a:extLst>
                    <a:ext uri="{FF2B5EF4-FFF2-40B4-BE49-F238E27FC236}">
                      <a16:creationId xmlns:a16="http://schemas.microsoft.com/office/drawing/2014/main" id="{390D5A6B-F7A7-D12D-659A-FFDC121004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544"/>
                  <a:ext cx="468" cy="32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8214" name="AutoShape 128">
                  <a:extLst>
                    <a:ext uri="{FF2B5EF4-FFF2-40B4-BE49-F238E27FC236}">
                      <a16:creationId xmlns:a16="http://schemas.microsoft.com/office/drawing/2014/main" id="{DE14DEF2-8798-EE72-E98F-23365CBC91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336"/>
                </a:xfrm>
                <a:prstGeom prst="can">
                  <a:avLst>
                    <a:gd name="adj" fmla="val 74999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8201" name="AutoShape 129">
                <a:extLst>
                  <a:ext uri="{FF2B5EF4-FFF2-40B4-BE49-F238E27FC236}">
                    <a16:creationId xmlns:a16="http://schemas.microsoft.com/office/drawing/2014/main" id="{719C04F6-8314-8470-C9C3-E2F2D9FAD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02" name="AutoShape 130">
                <a:extLst>
                  <a:ext uri="{FF2B5EF4-FFF2-40B4-BE49-F238E27FC236}">
                    <a16:creationId xmlns:a16="http://schemas.microsoft.com/office/drawing/2014/main" id="{8737A0B0-B29A-90E0-C81A-93D5F03D5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03" name="AutoShape 131">
                <a:extLst>
                  <a:ext uri="{FF2B5EF4-FFF2-40B4-BE49-F238E27FC236}">
                    <a16:creationId xmlns:a16="http://schemas.microsoft.com/office/drawing/2014/main" id="{955172E2-B0F0-7905-1286-1656DF0B25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28"/>
              </a:xfrm>
              <a:prstGeom prst="can">
                <a:avLst>
                  <a:gd name="adj" fmla="val 6875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04" name="AutoShape 132">
                <a:extLst>
                  <a:ext uri="{FF2B5EF4-FFF2-40B4-BE49-F238E27FC236}">
                    <a16:creationId xmlns:a16="http://schemas.microsoft.com/office/drawing/2014/main" id="{A61C5E33-1B01-9FFF-AE5C-42A1973C23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672"/>
              </a:xfrm>
              <a:prstGeom prst="can">
                <a:avLst>
                  <a:gd name="adj" fmla="val 87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05" name="AutoShape 133">
                <a:extLst>
                  <a:ext uri="{FF2B5EF4-FFF2-40B4-BE49-F238E27FC236}">
                    <a16:creationId xmlns:a16="http://schemas.microsoft.com/office/drawing/2014/main" id="{C347E72E-76B6-E770-CDEB-AE1ACE1380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8206" name="AutoShape 134">
                <a:extLst>
                  <a:ext uri="{FF2B5EF4-FFF2-40B4-BE49-F238E27FC236}">
                    <a16:creationId xmlns:a16="http://schemas.microsoft.com/office/drawing/2014/main" id="{FD3C4D20-E1AB-73AE-8BAA-83A1686D5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028">
            <a:extLst>
              <a:ext uri="{FF2B5EF4-FFF2-40B4-BE49-F238E27FC236}">
                <a16:creationId xmlns:a16="http://schemas.microsoft.com/office/drawing/2014/main" id="{76C488D1-A252-EE86-BC30-3AB22B0FB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Lógica - Problema</a:t>
            </a:r>
          </a:p>
        </p:txBody>
      </p:sp>
      <p:grpSp>
        <p:nvGrpSpPr>
          <p:cNvPr id="9219" name="Group 2">
            <a:extLst>
              <a:ext uri="{FF2B5EF4-FFF2-40B4-BE49-F238E27FC236}">
                <a16:creationId xmlns:a16="http://schemas.microsoft.com/office/drawing/2014/main" id="{06ACB98B-ACD8-0294-15A7-F450AB01ECB2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6097588"/>
            <a:ext cx="1905000" cy="762000"/>
            <a:chOff x="144" y="2928"/>
            <a:chExt cx="1200" cy="480"/>
          </a:xfrm>
        </p:grpSpPr>
        <p:sp>
          <p:nvSpPr>
            <p:cNvPr id="9341" name="Rectangle 3">
              <a:extLst>
                <a:ext uri="{FF2B5EF4-FFF2-40B4-BE49-F238E27FC236}">
                  <a16:creationId xmlns:a16="http://schemas.microsoft.com/office/drawing/2014/main" id="{750B5A2F-EBD4-2D60-8AB7-97A977F31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292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342" name="Group 4">
              <a:extLst>
                <a:ext uri="{FF2B5EF4-FFF2-40B4-BE49-F238E27FC236}">
                  <a16:creationId xmlns:a16="http://schemas.microsoft.com/office/drawing/2014/main" id="{A51C8D27-FD2F-F54B-2191-02DC679BE6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976"/>
              <a:ext cx="1065" cy="417"/>
              <a:chOff x="912" y="2448"/>
              <a:chExt cx="3552" cy="1392"/>
            </a:xfrm>
          </p:grpSpPr>
          <p:sp>
            <p:nvSpPr>
              <p:cNvPr id="9343" name="AutoShape 5">
                <a:extLst>
                  <a:ext uri="{FF2B5EF4-FFF2-40B4-BE49-F238E27FC236}">
                    <a16:creationId xmlns:a16="http://schemas.microsoft.com/office/drawing/2014/main" id="{58E220AD-31DC-7531-1580-3E88CD132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44" name="AutoShape 6">
                <a:extLst>
                  <a:ext uri="{FF2B5EF4-FFF2-40B4-BE49-F238E27FC236}">
                    <a16:creationId xmlns:a16="http://schemas.microsoft.com/office/drawing/2014/main" id="{C675BA6C-9961-2A42-E433-5448BB542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45" name="AutoShape 7">
                <a:extLst>
                  <a:ext uri="{FF2B5EF4-FFF2-40B4-BE49-F238E27FC236}">
                    <a16:creationId xmlns:a16="http://schemas.microsoft.com/office/drawing/2014/main" id="{66759336-820D-8670-4D23-3EE7E6A28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46" name="AutoShape 8">
                <a:extLst>
                  <a:ext uri="{FF2B5EF4-FFF2-40B4-BE49-F238E27FC236}">
                    <a16:creationId xmlns:a16="http://schemas.microsoft.com/office/drawing/2014/main" id="{B8E45059-3DA5-0014-CFDD-5AA0E99DFC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47" name="AutoShape 9">
                <a:extLst>
                  <a:ext uri="{FF2B5EF4-FFF2-40B4-BE49-F238E27FC236}">
                    <a16:creationId xmlns:a16="http://schemas.microsoft.com/office/drawing/2014/main" id="{D5FE1105-37DA-2021-9730-29631E5979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48" name="AutoShape 10">
                <a:extLst>
                  <a:ext uri="{FF2B5EF4-FFF2-40B4-BE49-F238E27FC236}">
                    <a16:creationId xmlns:a16="http://schemas.microsoft.com/office/drawing/2014/main" id="{310270AE-1C0A-52E3-76BC-F96CF90E6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9349" name="Group 11">
                <a:extLst>
                  <a:ext uri="{FF2B5EF4-FFF2-40B4-BE49-F238E27FC236}">
                    <a16:creationId xmlns:a16="http://schemas.microsoft.com/office/drawing/2014/main" id="{3CABF08F-A452-3485-B9A1-5106C3F5F2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2448"/>
                <a:ext cx="948" cy="1392"/>
                <a:chOff x="912" y="2448"/>
                <a:chExt cx="948" cy="1392"/>
              </a:xfrm>
            </p:grpSpPr>
            <p:sp>
              <p:nvSpPr>
                <p:cNvPr id="9350" name="AutoShape 12">
                  <a:extLst>
                    <a:ext uri="{FF2B5EF4-FFF2-40B4-BE49-F238E27FC236}">
                      <a16:creationId xmlns:a16="http://schemas.microsoft.com/office/drawing/2014/main" id="{30C5744E-1106-E71A-7967-3A0AE01B22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326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1" name="AutoShape 13">
                  <a:extLst>
                    <a:ext uri="{FF2B5EF4-FFF2-40B4-BE49-F238E27FC236}">
                      <a16:creationId xmlns:a16="http://schemas.microsoft.com/office/drawing/2014/main" id="{E8CA3883-05C6-DC66-531B-BCA0DAA498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88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2" name="Oval 14">
                  <a:extLst>
                    <a:ext uri="{FF2B5EF4-FFF2-40B4-BE49-F238E27FC236}">
                      <a16:creationId xmlns:a16="http://schemas.microsoft.com/office/drawing/2014/main" id="{BFF3BD14-0F4D-F783-E89D-4B0D81C17C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072"/>
                  <a:ext cx="948" cy="50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3" name="AutoShape 15">
                  <a:extLst>
                    <a:ext uri="{FF2B5EF4-FFF2-40B4-BE49-F238E27FC236}">
                      <a16:creationId xmlns:a16="http://schemas.microsoft.com/office/drawing/2014/main" id="{8FFE8A2D-30AA-9DCD-8538-CB7EC35DCB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78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4" name="Oval 16">
                  <a:extLst>
                    <a:ext uri="{FF2B5EF4-FFF2-40B4-BE49-F238E27FC236}">
                      <a16:creationId xmlns:a16="http://schemas.microsoft.com/office/drawing/2014/main" id="{6DA3688E-A1E8-FFA0-CA3C-A00C0F9839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784"/>
                  <a:ext cx="708" cy="43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5" name="AutoShape 17">
                  <a:extLst>
                    <a:ext uri="{FF2B5EF4-FFF2-40B4-BE49-F238E27FC236}">
                      <a16:creationId xmlns:a16="http://schemas.microsoft.com/office/drawing/2014/main" id="{D5E3BC31-A24E-12D9-F2C2-F76B847863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6" name="Oval 18">
                  <a:extLst>
                    <a:ext uri="{FF2B5EF4-FFF2-40B4-BE49-F238E27FC236}">
                      <a16:creationId xmlns:a16="http://schemas.microsoft.com/office/drawing/2014/main" id="{B8005F69-B582-A2B8-9FF3-051B1E3AC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544"/>
                  <a:ext cx="468" cy="32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57" name="AutoShape 19">
                  <a:extLst>
                    <a:ext uri="{FF2B5EF4-FFF2-40B4-BE49-F238E27FC236}">
                      <a16:creationId xmlns:a16="http://schemas.microsoft.com/office/drawing/2014/main" id="{CB65D866-A8EA-DC58-6B0B-10EED393B3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336"/>
                </a:xfrm>
                <a:prstGeom prst="can">
                  <a:avLst>
                    <a:gd name="adj" fmla="val 74999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198" name="Rectangle 20">
            <a:extLst>
              <a:ext uri="{FF2B5EF4-FFF2-40B4-BE49-F238E27FC236}">
                <a16:creationId xmlns:a16="http://schemas.microsoft.com/office/drawing/2014/main" id="{7642B23C-BD8B-1547-038E-E5A314304D19}"/>
              </a:ext>
            </a:extLst>
          </p:cNvPr>
          <p:cNvSpPr txBox="1">
            <a:spLocks noChangeArrowheads="1"/>
          </p:cNvSpPr>
          <p:nvPr/>
        </p:nvSpPr>
        <p:spPr>
          <a:xfrm>
            <a:off x="760413" y="1916113"/>
            <a:ext cx="7116762" cy="345598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pt-BR" altLang="pt-BR" sz="2800" b="1" kern="0" dirty="0" err="1">
                <a:latin typeface="Arial" panose="020B0604020202020204" pitchFamily="34" charset="0"/>
                <a:cs typeface="Arial" panose="020B0604020202020204" pitchFamily="34" charset="0"/>
              </a:rPr>
              <a:t>Seqüência</a:t>
            </a:r>
            <a:r>
              <a:rPr lang="pt-BR" altLang="pt-BR" sz="2800" b="1" kern="0" dirty="0">
                <a:latin typeface="Arial" panose="020B0604020202020204" pitchFamily="34" charset="0"/>
                <a:cs typeface="Arial" panose="020B0604020202020204" pitchFamily="34" charset="0"/>
              </a:rPr>
              <a:t> de passos completa:</a:t>
            </a:r>
          </a:p>
          <a:p>
            <a:pPr eaLnBrk="1" hangingPunct="1">
              <a:buFontTx/>
              <a:buNone/>
              <a:defRPr/>
            </a:pPr>
            <a:r>
              <a:rPr lang="pt-BR" altLang="pt-BR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Passo 1: mova disco menor para terceiro eixo</a:t>
            </a:r>
          </a:p>
        </p:txBody>
      </p:sp>
      <p:grpSp>
        <p:nvGrpSpPr>
          <p:cNvPr id="199" name="Group 21">
            <a:extLst>
              <a:ext uri="{FF2B5EF4-FFF2-40B4-BE49-F238E27FC236}">
                <a16:creationId xmlns:a16="http://schemas.microsoft.com/office/drawing/2014/main" id="{5426B8F2-657B-F49D-6E6B-F92F65969DB7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6097588"/>
            <a:ext cx="1905000" cy="762000"/>
            <a:chOff x="1536" y="2976"/>
            <a:chExt cx="1200" cy="480"/>
          </a:xfrm>
        </p:grpSpPr>
        <p:sp>
          <p:nvSpPr>
            <p:cNvPr id="9326" name="Rectangle 22">
              <a:extLst>
                <a:ext uri="{FF2B5EF4-FFF2-40B4-BE49-F238E27FC236}">
                  <a16:creationId xmlns:a16="http://schemas.microsoft.com/office/drawing/2014/main" id="{5605EFFC-67CF-D4EA-5C47-E2B842270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976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327" name="Group 23">
              <a:extLst>
                <a:ext uri="{FF2B5EF4-FFF2-40B4-BE49-F238E27FC236}">
                  <a16:creationId xmlns:a16="http://schemas.microsoft.com/office/drawing/2014/main" id="{5A6E98E6-1D3C-F1E7-1FBA-5992665AC3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976"/>
              <a:ext cx="1106" cy="417"/>
              <a:chOff x="912" y="2448"/>
              <a:chExt cx="3684" cy="1392"/>
            </a:xfrm>
          </p:grpSpPr>
          <p:sp>
            <p:nvSpPr>
              <p:cNvPr id="9328" name="AutoShape 24">
                <a:extLst>
                  <a:ext uri="{FF2B5EF4-FFF2-40B4-BE49-F238E27FC236}">
                    <a16:creationId xmlns:a16="http://schemas.microsoft.com/office/drawing/2014/main" id="{96E5EF0F-3767-7DA8-A77E-18098B0A4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29" name="AutoShape 25">
                <a:extLst>
                  <a:ext uri="{FF2B5EF4-FFF2-40B4-BE49-F238E27FC236}">
                    <a16:creationId xmlns:a16="http://schemas.microsoft.com/office/drawing/2014/main" id="{D5571DE2-4490-CB19-11A4-D9B082F35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30" name="AutoShape 26">
                <a:extLst>
                  <a:ext uri="{FF2B5EF4-FFF2-40B4-BE49-F238E27FC236}">
                    <a16:creationId xmlns:a16="http://schemas.microsoft.com/office/drawing/2014/main" id="{536CCE5F-7279-F7A7-E2A5-422DE5243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31" name="AutoShape 27">
                <a:extLst>
                  <a:ext uri="{FF2B5EF4-FFF2-40B4-BE49-F238E27FC236}">
                    <a16:creationId xmlns:a16="http://schemas.microsoft.com/office/drawing/2014/main" id="{1572DDF7-45FA-A090-5A71-EDF94287C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32" name="Oval 28">
                <a:extLst>
                  <a:ext uri="{FF2B5EF4-FFF2-40B4-BE49-F238E27FC236}">
                    <a16:creationId xmlns:a16="http://schemas.microsoft.com/office/drawing/2014/main" id="{D073A38F-25F3-2FB3-E476-18DFFC509B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3264"/>
                <a:ext cx="468" cy="326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33" name="AutoShape 29">
                <a:extLst>
                  <a:ext uri="{FF2B5EF4-FFF2-40B4-BE49-F238E27FC236}">
                    <a16:creationId xmlns:a16="http://schemas.microsoft.com/office/drawing/2014/main" id="{2B119E9D-E722-3352-3927-711D2F64E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34" name="AutoShape 30">
                <a:extLst>
                  <a:ext uri="{FF2B5EF4-FFF2-40B4-BE49-F238E27FC236}">
                    <a16:creationId xmlns:a16="http://schemas.microsoft.com/office/drawing/2014/main" id="{992176BC-A5F4-422C-6289-3AA58C5D7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9335" name="Group 31">
                <a:extLst>
                  <a:ext uri="{FF2B5EF4-FFF2-40B4-BE49-F238E27FC236}">
                    <a16:creationId xmlns:a16="http://schemas.microsoft.com/office/drawing/2014/main" id="{1104C0A9-8E39-25A0-3D49-9F8F1071B0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2448"/>
                <a:ext cx="948" cy="1392"/>
                <a:chOff x="912" y="2448"/>
                <a:chExt cx="948" cy="1392"/>
              </a:xfrm>
            </p:grpSpPr>
            <p:sp>
              <p:nvSpPr>
                <p:cNvPr id="9336" name="AutoShape 32">
                  <a:extLst>
                    <a:ext uri="{FF2B5EF4-FFF2-40B4-BE49-F238E27FC236}">
                      <a16:creationId xmlns:a16="http://schemas.microsoft.com/office/drawing/2014/main" id="{3A2D17B1-1850-8FB3-48CE-1AB7CD1C5A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326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37" name="Oval 33">
                  <a:extLst>
                    <a:ext uri="{FF2B5EF4-FFF2-40B4-BE49-F238E27FC236}">
                      <a16:creationId xmlns:a16="http://schemas.microsoft.com/office/drawing/2014/main" id="{29303B45-44D8-787A-A3AF-79BE3F9201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072"/>
                  <a:ext cx="948" cy="50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38" name="AutoShape 34">
                  <a:extLst>
                    <a:ext uri="{FF2B5EF4-FFF2-40B4-BE49-F238E27FC236}">
                      <a16:creationId xmlns:a16="http://schemas.microsoft.com/office/drawing/2014/main" id="{5420E96B-D495-7919-783A-63BF23CB1F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78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39" name="Oval 35">
                  <a:extLst>
                    <a:ext uri="{FF2B5EF4-FFF2-40B4-BE49-F238E27FC236}">
                      <a16:creationId xmlns:a16="http://schemas.microsoft.com/office/drawing/2014/main" id="{3239EFCE-D4DC-E100-9E9D-588B89556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784"/>
                  <a:ext cx="708" cy="43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40" name="AutoShape 36">
                  <a:extLst>
                    <a:ext uri="{FF2B5EF4-FFF2-40B4-BE49-F238E27FC236}">
                      <a16:creationId xmlns:a16="http://schemas.microsoft.com/office/drawing/2014/main" id="{8CC0FC88-25A0-B394-20D0-3B32A46A9F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215" name="Group 37">
            <a:extLst>
              <a:ext uri="{FF2B5EF4-FFF2-40B4-BE49-F238E27FC236}">
                <a16:creationId xmlns:a16="http://schemas.microsoft.com/office/drawing/2014/main" id="{74E8C8A0-91B7-10B1-7873-7F719A78D280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6021388"/>
            <a:ext cx="1905000" cy="762000"/>
            <a:chOff x="2976" y="2928"/>
            <a:chExt cx="1200" cy="480"/>
          </a:xfrm>
        </p:grpSpPr>
        <p:sp>
          <p:nvSpPr>
            <p:cNvPr id="9311" name="Rectangle 38">
              <a:extLst>
                <a:ext uri="{FF2B5EF4-FFF2-40B4-BE49-F238E27FC236}">
                  <a16:creationId xmlns:a16="http://schemas.microsoft.com/office/drawing/2014/main" id="{722E05CA-7C94-C52B-B5D2-3844F1C49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92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312" name="Group 39">
              <a:extLst>
                <a:ext uri="{FF2B5EF4-FFF2-40B4-BE49-F238E27FC236}">
                  <a16:creationId xmlns:a16="http://schemas.microsoft.com/office/drawing/2014/main" id="{0B7C8E4A-FDA5-545D-34EC-6B2A689FD9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976"/>
              <a:ext cx="1106" cy="417"/>
              <a:chOff x="912" y="2448"/>
              <a:chExt cx="3684" cy="1392"/>
            </a:xfrm>
          </p:grpSpPr>
          <p:sp>
            <p:nvSpPr>
              <p:cNvPr id="9313" name="AutoShape 40">
                <a:extLst>
                  <a:ext uri="{FF2B5EF4-FFF2-40B4-BE49-F238E27FC236}">
                    <a16:creationId xmlns:a16="http://schemas.microsoft.com/office/drawing/2014/main" id="{34FA227B-D960-9CDB-7D7A-2CAE5AA1D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14" name="AutoShape 41">
                <a:extLst>
                  <a:ext uri="{FF2B5EF4-FFF2-40B4-BE49-F238E27FC236}">
                    <a16:creationId xmlns:a16="http://schemas.microsoft.com/office/drawing/2014/main" id="{25838A4F-68FB-1515-22C4-58EEB54120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grpSp>
            <p:nvGrpSpPr>
              <p:cNvPr id="9315" name="Group 42">
                <a:extLst>
                  <a:ext uri="{FF2B5EF4-FFF2-40B4-BE49-F238E27FC236}">
                    <a16:creationId xmlns:a16="http://schemas.microsoft.com/office/drawing/2014/main" id="{927D15DE-B549-F372-B477-45156989C8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28" y="2448"/>
                <a:ext cx="468" cy="1392"/>
                <a:chOff x="4224" y="2544"/>
                <a:chExt cx="468" cy="1392"/>
              </a:xfrm>
            </p:grpSpPr>
            <p:sp>
              <p:nvSpPr>
                <p:cNvPr id="9322" name="AutoShape 43">
                  <a:extLst>
                    <a:ext uri="{FF2B5EF4-FFF2-40B4-BE49-F238E27FC236}">
                      <a16:creationId xmlns:a16="http://schemas.microsoft.com/office/drawing/2014/main" id="{24B0DAE2-853B-6ECC-D684-C0F2C87DF5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336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23" name="Oval 44">
                  <a:extLst>
                    <a:ext uri="{FF2B5EF4-FFF2-40B4-BE49-F238E27FC236}">
                      <a16:creationId xmlns:a16="http://schemas.microsoft.com/office/drawing/2014/main" id="{CF5AD1E3-EA89-B302-BD1B-782328BE65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3360"/>
                  <a:ext cx="468" cy="32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24" name="AutoShape 45">
                  <a:extLst>
                    <a:ext uri="{FF2B5EF4-FFF2-40B4-BE49-F238E27FC236}">
                      <a16:creationId xmlns:a16="http://schemas.microsoft.com/office/drawing/2014/main" id="{44AAF986-6022-80ED-F88C-F2113485E7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976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25" name="AutoShape 46">
                  <a:extLst>
                    <a:ext uri="{FF2B5EF4-FFF2-40B4-BE49-F238E27FC236}">
                      <a16:creationId xmlns:a16="http://schemas.microsoft.com/office/drawing/2014/main" id="{FD8E46B2-CA11-C780-B11B-C3E7090585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68" y="254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316" name="Oval 47">
                <a:extLst>
                  <a:ext uri="{FF2B5EF4-FFF2-40B4-BE49-F238E27FC236}">
                    <a16:creationId xmlns:a16="http://schemas.microsoft.com/office/drawing/2014/main" id="{5E5B1AF7-C051-C13D-5373-250217759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3072"/>
                <a:ext cx="948" cy="507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17" name="AutoShape 48">
                <a:extLst>
                  <a:ext uri="{FF2B5EF4-FFF2-40B4-BE49-F238E27FC236}">
                    <a16:creationId xmlns:a16="http://schemas.microsoft.com/office/drawing/2014/main" id="{4846E9F1-DD40-FC83-F35A-0545CBD33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880"/>
                <a:ext cx="192" cy="480"/>
              </a:xfrm>
              <a:prstGeom prst="can">
                <a:avLst>
                  <a:gd name="adj" fmla="val 62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18" name="AutoShape 49">
                <a:extLst>
                  <a:ext uri="{FF2B5EF4-FFF2-40B4-BE49-F238E27FC236}">
                    <a16:creationId xmlns:a16="http://schemas.microsoft.com/office/drawing/2014/main" id="{50F0017B-2AAD-B32E-22D4-541B8AE72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19" name="Oval 50">
                <a:extLst>
                  <a:ext uri="{FF2B5EF4-FFF2-40B4-BE49-F238E27FC236}">
                    <a16:creationId xmlns:a16="http://schemas.microsoft.com/office/drawing/2014/main" id="{1B18766C-DFB3-11B2-562F-404DFD4B7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3168"/>
                <a:ext cx="708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20" name="AutoShape 51">
                <a:extLst>
                  <a:ext uri="{FF2B5EF4-FFF2-40B4-BE49-F238E27FC236}">
                    <a16:creationId xmlns:a16="http://schemas.microsoft.com/office/drawing/2014/main" id="{7963E7D4-00B2-7CEC-8105-94C890627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28"/>
              </a:xfrm>
              <a:prstGeom prst="can">
                <a:avLst>
                  <a:gd name="adj" fmla="val 6875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21" name="AutoShape 52">
                <a:extLst>
                  <a:ext uri="{FF2B5EF4-FFF2-40B4-BE49-F238E27FC236}">
                    <a16:creationId xmlns:a16="http://schemas.microsoft.com/office/drawing/2014/main" id="{823ECE40-B2CF-DACE-3436-6592C8607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31" name="Group 53">
            <a:extLst>
              <a:ext uri="{FF2B5EF4-FFF2-40B4-BE49-F238E27FC236}">
                <a16:creationId xmlns:a16="http://schemas.microsoft.com/office/drawing/2014/main" id="{1989EBF1-843D-0488-5115-C76EAA53D097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6021388"/>
            <a:ext cx="1905000" cy="762000"/>
            <a:chOff x="4368" y="2928"/>
            <a:chExt cx="1200" cy="480"/>
          </a:xfrm>
        </p:grpSpPr>
        <p:sp>
          <p:nvSpPr>
            <p:cNvPr id="9296" name="Rectangle 54">
              <a:extLst>
                <a:ext uri="{FF2B5EF4-FFF2-40B4-BE49-F238E27FC236}">
                  <a16:creationId xmlns:a16="http://schemas.microsoft.com/office/drawing/2014/main" id="{017F0A17-07E8-B1EA-F389-CE6121C24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92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297" name="Group 55">
              <a:extLst>
                <a:ext uri="{FF2B5EF4-FFF2-40B4-BE49-F238E27FC236}">
                  <a16:creationId xmlns:a16="http://schemas.microsoft.com/office/drawing/2014/main" id="{BED0EA00-ACB4-C723-A1A9-9B2B8C8CC8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976"/>
              <a:ext cx="1065" cy="417"/>
              <a:chOff x="912" y="2448"/>
              <a:chExt cx="3552" cy="1392"/>
            </a:xfrm>
          </p:grpSpPr>
          <p:grpSp>
            <p:nvGrpSpPr>
              <p:cNvPr id="9298" name="Group 56">
                <a:extLst>
                  <a:ext uri="{FF2B5EF4-FFF2-40B4-BE49-F238E27FC236}">
                    <a16:creationId xmlns:a16="http://schemas.microsoft.com/office/drawing/2014/main" id="{BCFC512B-1DF8-3BF4-842C-7CF575E721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12" y="2448"/>
                <a:ext cx="948" cy="1392"/>
                <a:chOff x="1008" y="2544"/>
                <a:chExt cx="948" cy="1392"/>
              </a:xfrm>
            </p:grpSpPr>
            <p:sp>
              <p:nvSpPr>
                <p:cNvPr id="9307" name="AutoShape 57">
                  <a:extLst>
                    <a:ext uri="{FF2B5EF4-FFF2-40B4-BE49-F238E27FC236}">
                      <a16:creationId xmlns:a16="http://schemas.microsoft.com/office/drawing/2014/main" id="{F3071B91-8DDB-2076-2CB4-6B16A9280A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336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08" name="Oval 58">
                  <a:extLst>
                    <a:ext uri="{FF2B5EF4-FFF2-40B4-BE49-F238E27FC236}">
                      <a16:creationId xmlns:a16="http://schemas.microsoft.com/office/drawing/2014/main" id="{870D7BD1-92F5-D2D0-5E10-112E968251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3168"/>
                  <a:ext cx="948" cy="50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09" name="AutoShape 59">
                  <a:extLst>
                    <a:ext uri="{FF2B5EF4-FFF2-40B4-BE49-F238E27FC236}">
                      <a16:creationId xmlns:a16="http://schemas.microsoft.com/office/drawing/2014/main" id="{E9903128-D868-DF36-A76E-ED8BEF6DD9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976"/>
                  <a:ext cx="192" cy="480"/>
                </a:xfrm>
                <a:prstGeom prst="can">
                  <a:avLst>
                    <a:gd name="adj" fmla="val 625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310" name="AutoShape 60">
                  <a:extLst>
                    <a:ext uri="{FF2B5EF4-FFF2-40B4-BE49-F238E27FC236}">
                      <a16:creationId xmlns:a16="http://schemas.microsoft.com/office/drawing/2014/main" id="{C564A775-13DC-1C74-687A-DD8BF70D2A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54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299" name="AutoShape 61">
                <a:extLst>
                  <a:ext uri="{FF2B5EF4-FFF2-40B4-BE49-F238E27FC236}">
                    <a16:creationId xmlns:a16="http://schemas.microsoft.com/office/drawing/2014/main" id="{D1368D54-DB78-088A-1627-E198619271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0" name="Oval 62">
                <a:extLst>
                  <a:ext uri="{FF2B5EF4-FFF2-40B4-BE49-F238E27FC236}">
                    <a16:creationId xmlns:a16="http://schemas.microsoft.com/office/drawing/2014/main" id="{F30AE9D2-5701-D91C-5204-C89C13DDD4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3168"/>
                <a:ext cx="708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1" name="AutoShape 63">
                <a:extLst>
                  <a:ext uri="{FF2B5EF4-FFF2-40B4-BE49-F238E27FC236}">
                    <a16:creationId xmlns:a16="http://schemas.microsoft.com/office/drawing/2014/main" id="{6C861B9D-F499-E03D-C262-217CF5DA08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28"/>
              </a:xfrm>
              <a:prstGeom prst="can">
                <a:avLst>
                  <a:gd name="adj" fmla="val 6875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2" name="AutoShape 64">
                <a:extLst>
                  <a:ext uri="{FF2B5EF4-FFF2-40B4-BE49-F238E27FC236}">
                    <a16:creationId xmlns:a16="http://schemas.microsoft.com/office/drawing/2014/main" id="{15C27684-5D00-4872-B2F0-894DE7439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3" name="Oval 65">
                <a:extLst>
                  <a:ext uri="{FF2B5EF4-FFF2-40B4-BE49-F238E27FC236}">
                    <a16:creationId xmlns:a16="http://schemas.microsoft.com/office/drawing/2014/main" id="{78B7C2F0-404F-C963-FB5E-B7CBBB622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0" y="2928"/>
                <a:ext cx="468" cy="326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4" name="AutoShape 66">
                <a:extLst>
                  <a:ext uri="{FF2B5EF4-FFF2-40B4-BE49-F238E27FC236}">
                    <a16:creationId xmlns:a16="http://schemas.microsoft.com/office/drawing/2014/main" id="{55AE13AB-2EF7-49E8-D66B-5389E4CF3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672"/>
              </a:xfrm>
              <a:prstGeom prst="can">
                <a:avLst>
                  <a:gd name="adj" fmla="val 87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5" name="AutoShape 67">
                <a:extLst>
                  <a:ext uri="{FF2B5EF4-FFF2-40B4-BE49-F238E27FC236}">
                    <a16:creationId xmlns:a16="http://schemas.microsoft.com/office/drawing/2014/main" id="{E81C3F35-7E01-C35B-7A33-CB8505E74B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306" name="AutoShape 68">
                <a:extLst>
                  <a:ext uri="{FF2B5EF4-FFF2-40B4-BE49-F238E27FC236}">
                    <a16:creationId xmlns:a16="http://schemas.microsoft.com/office/drawing/2014/main" id="{4C81D593-5492-24D3-C019-753D96050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47" name="Group 69">
            <a:extLst>
              <a:ext uri="{FF2B5EF4-FFF2-40B4-BE49-F238E27FC236}">
                <a16:creationId xmlns:a16="http://schemas.microsoft.com/office/drawing/2014/main" id="{5DD2C30C-AF8C-4C9F-402E-4EE9599BAE2E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6021388"/>
            <a:ext cx="1905000" cy="762000"/>
            <a:chOff x="192" y="3456"/>
            <a:chExt cx="1200" cy="480"/>
          </a:xfrm>
        </p:grpSpPr>
        <p:sp>
          <p:nvSpPr>
            <p:cNvPr id="9280" name="Rectangle 70">
              <a:extLst>
                <a:ext uri="{FF2B5EF4-FFF2-40B4-BE49-F238E27FC236}">
                  <a16:creationId xmlns:a16="http://schemas.microsoft.com/office/drawing/2014/main" id="{6B892F24-F363-290A-C467-D5A3CF0A0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3456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281" name="Group 71">
              <a:extLst>
                <a:ext uri="{FF2B5EF4-FFF2-40B4-BE49-F238E27FC236}">
                  <a16:creationId xmlns:a16="http://schemas.microsoft.com/office/drawing/2014/main" id="{85C1F089-C6AA-0D04-16F8-3BB1918A3C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3504"/>
              <a:ext cx="1063" cy="417"/>
              <a:chOff x="1296" y="2448"/>
              <a:chExt cx="3540" cy="1392"/>
            </a:xfrm>
          </p:grpSpPr>
          <p:grpSp>
            <p:nvGrpSpPr>
              <p:cNvPr id="9282" name="Group 72">
                <a:extLst>
                  <a:ext uri="{FF2B5EF4-FFF2-40B4-BE49-F238E27FC236}">
                    <a16:creationId xmlns:a16="http://schemas.microsoft.com/office/drawing/2014/main" id="{50186568-9912-8003-551E-8E1D3F36F1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448"/>
                <a:ext cx="192" cy="1392"/>
                <a:chOff x="3552" y="2544"/>
                <a:chExt cx="192" cy="1392"/>
              </a:xfrm>
            </p:grpSpPr>
            <p:sp>
              <p:nvSpPr>
                <p:cNvPr id="9293" name="AutoShape 73">
                  <a:extLst>
                    <a:ext uri="{FF2B5EF4-FFF2-40B4-BE49-F238E27FC236}">
                      <a16:creationId xmlns:a16="http://schemas.microsoft.com/office/drawing/2014/main" id="{7115D7D8-B813-4139-9688-B4DF2A734C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336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94" name="AutoShape 74">
                  <a:extLst>
                    <a:ext uri="{FF2B5EF4-FFF2-40B4-BE49-F238E27FC236}">
                      <a16:creationId xmlns:a16="http://schemas.microsoft.com/office/drawing/2014/main" id="{C5BA0C36-FEC0-7764-F83C-3720546079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976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95" name="AutoShape 75">
                  <a:extLst>
                    <a:ext uri="{FF2B5EF4-FFF2-40B4-BE49-F238E27FC236}">
                      <a16:creationId xmlns:a16="http://schemas.microsoft.com/office/drawing/2014/main" id="{2A4047D8-CA70-F517-5AEB-820CAACD3D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254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9283" name="Group 76">
                <a:extLst>
                  <a:ext uri="{FF2B5EF4-FFF2-40B4-BE49-F238E27FC236}">
                    <a16:creationId xmlns:a16="http://schemas.microsoft.com/office/drawing/2014/main" id="{1545E72B-CAB0-F6F5-C9FD-A7C92A3F01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44" y="2448"/>
                <a:ext cx="708" cy="1392"/>
                <a:chOff x="1824" y="2544"/>
                <a:chExt cx="708" cy="1392"/>
              </a:xfrm>
            </p:grpSpPr>
            <p:sp>
              <p:nvSpPr>
                <p:cNvPr id="9288" name="AutoShape 77">
                  <a:extLst>
                    <a:ext uri="{FF2B5EF4-FFF2-40B4-BE49-F238E27FC236}">
                      <a16:creationId xmlns:a16="http://schemas.microsoft.com/office/drawing/2014/main" id="{0D7711BC-1408-5C8F-3A52-95BB430F78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336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89" name="Oval 78">
                  <a:extLst>
                    <a:ext uri="{FF2B5EF4-FFF2-40B4-BE49-F238E27FC236}">
                      <a16:creationId xmlns:a16="http://schemas.microsoft.com/office/drawing/2014/main" id="{13E5E227-F675-6304-6D61-9574E162C3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4" y="3264"/>
                  <a:ext cx="708" cy="43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90" name="AutoShape 79">
                  <a:extLst>
                    <a:ext uri="{FF2B5EF4-FFF2-40B4-BE49-F238E27FC236}">
                      <a16:creationId xmlns:a16="http://schemas.microsoft.com/office/drawing/2014/main" id="{104FBC5E-D22A-F7FA-EB20-429D11E83B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976"/>
                  <a:ext cx="192" cy="528"/>
                </a:xfrm>
                <a:prstGeom prst="can">
                  <a:avLst>
                    <a:gd name="adj" fmla="val 6875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91" name="Oval 80">
                  <a:extLst>
                    <a:ext uri="{FF2B5EF4-FFF2-40B4-BE49-F238E27FC236}">
                      <a16:creationId xmlns:a16="http://schemas.microsoft.com/office/drawing/2014/main" id="{0C0458C1-88F1-552F-50F7-2267CCE684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3024"/>
                  <a:ext cx="468" cy="32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92" name="AutoShape 81">
                  <a:extLst>
                    <a:ext uri="{FF2B5EF4-FFF2-40B4-BE49-F238E27FC236}">
                      <a16:creationId xmlns:a16="http://schemas.microsoft.com/office/drawing/2014/main" id="{932F2A2F-E7F5-F4BB-3A58-1E16EB6CC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544"/>
                  <a:ext cx="192" cy="672"/>
                </a:xfrm>
                <a:prstGeom prst="can">
                  <a:avLst>
                    <a:gd name="adj" fmla="val 875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284" name="AutoShape 82">
                <a:extLst>
                  <a:ext uri="{FF2B5EF4-FFF2-40B4-BE49-F238E27FC236}">
                    <a16:creationId xmlns:a16="http://schemas.microsoft.com/office/drawing/2014/main" id="{DAAFC704-7ABE-DD96-33BC-6273820E0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85" name="Oval 83">
                <a:extLst>
                  <a:ext uri="{FF2B5EF4-FFF2-40B4-BE49-F238E27FC236}">
                    <a16:creationId xmlns:a16="http://schemas.microsoft.com/office/drawing/2014/main" id="{ACCE8AF2-3EDE-95DF-DFC6-838BBD668A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948" cy="507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86" name="AutoShape 84">
                <a:extLst>
                  <a:ext uri="{FF2B5EF4-FFF2-40B4-BE49-F238E27FC236}">
                    <a16:creationId xmlns:a16="http://schemas.microsoft.com/office/drawing/2014/main" id="{4319CDD3-81F1-0A00-93F9-82C6A0C21A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880"/>
                <a:ext cx="192" cy="480"/>
              </a:xfrm>
              <a:prstGeom prst="can">
                <a:avLst>
                  <a:gd name="adj" fmla="val 62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87" name="AutoShape 85">
                <a:extLst>
                  <a:ext uri="{FF2B5EF4-FFF2-40B4-BE49-F238E27FC236}">
                    <a16:creationId xmlns:a16="http://schemas.microsoft.com/office/drawing/2014/main" id="{CFE62649-2713-04FE-EC17-BF9D1F9C9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64" name="Group 86">
            <a:extLst>
              <a:ext uri="{FF2B5EF4-FFF2-40B4-BE49-F238E27FC236}">
                <a16:creationId xmlns:a16="http://schemas.microsoft.com/office/drawing/2014/main" id="{0E23461C-B5C7-2419-F039-037ED6681D0B}"/>
              </a:ext>
            </a:extLst>
          </p:cNvPr>
          <p:cNvGrpSpPr>
            <a:grpSpLocks/>
          </p:cNvGrpSpPr>
          <p:nvPr/>
        </p:nvGrpSpPr>
        <p:grpSpPr bwMode="auto">
          <a:xfrm>
            <a:off x="3365500" y="6021388"/>
            <a:ext cx="1905000" cy="762000"/>
            <a:chOff x="1632" y="3408"/>
            <a:chExt cx="1200" cy="480"/>
          </a:xfrm>
        </p:grpSpPr>
        <p:sp>
          <p:nvSpPr>
            <p:cNvPr id="9266" name="Rectangle 87">
              <a:extLst>
                <a:ext uri="{FF2B5EF4-FFF2-40B4-BE49-F238E27FC236}">
                  <a16:creationId xmlns:a16="http://schemas.microsoft.com/office/drawing/2014/main" id="{E68AD0EC-9A91-E990-4A90-BDDD58683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340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267" name="Group 88">
              <a:extLst>
                <a:ext uri="{FF2B5EF4-FFF2-40B4-BE49-F238E27FC236}">
                  <a16:creationId xmlns:a16="http://schemas.microsoft.com/office/drawing/2014/main" id="{F4AEF6C8-9481-6BAA-E18E-F95ACCCCFB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3456"/>
              <a:ext cx="1106" cy="417"/>
              <a:chOff x="1152" y="2448"/>
              <a:chExt cx="3684" cy="1392"/>
            </a:xfrm>
          </p:grpSpPr>
          <p:sp>
            <p:nvSpPr>
              <p:cNvPr id="9268" name="AutoShape 89">
                <a:extLst>
                  <a:ext uri="{FF2B5EF4-FFF2-40B4-BE49-F238E27FC236}">
                    <a16:creationId xmlns:a16="http://schemas.microsoft.com/office/drawing/2014/main" id="{68C8A9DB-A535-5BF8-A0BA-D8E0668DF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69" name="AutoShape 90">
                <a:extLst>
                  <a:ext uri="{FF2B5EF4-FFF2-40B4-BE49-F238E27FC236}">
                    <a16:creationId xmlns:a16="http://schemas.microsoft.com/office/drawing/2014/main" id="{2C0AD4BD-E953-3C01-F235-DBC66D6F6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0" name="Oval 91">
                <a:extLst>
                  <a:ext uri="{FF2B5EF4-FFF2-40B4-BE49-F238E27FC236}">
                    <a16:creationId xmlns:a16="http://schemas.microsoft.com/office/drawing/2014/main" id="{F4FFAD13-24A2-DF00-D62B-AA900AAA5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3168"/>
                <a:ext cx="708" cy="432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1" name="AutoShape 92">
                <a:extLst>
                  <a:ext uri="{FF2B5EF4-FFF2-40B4-BE49-F238E27FC236}">
                    <a16:creationId xmlns:a16="http://schemas.microsoft.com/office/drawing/2014/main" id="{37287CB0-AC80-EBEF-222E-F6D80ED6C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28"/>
              </a:xfrm>
              <a:prstGeom prst="can">
                <a:avLst>
                  <a:gd name="adj" fmla="val 6875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2" name="Oval 93">
                <a:extLst>
                  <a:ext uri="{FF2B5EF4-FFF2-40B4-BE49-F238E27FC236}">
                    <a16:creationId xmlns:a16="http://schemas.microsoft.com/office/drawing/2014/main" id="{2FAA0952-43FE-4C3F-A02C-05E2ED5CA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264"/>
                <a:ext cx="468" cy="326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3" name="AutoShape 94">
                <a:extLst>
                  <a:ext uri="{FF2B5EF4-FFF2-40B4-BE49-F238E27FC236}">
                    <a16:creationId xmlns:a16="http://schemas.microsoft.com/office/drawing/2014/main" id="{17E9BCA5-BA7C-823C-C5DE-83250F8727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672"/>
              </a:xfrm>
              <a:prstGeom prst="can">
                <a:avLst>
                  <a:gd name="adj" fmla="val 87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4" name="AutoShape 95">
                <a:extLst>
                  <a:ext uri="{FF2B5EF4-FFF2-40B4-BE49-F238E27FC236}">
                    <a16:creationId xmlns:a16="http://schemas.microsoft.com/office/drawing/2014/main" id="{34D34D31-5703-BE96-3A47-0BB7C058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5" name="Oval 96">
                <a:extLst>
                  <a:ext uri="{FF2B5EF4-FFF2-40B4-BE49-F238E27FC236}">
                    <a16:creationId xmlns:a16="http://schemas.microsoft.com/office/drawing/2014/main" id="{FEF364F5-792F-E0F1-36EB-F244359FB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3072"/>
                <a:ext cx="948" cy="507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6" name="AutoShape 97">
                <a:extLst>
                  <a:ext uri="{FF2B5EF4-FFF2-40B4-BE49-F238E27FC236}">
                    <a16:creationId xmlns:a16="http://schemas.microsoft.com/office/drawing/2014/main" id="{B232B46F-98C7-4C07-A5D7-ABBB14A9D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880"/>
                <a:ext cx="192" cy="480"/>
              </a:xfrm>
              <a:prstGeom prst="can">
                <a:avLst>
                  <a:gd name="adj" fmla="val 62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7" name="AutoShape 98">
                <a:extLst>
                  <a:ext uri="{FF2B5EF4-FFF2-40B4-BE49-F238E27FC236}">
                    <a16:creationId xmlns:a16="http://schemas.microsoft.com/office/drawing/2014/main" id="{25105E00-0F31-D917-1388-799135433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8" name="AutoShape 99">
                <a:extLst>
                  <a:ext uri="{FF2B5EF4-FFF2-40B4-BE49-F238E27FC236}">
                    <a16:creationId xmlns:a16="http://schemas.microsoft.com/office/drawing/2014/main" id="{E4763C97-3BCC-AE2B-41E6-862EFC28B6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79" name="AutoShape 100">
                <a:extLst>
                  <a:ext uri="{FF2B5EF4-FFF2-40B4-BE49-F238E27FC236}">
                    <a16:creationId xmlns:a16="http://schemas.microsoft.com/office/drawing/2014/main" id="{32FC995E-E060-DC5D-1A78-5ACD8BAA15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79" name="Group 101">
            <a:extLst>
              <a:ext uri="{FF2B5EF4-FFF2-40B4-BE49-F238E27FC236}">
                <a16:creationId xmlns:a16="http://schemas.microsoft.com/office/drawing/2014/main" id="{28752F0A-1040-6C40-53AE-D176BFA0379F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6021388"/>
            <a:ext cx="1905000" cy="762000"/>
            <a:chOff x="3024" y="3408"/>
            <a:chExt cx="1200" cy="480"/>
          </a:xfrm>
        </p:grpSpPr>
        <p:sp>
          <p:nvSpPr>
            <p:cNvPr id="9251" name="Rectangle 102">
              <a:extLst>
                <a:ext uri="{FF2B5EF4-FFF2-40B4-BE49-F238E27FC236}">
                  <a16:creationId xmlns:a16="http://schemas.microsoft.com/office/drawing/2014/main" id="{3488CB39-691D-60FC-4DA5-5B5DE7146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340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252" name="Group 103">
              <a:extLst>
                <a:ext uri="{FF2B5EF4-FFF2-40B4-BE49-F238E27FC236}">
                  <a16:creationId xmlns:a16="http://schemas.microsoft.com/office/drawing/2014/main" id="{BFBC42DD-D489-9D66-7A62-07D4204932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2" y="3456"/>
              <a:ext cx="1106" cy="417"/>
              <a:chOff x="1152" y="2448"/>
              <a:chExt cx="3684" cy="1392"/>
            </a:xfrm>
          </p:grpSpPr>
          <p:grpSp>
            <p:nvGrpSpPr>
              <p:cNvPr id="9253" name="Group 104">
                <a:extLst>
                  <a:ext uri="{FF2B5EF4-FFF2-40B4-BE49-F238E27FC236}">
                    <a16:creationId xmlns:a16="http://schemas.microsoft.com/office/drawing/2014/main" id="{7430CC72-1F73-326B-BEAF-883D5FF24D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2448"/>
                <a:ext cx="948" cy="1392"/>
                <a:chOff x="912" y="2448"/>
                <a:chExt cx="948" cy="1392"/>
              </a:xfrm>
            </p:grpSpPr>
            <p:sp>
              <p:nvSpPr>
                <p:cNvPr id="9261" name="AutoShape 105">
                  <a:extLst>
                    <a:ext uri="{FF2B5EF4-FFF2-40B4-BE49-F238E27FC236}">
                      <a16:creationId xmlns:a16="http://schemas.microsoft.com/office/drawing/2014/main" id="{94E1A423-D42D-12D0-D247-F11634720C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326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62" name="Oval 106">
                  <a:extLst>
                    <a:ext uri="{FF2B5EF4-FFF2-40B4-BE49-F238E27FC236}">
                      <a16:creationId xmlns:a16="http://schemas.microsoft.com/office/drawing/2014/main" id="{E0D3F3E5-8FC3-8707-1EAF-81DB3696F7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072"/>
                  <a:ext cx="948" cy="50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63" name="AutoShape 107">
                  <a:extLst>
                    <a:ext uri="{FF2B5EF4-FFF2-40B4-BE49-F238E27FC236}">
                      <a16:creationId xmlns:a16="http://schemas.microsoft.com/office/drawing/2014/main" id="{E202A6C7-D693-A214-CB6A-6C1471A140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78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64" name="Oval 108">
                  <a:extLst>
                    <a:ext uri="{FF2B5EF4-FFF2-40B4-BE49-F238E27FC236}">
                      <a16:creationId xmlns:a16="http://schemas.microsoft.com/office/drawing/2014/main" id="{7B41821A-39F7-3CE9-260B-6C2CFA57DE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784"/>
                  <a:ext cx="708" cy="43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65" name="AutoShape 109">
                  <a:extLst>
                    <a:ext uri="{FF2B5EF4-FFF2-40B4-BE49-F238E27FC236}">
                      <a16:creationId xmlns:a16="http://schemas.microsoft.com/office/drawing/2014/main" id="{7668E2AD-CB55-BDE7-7ECE-64EB8962CF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254" name="AutoShape 110">
                <a:extLst>
                  <a:ext uri="{FF2B5EF4-FFF2-40B4-BE49-F238E27FC236}">
                    <a16:creationId xmlns:a16="http://schemas.microsoft.com/office/drawing/2014/main" id="{CA9C2958-F606-ADFA-7DF8-6AB141DE6B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55" name="AutoShape 111">
                <a:extLst>
                  <a:ext uri="{FF2B5EF4-FFF2-40B4-BE49-F238E27FC236}">
                    <a16:creationId xmlns:a16="http://schemas.microsoft.com/office/drawing/2014/main" id="{6B9BCF0D-D8DA-B410-B7B7-4DB3F4FEC6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56" name="AutoShape 112">
                <a:extLst>
                  <a:ext uri="{FF2B5EF4-FFF2-40B4-BE49-F238E27FC236}">
                    <a16:creationId xmlns:a16="http://schemas.microsoft.com/office/drawing/2014/main" id="{82584455-F64E-AE8D-3C61-EEB871498A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28"/>
              </a:xfrm>
              <a:prstGeom prst="can">
                <a:avLst>
                  <a:gd name="adj" fmla="val 6875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57" name="Oval 113">
                <a:extLst>
                  <a:ext uri="{FF2B5EF4-FFF2-40B4-BE49-F238E27FC236}">
                    <a16:creationId xmlns:a16="http://schemas.microsoft.com/office/drawing/2014/main" id="{51010A7D-5C5B-762D-D9CE-EB46E3721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3264"/>
                <a:ext cx="468" cy="326"/>
              </a:xfrm>
              <a:prstGeom prst="ellipse">
                <a:avLst/>
              </a:prstGeom>
              <a:solidFill>
                <a:schemeClr val="accent1"/>
              </a:solidFill>
              <a:ln w="9525">
                <a:round/>
                <a:headEnd/>
                <a:tailEnd/>
              </a:ln>
              <a:effectLst/>
              <a:scene3d>
                <a:camera prst="legacyPerspectiveBottom"/>
                <a:lightRig rig="legacyNormal1" dir="t"/>
              </a:scene3d>
              <a:sp3d extrusionH="887400" prstMaterial="legacyMatte">
                <a:bevelT w="13500" h="13500" prst="angle"/>
                <a:bevelB w="13500" h="13500" prst="angle"/>
                <a:extrusionClr>
                  <a:schemeClr val="accent1"/>
                </a:extrusionClr>
                <a:contourClr>
                  <a:schemeClr val="accent1"/>
                </a:contourClr>
              </a:sp3d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flatTx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58" name="AutoShape 114">
                <a:extLst>
                  <a:ext uri="{FF2B5EF4-FFF2-40B4-BE49-F238E27FC236}">
                    <a16:creationId xmlns:a16="http://schemas.microsoft.com/office/drawing/2014/main" id="{75321F1F-BBA1-05DF-02F2-B73EF4344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672"/>
              </a:xfrm>
              <a:prstGeom prst="can">
                <a:avLst>
                  <a:gd name="adj" fmla="val 87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59" name="AutoShape 115">
                <a:extLst>
                  <a:ext uri="{FF2B5EF4-FFF2-40B4-BE49-F238E27FC236}">
                    <a16:creationId xmlns:a16="http://schemas.microsoft.com/office/drawing/2014/main" id="{92D2ABD5-9CD9-E0B4-C5AA-B6FDF5B312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60" name="AutoShape 116">
                <a:extLst>
                  <a:ext uri="{FF2B5EF4-FFF2-40B4-BE49-F238E27FC236}">
                    <a16:creationId xmlns:a16="http://schemas.microsoft.com/office/drawing/2014/main" id="{BF0374A4-FB39-A5E4-1CC5-821EBAB18D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295" name="Group 117">
            <a:extLst>
              <a:ext uri="{FF2B5EF4-FFF2-40B4-BE49-F238E27FC236}">
                <a16:creationId xmlns:a16="http://schemas.microsoft.com/office/drawing/2014/main" id="{ED7DBBFF-C31F-01B0-CA40-724F5CDC1337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6021388"/>
            <a:ext cx="1905000" cy="762000"/>
            <a:chOff x="4416" y="3408"/>
            <a:chExt cx="1200" cy="480"/>
          </a:xfrm>
        </p:grpSpPr>
        <p:sp>
          <p:nvSpPr>
            <p:cNvPr id="9234" name="Rectangle 118">
              <a:extLst>
                <a:ext uri="{FF2B5EF4-FFF2-40B4-BE49-F238E27FC236}">
                  <a16:creationId xmlns:a16="http://schemas.microsoft.com/office/drawing/2014/main" id="{D62D5CE3-387E-43A6-30BE-4735EC76E8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3408"/>
              <a:ext cx="1200" cy="480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pt-BR" altLang="pt-BR" sz="2400">
                <a:latin typeface="Arial" panose="020B0604020202020204" pitchFamily="34" charset="0"/>
              </a:endParaRPr>
            </a:p>
          </p:txBody>
        </p:sp>
        <p:grpSp>
          <p:nvGrpSpPr>
            <p:cNvPr id="9235" name="Group 119">
              <a:extLst>
                <a:ext uri="{FF2B5EF4-FFF2-40B4-BE49-F238E27FC236}">
                  <a16:creationId xmlns:a16="http://schemas.microsoft.com/office/drawing/2014/main" id="{9E04211C-6A34-B353-CD91-BFE96A9DE8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12" y="3456"/>
              <a:ext cx="1063" cy="417"/>
              <a:chOff x="1296" y="2448"/>
              <a:chExt cx="3540" cy="1392"/>
            </a:xfrm>
          </p:grpSpPr>
          <p:grpSp>
            <p:nvGrpSpPr>
              <p:cNvPr id="9236" name="Group 120">
                <a:extLst>
                  <a:ext uri="{FF2B5EF4-FFF2-40B4-BE49-F238E27FC236}">
                    <a16:creationId xmlns:a16="http://schemas.microsoft.com/office/drawing/2014/main" id="{AF69F794-C0D1-9FD3-4762-E89E771AD2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2448"/>
                <a:ext cx="948" cy="1392"/>
                <a:chOff x="912" y="2448"/>
                <a:chExt cx="948" cy="1392"/>
              </a:xfrm>
            </p:grpSpPr>
            <p:sp>
              <p:nvSpPr>
                <p:cNvPr id="9243" name="AutoShape 121">
                  <a:extLst>
                    <a:ext uri="{FF2B5EF4-FFF2-40B4-BE49-F238E27FC236}">
                      <a16:creationId xmlns:a16="http://schemas.microsoft.com/office/drawing/2014/main" id="{4D060908-9E7C-DD57-A4EB-45059B8222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326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44" name="AutoShape 122">
                  <a:extLst>
                    <a:ext uri="{FF2B5EF4-FFF2-40B4-BE49-F238E27FC236}">
                      <a16:creationId xmlns:a16="http://schemas.microsoft.com/office/drawing/2014/main" id="{077FC3BF-B301-7444-345B-5EEF9177E7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880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45" name="Oval 123">
                  <a:extLst>
                    <a:ext uri="{FF2B5EF4-FFF2-40B4-BE49-F238E27FC236}">
                      <a16:creationId xmlns:a16="http://schemas.microsoft.com/office/drawing/2014/main" id="{A84CE50E-A18B-E63C-9128-62D626425E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072"/>
                  <a:ext cx="948" cy="507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46" name="AutoShape 124">
                  <a:extLst>
                    <a:ext uri="{FF2B5EF4-FFF2-40B4-BE49-F238E27FC236}">
                      <a16:creationId xmlns:a16="http://schemas.microsoft.com/office/drawing/2014/main" id="{D2E4F323-1BF6-9AD5-F879-43280B3EFF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784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47" name="Oval 125">
                  <a:extLst>
                    <a:ext uri="{FF2B5EF4-FFF2-40B4-BE49-F238E27FC236}">
                      <a16:creationId xmlns:a16="http://schemas.microsoft.com/office/drawing/2014/main" id="{A8589BA8-15AE-36A3-140E-BBF398D74F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6" y="2784"/>
                  <a:ext cx="708" cy="432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48" name="AutoShape 126">
                  <a:extLst>
                    <a:ext uri="{FF2B5EF4-FFF2-40B4-BE49-F238E27FC236}">
                      <a16:creationId xmlns:a16="http://schemas.microsoft.com/office/drawing/2014/main" id="{19F41C66-BCD5-27B2-7243-2090411064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576"/>
                </a:xfrm>
                <a:prstGeom prst="can">
                  <a:avLst>
                    <a:gd name="adj" fmla="val 75000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49" name="Oval 127">
                  <a:extLst>
                    <a:ext uri="{FF2B5EF4-FFF2-40B4-BE49-F238E27FC236}">
                      <a16:creationId xmlns:a16="http://schemas.microsoft.com/office/drawing/2014/main" id="{440ADFCA-0ADD-73E8-1567-895E81C708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52" y="2544"/>
                  <a:ext cx="468" cy="32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round/>
                  <a:headEnd/>
                  <a:tailEnd/>
                </a:ln>
                <a:effectLst/>
                <a:scene3d>
                  <a:camera prst="legacyPerspectiveBottom"/>
                  <a:lightRig rig="legacyNormal1" dir="t"/>
                </a:scene3d>
                <a:sp3d extrusionH="887400" prstMaterial="legacyMatte">
                  <a:bevelT w="13500" h="13500" prst="angle"/>
                  <a:bevelB w="13500" h="13500" prst="angle"/>
                  <a:extrusionClr>
                    <a:schemeClr val="accent1"/>
                  </a:extrusionClr>
                  <a:contourClr>
                    <a:schemeClr val="accent1"/>
                  </a:contourClr>
                </a:sp3d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flatTx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250" name="AutoShape 128">
                  <a:extLst>
                    <a:ext uri="{FF2B5EF4-FFF2-40B4-BE49-F238E27FC236}">
                      <a16:creationId xmlns:a16="http://schemas.microsoft.com/office/drawing/2014/main" id="{35424A60-4B33-B6F7-90ED-31BA25F4BA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" y="2448"/>
                  <a:ext cx="192" cy="336"/>
                </a:xfrm>
                <a:prstGeom prst="can">
                  <a:avLst>
                    <a:gd name="adj" fmla="val 74999"/>
                  </a:avLst>
                </a:prstGeom>
                <a:solidFill>
                  <a:schemeClr val="tx2"/>
                </a:solidFill>
                <a:ln w="12700">
                  <a:solidFill>
                    <a:schemeClr val="tx2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pt-BR" altLang="pt-BR" sz="24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9237" name="AutoShape 129">
                <a:extLst>
                  <a:ext uri="{FF2B5EF4-FFF2-40B4-BE49-F238E27FC236}">
                    <a16:creationId xmlns:a16="http://schemas.microsoft.com/office/drawing/2014/main" id="{9D2B432B-D386-56E5-0D89-2998AE828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38" name="AutoShape 130">
                <a:extLst>
                  <a:ext uri="{FF2B5EF4-FFF2-40B4-BE49-F238E27FC236}">
                    <a16:creationId xmlns:a16="http://schemas.microsoft.com/office/drawing/2014/main" id="{AD083627-7898-AE03-8774-76DE754264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39" name="AutoShape 131">
                <a:extLst>
                  <a:ext uri="{FF2B5EF4-FFF2-40B4-BE49-F238E27FC236}">
                    <a16:creationId xmlns:a16="http://schemas.microsoft.com/office/drawing/2014/main" id="{3CFB5AA0-931F-CEF1-87BE-BAFBF8887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880"/>
                <a:ext cx="192" cy="528"/>
              </a:xfrm>
              <a:prstGeom prst="can">
                <a:avLst>
                  <a:gd name="adj" fmla="val 6875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40" name="AutoShape 132">
                <a:extLst>
                  <a:ext uri="{FF2B5EF4-FFF2-40B4-BE49-F238E27FC236}">
                    <a16:creationId xmlns:a16="http://schemas.microsoft.com/office/drawing/2014/main" id="{0ECA4935-12F5-925E-D8A5-0E5543AEBC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448"/>
                <a:ext cx="192" cy="672"/>
              </a:xfrm>
              <a:prstGeom prst="can">
                <a:avLst>
                  <a:gd name="adj" fmla="val 875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41" name="AutoShape 133">
                <a:extLst>
                  <a:ext uri="{FF2B5EF4-FFF2-40B4-BE49-F238E27FC236}">
                    <a16:creationId xmlns:a16="http://schemas.microsoft.com/office/drawing/2014/main" id="{0092ECFF-34FF-AFB2-311E-10476C89B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880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9242" name="AutoShape 134">
                <a:extLst>
                  <a:ext uri="{FF2B5EF4-FFF2-40B4-BE49-F238E27FC236}">
                    <a16:creationId xmlns:a16="http://schemas.microsoft.com/office/drawing/2014/main" id="{54D87283-0FF2-9663-9557-B885B7B059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48"/>
                <a:ext cx="192" cy="576"/>
              </a:xfrm>
              <a:prstGeom prst="can">
                <a:avLst>
                  <a:gd name="adj" fmla="val 75000"/>
                </a:avLst>
              </a:prstGeom>
              <a:solidFill>
                <a:schemeClr val="tx2"/>
              </a:solidFill>
              <a:ln w="12700">
                <a:solidFill>
                  <a:schemeClr val="tx2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pt-BR" altLang="pt-BR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13" name="Rectangle 135">
            <a:extLst>
              <a:ext uri="{FF2B5EF4-FFF2-40B4-BE49-F238E27FC236}">
                <a16:creationId xmlns:a16="http://schemas.microsoft.com/office/drawing/2014/main" id="{981B905A-8E50-484D-46C3-857B7BFA7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963863"/>
            <a:ext cx="73152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Passo 2: mova disco médio para segundo eixo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4" name="Rectangle 136">
            <a:extLst>
              <a:ext uri="{FF2B5EF4-FFF2-40B4-BE49-F238E27FC236}">
                <a16:creationId xmlns:a16="http://schemas.microsoft.com/office/drawing/2014/main" id="{B12BAD93-2526-68EA-6948-0C5AE280D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3548063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Passo 3: mova disco menor para segundo eixo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5" name="Rectangle 137">
            <a:extLst>
              <a:ext uri="{FF2B5EF4-FFF2-40B4-BE49-F238E27FC236}">
                <a16:creationId xmlns:a16="http://schemas.microsoft.com/office/drawing/2014/main" id="{687A8808-490C-5E41-7FFB-B20C44B70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4124325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Passo 4: mova disco maior para terceiro eixo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6" name="Rectangle 138">
            <a:extLst>
              <a:ext uri="{FF2B5EF4-FFF2-40B4-BE49-F238E27FC236}">
                <a16:creationId xmlns:a16="http://schemas.microsoft.com/office/drawing/2014/main" id="{F789C372-C464-490B-01A7-4D978087F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4627563"/>
            <a:ext cx="7315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Passo 5: mova disco menor para primeiro </a:t>
            </a:r>
            <a:r>
              <a:rPr lang="pt-BR" altLang="pt-BR" sz="2400" b="1">
                <a:latin typeface="Courier New" panose="02070309020205020404" pitchFamily="49" charset="0"/>
              </a:rPr>
              <a:t>eixo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>
              <a:latin typeface="Times New Roman" panose="02020603050405020304" pitchFamily="18" charset="0"/>
            </a:endParaRPr>
          </a:p>
        </p:txBody>
      </p:sp>
      <p:sp>
        <p:nvSpPr>
          <p:cNvPr id="317" name="Rectangle 139">
            <a:extLst>
              <a:ext uri="{FF2B5EF4-FFF2-40B4-BE49-F238E27FC236}">
                <a16:creationId xmlns:a16="http://schemas.microsoft.com/office/drawing/2014/main" id="{C2AC84E1-BA8E-76C1-304F-4D4299A90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5059363"/>
            <a:ext cx="836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 dirty="0">
                <a:latin typeface="Courier New" panose="02070309020205020404" pitchFamily="49" charset="0"/>
              </a:rPr>
              <a:t>Passo 6: mova disco médio para terceiro eixo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 dirty="0">
              <a:latin typeface="Times New Roman" panose="02020603050405020304" pitchFamily="18" charset="0"/>
            </a:endParaRPr>
          </a:p>
        </p:txBody>
      </p:sp>
      <p:sp>
        <p:nvSpPr>
          <p:cNvPr id="318" name="Rectangle 140">
            <a:extLst>
              <a:ext uri="{FF2B5EF4-FFF2-40B4-BE49-F238E27FC236}">
                <a16:creationId xmlns:a16="http://schemas.microsoft.com/office/drawing/2014/main" id="{74748CF7-E55B-1246-1FDF-A5E7AD42C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700" y="5495925"/>
            <a:ext cx="7315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8191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Passo 7: mova disco menor para terceiro eixo</a:t>
            </a:r>
            <a:endParaRPr lang="pt-BR" altLang="pt-BR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" grpId="0" build="p" autoUpdateAnimBg="0"/>
      <p:bldP spid="314" grpId="0" build="p" autoUpdateAnimBg="0"/>
      <p:bldP spid="315" grpId="0" build="p" autoUpdateAnimBg="0"/>
      <p:bldP spid="316" grpId="0" build="p" autoUpdateAnimBg="0"/>
      <p:bldP spid="317" grpId="0" build="p" autoUpdateAnimBg="0"/>
      <p:bldP spid="31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028">
            <a:extLst>
              <a:ext uri="{FF2B5EF4-FFF2-40B4-BE49-F238E27FC236}">
                <a16:creationId xmlns:a16="http://schemas.microsoft.com/office/drawing/2014/main" id="{169509EB-C2AB-C2EF-6848-E0A35A4257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Lógica - Problemas</a:t>
            </a:r>
          </a:p>
        </p:txBody>
      </p:sp>
      <p:sp>
        <p:nvSpPr>
          <p:cNvPr id="10243" name="Rectangle 25">
            <a:extLst>
              <a:ext uri="{FF2B5EF4-FFF2-40B4-BE49-F238E27FC236}">
                <a16:creationId xmlns:a16="http://schemas.microsoft.com/office/drawing/2014/main" id="{44C53710-D3C4-BF54-0E44-638531125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Uma lesma deve subir um poste de 10m de altura. De dia sobe 2m e à noite desce 1m. Em quantos dias atingirá o topo do poste?</a:t>
            </a:r>
          </a:p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Três gatos comem três ratos em três minutos. Cem gatos comem cem ratos em quantos minutos?</a:t>
            </a:r>
          </a:p>
        </p:txBody>
      </p:sp>
      <p:sp>
        <p:nvSpPr>
          <p:cNvPr id="10244" name="Espaço Reservado para Número de Slide 1">
            <a:extLst>
              <a:ext uri="{FF2B5EF4-FFF2-40B4-BE49-F238E27FC236}">
                <a16:creationId xmlns:a16="http://schemas.microsoft.com/office/drawing/2014/main" id="{F0D02485-41C8-5C2F-5D78-98B2E4367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BF591E-7033-455E-88CB-9E6345D2F45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1028">
            <a:extLst>
              <a:ext uri="{FF2B5EF4-FFF2-40B4-BE49-F238E27FC236}">
                <a16:creationId xmlns:a16="http://schemas.microsoft.com/office/drawing/2014/main" id="{5DF7622E-E1D4-805E-B01A-A310630CC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Lógica - Problemas</a:t>
            </a:r>
          </a:p>
        </p:txBody>
      </p:sp>
      <p:sp>
        <p:nvSpPr>
          <p:cNvPr id="11267" name="Rectangle 25">
            <a:extLst>
              <a:ext uri="{FF2B5EF4-FFF2-40B4-BE49-F238E27FC236}">
                <a16:creationId xmlns:a16="http://schemas.microsoft.com/office/drawing/2014/main" id="{8BB36BE1-5D48-4E64-D752-31ACE014F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Qual o próximo número da seqüência 7,8,10,13,17,?</a:t>
            </a:r>
          </a:p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200" b="1">
                <a:latin typeface="Arial" panose="020B0604020202020204" pitchFamily="34" charset="0"/>
                <a:cs typeface="Arial" panose="020B0604020202020204" pitchFamily="34" charset="0"/>
              </a:rPr>
              <a:t>Um pai de 80kg e suas 2 filhas (40kg cada), precisam sair de uma ilha com um barco. Porém a capacidade do barco é de 80kg. Como farão para sair da ilha?</a:t>
            </a:r>
          </a:p>
          <a:p>
            <a:pPr marL="0" lvl="1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8" name="Espaço Reservado para Número de Slide 1">
            <a:extLst>
              <a:ext uri="{FF2B5EF4-FFF2-40B4-BE49-F238E27FC236}">
                <a16:creationId xmlns:a16="http://schemas.microsoft.com/office/drawing/2014/main" id="{6A7C3FBF-F8F6-9D04-69CE-F2431C388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F93D5A3-43F4-4A81-8CF8-12EF16182A4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028">
            <a:extLst>
              <a:ext uri="{FF2B5EF4-FFF2-40B4-BE49-F238E27FC236}">
                <a16:creationId xmlns:a16="http://schemas.microsoft.com/office/drawing/2014/main" id="{F595F550-A7E9-E50B-038C-049B02D74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Sequencia Lógica</a:t>
            </a:r>
          </a:p>
        </p:txBody>
      </p:sp>
      <p:sp>
        <p:nvSpPr>
          <p:cNvPr id="12291" name="Rectangle 25">
            <a:extLst>
              <a:ext uri="{FF2B5EF4-FFF2-40B4-BE49-F238E27FC236}">
                <a16:creationId xmlns:a16="http://schemas.microsoft.com/office/drawing/2014/main" id="{D56B51E9-93ED-B315-CED2-D1FEBF0FA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As resoluções dos problemas podem ser descritos como uma sequência de instruções, que devem ser seguidas para cumprir determinadas tarefas.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Sequência Lógica são passos executados até atingir um objetivo ou solução de um problema. </a:t>
            </a:r>
          </a:p>
        </p:txBody>
      </p:sp>
      <p:sp>
        <p:nvSpPr>
          <p:cNvPr id="12292" name="Espaço Reservado para Número de Slide 1">
            <a:extLst>
              <a:ext uri="{FF2B5EF4-FFF2-40B4-BE49-F238E27FC236}">
                <a16:creationId xmlns:a16="http://schemas.microsoft.com/office/drawing/2014/main" id="{90705628-C7BE-B6FA-2676-9F156F11F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B42CABF-D46D-436E-97EB-9926D674B0A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1028">
            <a:extLst>
              <a:ext uri="{FF2B5EF4-FFF2-40B4-BE49-F238E27FC236}">
                <a16:creationId xmlns:a16="http://schemas.microsoft.com/office/drawing/2014/main" id="{974B32BB-058A-E3C2-CF57-1DA16D6DB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13315" name="Rectangle 25">
            <a:extLst>
              <a:ext uri="{FF2B5EF4-FFF2-40B4-BE49-F238E27FC236}">
                <a16:creationId xmlns:a16="http://schemas.microsoft.com/office/drawing/2014/main" id="{3AB3F63E-F026-FD8A-2114-A932256D3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INSTRUÇÃO</a:t>
            </a:r>
          </a:p>
        </p:txBody>
      </p:sp>
      <p:sp>
        <p:nvSpPr>
          <p:cNvPr id="13316" name="Espaço Reservado para Número de Slide 1">
            <a:extLst>
              <a:ext uri="{FF2B5EF4-FFF2-40B4-BE49-F238E27FC236}">
                <a16:creationId xmlns:a16="http://schemas.microsoft.com/office/drawing/2014/main" id="{8BBE5130-519A-7E81-BE3F-5738AB789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B91FE0-E902-4B5D-A9A2-E729834ECC3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028">
            <a:extLst>
              <a:ext uri="{FF2B5EF4-FFF2-40B4-BE49-F238E27FC236}">
                <a16:creationId xmlns:a16="http://schemas.microsoft.com/office/drawing/2014/main" id="{7409A265-1B52-1C34-7795-F04F46B97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Instrução</a:t>
            </a:r>
          </a:p>
        </p:txBody>
      </p:sp>
      <p:sp>
        <p:nvSpPr>
          <p:cNvPr id="14339" name="Rectangle 25">
            <a:extLst>
              <a:ext uri="{FF2B5EF4-FFF2-40B4-BE49-F238E27FC236}">
                <a16:creationId xmlns:a16="http://schemas.microsoft.com/office/drawing/2014/main" id="{441EF50F-089A-7C2A-C400-84DA65E49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Em computação, a instrução é a informação que indica a um computador uma ação elementar a ser executada.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Uma instrução isolada não permite realizar o processo completo, para isso é necessário um conjunto de instruções numa sequencia lógica. </a:t>
            </a:r>
          </a:p>
        </p:txBody>
      </p:sp>
      <p:sp>
        <p:nvSpPr>
          <p:cNvPr id="14340" name="Espaço Reservado para Número de Slide 1">
            <a:extLst>
              <a:ext uri="{FF2B5EF4-FFF2-40B4-BE49-F238E27FC236}">
                <a16:creationId xmlns:a16="http://schemas.microsoft.com/office/drawing/2014/main" id="{A4361CAB-CAFC-69D5-EE6E-934453B72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AC2E0B-8D5C-4DD4-AE4D-70A2DB92FAA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1028">
            <a:extLst>
              <a:ext uri="{FF2B5EF4-FFF2-40B4-BE49-F238E27FC236}">
                <a16:creationId xmlns:a16="http://schemas.microsoft.com/office/drawing/2014/main" id="{F1577D0F-ADC2-00F5-7BD2-49C6DDA3A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15363" name="Rectangle 25">
            <a:extLst>
              <a:ext uri="{FF2B5EF4-FFF2-40B4-BE49-F238E27FC236}">
                <a16:creationId xmlns:a16="http://schemas.microsoft.com/office/drawing/2014/main" id="{E2963533-EE9A-EF5B-B33E-5AD0022E1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ALGORÍTMO</a:t>
            </a:r>
          </a:p>
        </p:txBody>
      </p:sp>
      <p:sp>
        <p:nvSpPr>
          <p:cNvPr id="15364" name="Espaço Reservado para Número de Slide 1">
            <a:extLst>
              <a:ext uri="{FF2B5EF4-FFF2-40B4-BE49-F238E27FC236}">
                <a16:creationId xmlns:a16="http://schemas.microsoft.com/office/drawing/2014/main" id="{5C0B411E-6C03-368A-2E86-59F3561A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7D1A56-7C24-452B-9670-6EE45139AB3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028">
            <a:extLst>
              <a:ext uri="{FF2B5EF4-FFF2-40B4-BE49-F238E27FC236}">
                <a16:creationId xmlns:a16="http://schemas.microsoft.com/office/drawing/2014/main" id="{9EC38EEC-E586-1145-9BF3-A4B3766ED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Algoritmos</a:t>
            </a:r>
          </a:p>
        </p:txBody>
      </p:sp>
      <p:sp>
        <p:nvSpPr>
          <p:cNvPr id="16387" name="Rectangle 25">
            <a:extLst>
              <a:ext uri="{FF2B5EF4-FFF2-40B4-BE49-F238E27FC236}">
                <a16:creationId xmlns:a16="http://schemas.microsoft.com/office/drawing/2014/main" id="{7EF700AE-F6DC-A98B-B252-8D8FC661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Um </a:t>
            </a:r>
            <a:r>
              <a:rPr lang="pt-BR" altLang="pt-BR" b="1" dirty="0">
                <a:latin typeface="Arial Black" panose="020B0A04020102020204" pitchFamily="34" charset="0"/>
                <a:cs typeface="Arial" panose="020B0604020202020204" pitchFamily="34" charset="0"/>
              </a:rPr>
              <a:t>algoritmo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 é uma forma de organizar a sua lógica, para a solução de um problema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Normalmente, um </a:t>
            </a:r>
            <a:r>
              <a:rPr lang="pt-BR" altLang="pt-BR" b="1" dirty="0">
                <a:latin typeface="Arial Black" panose="020B0A04020102020204" pitchFamily="34" charset="0"/>
                <a:cs typeface="Arial" panose="020B0604020202020204" pitchFamily="34" charset="0"/>
              </a:rPr>
              <a:t>algoritmo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 é uma sequência de passos ordenados e sem ambiguidade, que deve ser seguida para resolver um problema.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A </a:t>
            </a:r>
            <a:r>
              <a:rPr lang="pt-BR" altLang="pt-BR" b="1" dirty="0">
                <a:latin typeface="Arial Black" panose="020B0A04020102020204" pitchFamily="34" charset="0"/>
                <a:cs typeface="Arial" panose="020B0604020202020204" pitchFamily="34" charset="0"/>
              </a:rPr>
              <a:t>programação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 é a execução destes passos com instruções no computador.</a:t>
            </a:r>
          </a:p>
        </p:txBody>
      </p:sp>
      <p:sp>
        <p:nvSpPr>
          <p:cNvPr id="16388" name="Espaço Reservado para Número de Slide 1">
            <a:extLst>
              <a:ext uri="{FF2B5EF4-FFF2-40B4-BE49-F238E27FC236}">
                <a16:creationId xmlns:a16="http://schemas.microsoft.com/office/drawing/2014/main" id="{0A218563-59A7-8039-69B2-74B1C602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0FBC74-26EE-4200-B92D-2BCD7A6CE12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028">
            <a:extLst>
              <a:ext uri="{FF2B5EF4-FFF2-40B4-BE49-F238E27FC236}">
                <a16:creationId xmlns:a16="http://schemas.microsoft.com/office/drawing/2014/main" id="{3629A2D1-4BD6-C181-3695-B1F080B3D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02" y="76200"/>
            <a:ext cx="90678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Métodos para Construção de Algoritmos</a:t>
            </a:r>
          </a:p>
        </p:txBody>
      </p:sp>
      <p:sp>
        <p:nvSpPr>
          <p:cNvPr id="17411" name="Rectangle 25">
            <a:extLst>
              <a:ext uri="{FF2B5EF4-FFF2-40B4-BE49-F238E27FC236}">
                <a16:creationId xmlns:a16="http://schemas.microsoft.com/office/drawing/2014/main" id="{7199A1CE-E112-EC64-9BD8-2E141588A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Principais passos para a construção de qualquer tipo de algoritmo: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1. Compreender completamente o problema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a ser resolvido, destacando os pontos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mais importantes e os objetos que o 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compõem.</a:t>
            </a:r>
          </a:p>
        </p:txBody>
      </p:sp>
      <p:sp>
        <p:nvSpPr>
          <p:cNvPr id="17412" name="Espaço Reservado para Número de Slide 1">
            <a:extLst>
              <a:ext uri="{FF2B5EF4-FFF2-40B4-BE49-F238E27FC236}">
                <a16:creationId xmlns:a16="http://schemas.microsoft.com/office/drawing/2014/main" id="{97501167-219D-278D-E071-A4612CB5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D22AD4-5DEE-4156-A804-75B9FE97CD7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028">
            <a:extLst>
              <a:ext uri="{FF2B5EF4-FFF2-40B4-BE49-F238E27FC236}">
                <a16:creationId xmlns:a16="http://schemas.microsoft.com/office/drawing/2014/main" id="{08081C6F-557E-0E26-BD96-610545642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152" y="76200"/>
            <a:ext cx="90678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Métodos para Construção de Algoritmos</a:t>
            </a:r>
          </a:p>
        </p:txBody>
      </p:sp>
      <p:sp>
        <p:nvSpPr>
          <p:cNvPr id="18435" name="Rectangle 25">
            <a:extLst>
              <a:ext uri="{FF2B5EF4-FFF2-40B4-BE49-F238E27FC236}">
                <a16:creationId xmlns:a16="http://schemas.microsoft.com/office/drawing/2014/main" id="{6133E1F9-A6FC-E26F-ADFB-24AF5DC1C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2. Definir, para este cenário-problema, os  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tipos de dados de entrada e os tipos de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dados de saída, ou seja, os que serão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gerados depois do processamento.</a:t>
            </a:r>
          </a:p>
        </p:txBody>
      </p:sp>
      <p:sp>
        <p:nvSpPr>
          <p:cNvPr id="18436" name="Espaço Reservado para Número de Slide 1">
            <a:extLst>
              <a:ext uri="{FF2B5EF4-FFF2-40B4-BE49-F238E27FC236}">
                <a16:creationId xmlns:a16="http://schemas.microsoft.com/office/drawing/2014/main" id="{9FE8B112-9317-9AA6-40B9-F3DC99CD9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3CB67A1-3625-4113-B312-2D0FB8D8C3F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028">
            <a:extLst>
              <a:ext uri="{FF2B5EF4-FFF2-40B4-BE49-F238E27FC236}">
                <a16:creationId xmlns:a16="http://schemas.microsoft.com/office/drawing/2014/main" id="{D114E254-EE29-4165-3522-316315EDC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44808"/>
            <a:ext cx="90678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Métodos para Construção de Algoritmos</a:t>
            </a:r>
          </a:p>
        </p:txBody>
      </p:sp>
      <p:sp>
        <p:nvSpPr>
          <p:cNvPr id="19459" name="Rectangle 25">
            <a:extLst>
              <a:ext uri="{FF2B5EF4-FFF2-40B4-BE49-F238E27FC236}">
                <a16:creationId xmlns:a16="http://schemas.microsoft.com/office/drawing/2014/main" id="{8DEDECE8-57FF-2F4C-C728-DBB22B4A2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pt-BR" altLang="pt-B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3. Definir o processamento, ou seja, quais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cálculos serão efetuados e quais as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restrições para esses cálculos. O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processamento é responsável pela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transformação dos dados de entrada em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dados de saída. </a:t>
            </a:r>
          </a:p>
        </p:txBody>
      </p:sp>
      <p:sp>
        <p:nvSpPr>
          <p:cNvPr id="19460" name="Espaço Reservado para Número de Slide 1">
            <a:extLst>
              <a:ext uri="{FF2B5EF4-FFF2-40B4-BE49-F238E27FC236}">
                <a16:creationId xmlns:a16="http://schemas.microsoft.com/office/drawing/2014/main" id="{6AFB68B8-E1AA-8586-8650-566C140C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B7D99E-E640-4E12-985E-173BEB0D60B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028">
            <a:extLst>
              <a:ext uri="{FF2B5EF4-FFF2-40B4-BE49-F238E27FC236}">
                <a16:creationId xmlns:a16="http://schemas.microsoft.com/office/drawing/2014/main" id="{40F04152-637D-AD96-877B-5022CDF6C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" y="147638"/>
            <a:ext cx="9067800" cy="1754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Métodos para Construção de Algoritmos</a:t>
            </a:r>
          </a:p>
        </p:txBody>
      </p:sp>
      <p:sp>
        <p:nvSpPr>
          <p:cNvPr id="20483" name="Rectangle 25">
            <a:extLst>
              <a:ext uri="{FF2B5EF4-FFF2-40B4-BE49-F238E27FC236}">
                <a16:creationId xmlns:a16="http://schemas.microsoft.com/office/drawing/2014/main" id="{3D2C5DE0-4A87-A048-0C31-739222952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4. Construir o algoritmo utilizando um dos 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tipos descritos na próxima seção.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5. Testar o algoritmo realizando simulações.</a:t>
            </a:r>
          </a:p>
        </p:txBody>
      </p:sp>
      <p:sp>
        <p:nvSpPr>
          <p:cNvPr id="20484" name="Espaço Reservado para Número de Slide 1">
            <a:extLst>
              <a:ext uri="{FF2B5EF4-FFF2-40B4-BE49-F238E27FC236}">
                <a16:creationId xmlns:a16="http://schemas.microsoft.com/office/drawing/2014/main" id="{54112712-4091-4DE4-4776-CBC656E4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806FFFD-B5AB-41BA-8C1F-F8CEF7337E8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028">
            <a:extLst>
              <a:ext uri="{FF2B5EF4-FFF2-40B4-BE49-F238E27FC236}">
                <a16:creationId xmlns:a16="http://schemas.microsoft.com/office/drawing/2014/main" id="{5CA1337C-0B20-775C-B3EA-08883B7541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Algoritmos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060EADFA-5A9E-6FCB-543F-478F76D3D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Os quatro tipos de algoritmos principais são: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/>
              <a:t>Descrição narrativa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É escrever, utilizando uma linguagem natural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(</a:t>
            </a:r>
            <a:r>
              <a:rPr lang="pt-BR" dirty="0" err="1"/>
              <a:t>ex</a:t>
            </a:r>
            <a:r>
              <a:rPr lang="pt-BR" dirty="0"/>
              <a:t>: Português), os passos a serem seguidos.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endParaRPr lang="pt-BR" dirty="0"/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 Vantagem:</a:t>
            </a:r>
            <a:r>
              <a:rPr lang="pt-BR" dirty="0"/>
              <a:t> Não é necessário aprender.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 Desvantagem:</a:t>
            </a:r>
            <a:r>
              <a:rPr lang="pt-BR" dirty="0"/>
              <a:t> A língua natural abre espaço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para várias interpretações, o que dificultara a     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transcrição desse algoritmo para o programa.</a:t>
            </a:r>
          </a:p>
          <a:p>
            <a:pPr>
              <a:spcBef>
                <a:spcPts val="0"/>
              </a:spcBef>
              <a:defRPr/>
            </a:pPr>
            <a:endParaRPr lang="pt-BR" dirty="0"/>
          </a:p>
        </p:txBody>
      </p:sp>
      <p:sp>
        <p:nvSpPr>
          <p:cNvPr id="21508" name="Espaço Reservado para Número de Slide 1">
            <a:extLst>
              <a:ext uri="{FF2B5EF4-FFF2-40B4-BE49-F238E27FC236}">
                <a16:creationId xmlns:a16="http://schemas.microsoft.com/office/drawing/2014/main" id="{385FEFF5-7BCC-B480-EF4C-6ECD43BB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A735C8-768C-42BF-82C4-D4A403875D6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028">
            <a:extLst>
              <a:ext uri="{FF2B5EF4-FFF2-40B4-BE49-F238E27FC236}">
                <a16:creationId xmlns:a16="http://schemas.microsoft.com/office/drawing/2014/main" id="{FC239BB9-0214-375D-81AA-56B02E1FE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Algoritmos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161F8D21-56DC-BB82-860D-0745FB146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Os quatro tipos de algoritmos principais são: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/>
              <a:t>Fluxograma ou Diagrama de Blocos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Nassi-Shneiderman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Chapin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Consiste em escrever, utilizando símbolos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gráficos </a:t>
            </a:r>
            <a:r>
              <a:rPr lang="pt-BR" dirty="0" err="1"/>
              <a:t>pré</a:t>
            </a:r>
            <a:r>
              <a:rPr lang="pt-BR" dirty="0"/>
              <a:t> definidos, os passos a serem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seguidos.</a:t>
            </a:r>
          </a:p>
        </p:txBody>
      </p:sp>
      <p:sp>
        <p:nvSpPr>
          <p:cNvPr id="22532" name="Espaço Reservado para Número de Slide 1">
            <a:extLst>
              <a:ext uri="{FF2B5EF4-FFF2-40B4-BE49-F238E27FC236}">
                <a16:creationId xmlns:a16="http://schemas.microsoft.com/office/drawing/2014/main" id="{390368E8-D5AC-6EB6-EBC2-58233362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2076FE4-7573-4950-BBA4-1EB473A48A4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1028">
            <a:extLst>
              <a:ext uri="{FF2B5EF4-FFF2-40B4-BE49-F238E27FC236}">
                <a16:creationId xmlns:a16="http://schemas.microsoft.com/office/drawing/2014/main" id="{4527C5FB-620F-A349-3DA1-9212124B2F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Algoritmos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FDBEFD27-7402-8BF5-F0D4-A7842FD1F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Os quatro tipos de algoritmos principais são: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/>
              <a:t>Fluxograma ou Diagrama de Blocos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Nassi-Shneiderman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Chapin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endParaRPr lang="pt-BR" dirty="0"/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Vantagem:</a:t>
            </a:r>
            <a:r>
              <a:rPr lang="pt-BR" dirty="0"/>
              <a:t> Entender os elementos gráficos é  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mais simples.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Desvantagem:</a:t>
            </a:r>
            <a:r>
              <a:rPr lang="pt-BR" dirty="0"/>
              <a:t> É necessário aprender a  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trabalhar com a simbologia dos fluxogramas.</a:t>
            </a:r>
          </a:p>
        </p:txBody>
      </p:sp>
      <p:sp>
        <p:nvSpPr>
          <p:cNvPr id="23556" name="Espaço Reservado para Número de Slide 1">
            <a:extLst>
              <a:ext uri="{FF2B5EF4-FFF2-40B4-BE49-F238E27FC236}">
                <a16:creationId xmlns:a16="http://schemas.microsoft.com/office/drawing/2014/main" id="{FF477F54-3EEE-137D-C86C-DD2472CAC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4467E4B-9016-4AE0-8725-D43429CB6B1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028">
            <a:extLst>
              <a:ext uri="{FF2B5EF4-FFF2-40B4-BE49-F238E27FC236}">
                <a16:creationId xmlns:a16="http://schemas.microsoft.com/office/drawing/2014/main" id="{081DEB66-E93E-F969-930E-BFA5418C2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Algoritmos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5CE8E2E9-0C9E-8545-488D-BD2B2AA14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Os quatro tipos de algoritmos principais são: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/>
              <a:t>Fluxograma ou Diagrama de Blocos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.</a:t>
            </a:r>
          </a:p>
        </p:txBody>
      </p:sp>
      <p:sp>
        <p:nvSpPr>
          <p:cNvPr id="24580" name="Espaço Reservado para Número de Slide 1">
            <a:extLst>
              <a:ext uri="{FF2B5EF4-FFF2-40B4-BE49-F238E27FC236}">
                <a16:creationId xmlns:a16="http://schemas.microsoft.com/office/drawing/2014/main" id="{24766DD3-3757-216B-2245-574F09DE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7357BEA-CE72-42B0-898F-704E2D83288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pic>
        <p:nvPicPr>
          <p:cNvPr id="24581" name="Picture 2">
            <a:extLst>
              <a:ext uri="{FF2B5EF4-FFF2-40B4-BE49-F238E27FC236}">
                <a16:creationId xmlns:a16="http://schemas.microsoft.com/office/drawing/2014/main" id="{786E1AC0-FC5C-97E9-4314-A5532A0AC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3" y="3151188"/>
            <a:ext cx="8943975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1028">
            <a:extLst>
              <a:ext uri="{FF2B5EF4-FFF2-40B4-BE49-F238E27FC236}">
                <a16:creationId xmlns:a16="http://schemas.microsoft.com/office/drawing/2014/main" id="{6A902BBD-AD90-46F2-37B4-F8D64C2DA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Algoritmos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1FB5B580-F761-7890-BCA0-27A127538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Os três tipos de algoritmos mais utilizados são: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Nassi-Shneiderman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ou </a:t>
            </a:r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Chapin</a:t>
            </a: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.</a:t>
            </a:r>
          </a:p>
        </p:txBody>
      </p:sp>
      <p:sp>
        <p:nvSpPr>
          <p:cNvPr id="25604" name="Espaço Reservado para Número de Slide 1">
            <a:extLst>
              <a:ext uri="{FF2B5EF4-FFF2-40B4-BE49-F238E27FC236}">
                <a16:creationId xmlns:a16="http://schemas.microsoft.com/office/drawing/2014/main" id="{C1D5C185-92E7-4960-C5C0-268D63868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82AC65F-0980-4559-9B4D-A6C84509FAB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pic>
        <p:nvPicPr>
          <p:cNvPr id="25605" name="Imagem 5">
            <a:extLst>
              <a:ext uri="{FF2B5EF4-FFF2-40B4-BE49-F238E27FC236}">
                <a16:creationId xmlns:a16="http://schemas.microsoft.com/office/drawing/2014/main" id="{403650EC-8949-233D-FC55-C3FD5B91F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024188"/>
            <a:ext cx="7129462" cy="383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028">
            <a:extLst>
              <a:ext uri="{FF2B5EF4-FFF2-40B4-BE49-F238E27FC236}">
                <a16:creationId xmlns:a16="http://schemas.microsoft.com/office/drawing/2014/main" id="{ACBC5BF1-CE21-4942-BF08-829C945F9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Tipos de Algoritmos</a:t>
            </a:r>
          </a:p>
        </p:txBody>
      </p:sp>
      <p:sp>
        <p:nvSpPr>
          <p:cNvPr id="4099" name="Rectangle 25">
            <a:extLst>
              <a:ext uri="{FF2B5EF4-FFF2-40B4-BE49-F238E27FC236}">
                <a16:creationId xmlns:a16="http://schemas.microsoft.com/office/drawing/2014/main" id="{149AEA1F-191E-A931-2CCB-FF6E89A8F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Os quatro tipos de algoritmos principais são:</a:t>
            </a:r>
          </a:p>
          <a:p>
            <a:pPr>
              <a:spcBef>
                <a:spcPts val="0"/>
              </a:spcBef>
              <a:defRPr/>
            </a:pPr>
            <a:r>
              <a:rPr lang="pt-BR" b="1" dirty="0"/>
              <a:t>Pseudocódigo ou </a:t>
            </a:r>
            <a:r>
              <a:rPr lang="pt-BR" b="1" dirty="0" err="1"/>
              <a:t>Portugol</a:t>
            </a:r>
            <a:endParaRPr lang="pt-BR" b="1" dirty="0"/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É escrever, por meio de regras predefinidas,  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os passos a serem seguidos.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endParaRPr lang="pt-BR" sz="2000" dirty="0"/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 Vantagem:</a:t>
            </a:r>
            <a:r>
              <a:rPr lang="pt-BR" dirty="0"/>
              <a:t> A passagem do algoritmo para  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qualquer linguagem de programação é quase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imediata.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b="1" dirty="0"/>
              <a:t>   Desvantagem: É</a:t>
            </a:r>
            <a:r>
              <a:rPr lang="pt-BR" dirty="0"/>
              <a:t> necessário aprender as </a:t>
            </a:r>
          </a:p>
          <a:p>
            <a:pPr indent="0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pt-BR" dirty="0"/>
              <a:t>   regras do pseudocódigo.</a:t>
            </a:r>
          </a:p>
          <a:p>
            <a:pPr>
              <a:spcBef>
                <a:spcPts val="0"/>
              </a:spcBef>
              <a:defRPr/>
            </a:pPr>
            <a:endParaRPr lang="pt-BR" dirty="0"/>
          </a:p>
        </p:txBody>
      </p:sp>
      <p:sp>
        <p:nvSpPr>
          <p:cNvPr id="26628" name="Espaço Reservado para Número de Slide 1">
            <a:extLst>
              <a:ext uri="{FF2B5EF4-FFF2-40B4-BE49-F238E27FC236}">
                <a16:creationId xmlns:a16="http://schemas.microsoft.com/office/drawing/2014/main" id="{0C48CD5E-BAE7-8836-2D6E-4D1311EB0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6F5449-DC03-40D3-98F1-B7CB7E18C63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028">
            <a:extLst>
              <a:ext uri="{FF2B5EF4-FFF2-40B4-BE49-F238E27FC236}">
                <a16:creationId xmlns:a16="http://schemas.microsoft.com/office/drawing/2014/main" id="{702E92CE-2256-4706-AE84-E896F01F0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27651" name="Rectangle 25">
            <a:extLst>
              <a:ext uri="{FF2B5EF4-FFF2-40B4-BE49-F238E27FC236}">
                <a16:creationId xmlns:a16="http://schemas.microsoft.com/office/drawing/2014/main" id="{591C6548-DF9A-C98B-BD34-BC7387F14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 dirty="0">
                <a:latin typeface="Arial Black" panose="020B0A04020102020204" pitchFamily="34" charset="0"/>
                <a:cs typeface="Arial" panose="020B0604020202020204" pitchFamily="34" charset="0"/>
              </a:rPr>
              <a:t>Exemplos de Algoritmos</a:t>
            </a:r>
          </a:p>
        </p:txBody>
      </p:sp>
      <p:sp>
        <p:nvSpPr>
          <p:cNvPr id="27652" name="Espaço Reservado para Número de Slide 1">
            <a:extLst>
              <a:ext uri="{FF2B5EF4-FFF2-40B4-BE49-F238E27FC236}">
                <a16:creationId xmlns:a16="http://schemas.microsoft.com/office/drawing/2014/main" id="{08F398E5-6F8E-FA7D-CDAE-1528EB98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AA9F57F-F006-46D3-BAB3-3FB45BDCE67C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028">
            <a:extLst>
              <a:ext uri="{FF2B5EF4-FFF2-40B4-BE49-F238E27FC236}">
                <a16:creationId xmlns:a16="http://schemas.microsoft.com/office/drawing/2014/main" id="{01DFA530-55AF-4E7E-E185-4907F8BEE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Exemplos de Algoritmos</a:t>
            </a:r>
          </a:p>
        </p:txBody>
      </p:sp>
      <p:sp>
        <p:nvSpPr>
          <p:cNvPr id="28675" name="Rectangle 25">
            <a:extLst>
              <a:ext uri="{FF2B5EF4-FFF2-40B4-BE49-F238E27FC236}">
                <a16:creationId xmlns:a16="http://schemas.microsoft.com/office/drawing/2014/main" id="{307CA761-DA6C-8664-08F2-D67369918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Algoritmo: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dirty="0">
                <a:latin typeface="Arial" panose="020B0604020202020204" pitchFamily="34" charset="0"/>
                <a:cs typeface="Arial" panose="020B0604020202020204" pitchFamily="34" charset="0"/>
              </a:rPr>
              <a:t>Receber dois números inteiros. multiplica-los e mostrar o resultado</a:t>
            </a:r>
          </a:p>
        </p:txBody>
      </p:sp>
      <p:sp>
        <p:nvSpPr>
          <p:cNvPr id="28676" name="Espaço Reservado para Número de Slide 1">
            <a:extLst>
              <a:ext uri="{FF2B5EF4-FFF2-40B4-BE49-F238E27FC236}">
                <a16:creationId xmlns:a16="http://schemas.microsoft.com/office/drawing/2014/main" id="{E00AC4BC-24C7-19D8-DA12-C869F1442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DA5CAD-46D9-4A62-A4EA-30A38382F6C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028">
            <a:extLst>
              <a:ext uri="{FF2B5EF4-FFF2-40B4-BE49-F238E27FC236}">
                <a16:creationId xmlns:a16="http://schemas.microsoft.com/office/drawing/2014/main" id="{82DC28FC-162A-766B-8E9B-8A23B8490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Exemplos de Algoritmos</a:t>
            </a:r>
          </a:p>
        </p:txBody>
      </p:sp>
      <p:sp>
        <p:nvSpPr>
          <p:cNvPr id="29699" name="Rectangle 25">
            <a:extLst>
              <a:ext uri="{FF2B5EF4-FFF2-40B4-BE49-F238E27FC236}">
                <a16:creationId xmlns:a16="http://schemas.microsoft.com/office/drawing/2014/main" id="{F5C688FC-987E-B361-AC9A-3CB805EAA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/>
              <a:t>Algoritmo em Descrição Narrativa: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b="1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/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/>
              <a:t>   Passo 1 – Receber o primeiro número inteiro              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/>
              <a:t>   Passo 2 – Receber o segundo número inteiro 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/>
              <a:t>   Passo 3 – Multiplicar os números.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/>
              <a:t>   Passo 4 – Mostrar o resultado obtido na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/>
              <a:t>                  multiplicação.</a:t>
            </a:r>
          </a:p>
        </p:txBody>
      </p:sp>
      <p:sp>
        <p:nvSpPr>
          <p:cNvPr id="29700" name="Espaço Reservado para Número de Slide 1">
            <a:extLst>
              <a:ext uri="{FF2B5EF4-FFF2-40B4-BE49-F238E27FC236}">
                <a16:creationId xmlns:a16="http://schemas.microsoft.com/office/drawing/2014/main" id="{B582C4B3-6B54-BE6D-E764-539C308A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471168D-EAA5-4C41-B9E5-90248DE53DC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028">
            <a:extLst>
              <a:ext uri="{FF2B5EF4-FFF2-40B4-BE49-F238E27FC236}">
                <a16:creationId xmlns:a16="http://schemas.microsoft.com/office/drawing/2014/main" id="{CA8A309A-0A83-F2F4-44DD-4870359C8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Exemplos de Algoritmos</a:t>
            </a:r>
          </a:p>
        </p:txBody>
      </p:sp>
      <p:sp>
        <p:nvSpPr>
          <p:cNvPr id="30723" name="Rectangle 25">
            <a:extLst>
              <a:ext uri="{FF2B5EF4-FFF2-40B4-BE49-F238E27FC236}">
                <a16:creationId xmlns:a16="http://schemas.microsoft.com/office/drawing/2014/main" id="{D7254FB3-7158-A086-27BF-07C47E3EC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/>
              <a:t>Algoritmo em Fluxograma</a:t>
            </a:r>
            <a:endParaRPr lang="pt-BR" altLang="pt-BR"/>
          </a:p>
        </p:txBody>
      </p:sp>
      <p:sp>
        <p:nvSpPr>
          <p:cNvPr id="30724" name="Espaço Reservado para Número de Slide 1">
            <a:extLst>
              <a:ext uri="{FF2B5EF4-FFF2-40B4-BE49-F238E27FC236}">
                <a16:creationId xmlns:a16="http://schemas.microsoft.com/office/drawing/2014/main" id="{059191FD-D4BA-FD25-5BCE-EDD657579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953900-B906-42FF-98C6-594FF0F9339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pic>
        <p:nvPicPr>
          <p:cNvPr id="30725" name="Picture 2">
            <a:extLst>
              <a:ext uri="{FF2B5EF4-FFF2-40B4-BE49-F238E27FC236}">
                <a16:creationId xmlns:a16="http://schemas.microsoft.com/office/drawing/2014/main" id="{26FA52F5-9F64-09BF-6635-3CF4D7C00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781300"/>
            <a:ext cx="883920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1028">
            <a:extLst>
              <a:ext uri="{FF2B5EF4-FFF2-40B4-BE49-F238E27FC236}">
                <a16:creationId xmlns:a16="http://schemas.microsoft.com/office/drawing/2014/main" id="{77EEC6C4-8FAB-F699-EF91-B7D483554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Exemplos de Algoritmos</a:t>
            </a:r>
          </a:p>
        </p:txBody>
      </p:sp>
      <p:sp>
        <p:nvSpPr>
          <p:cNvPr id="31747" name="Rectangle 25">
            <a:extLst>
              <a:ext uri="{FF2B5EF4-FFF2-40B4-BE49-F238E27FC236}">
                <a16:creationId xmlns:a16="http://schemas.microsoft.com/office/drawing/2014/main" id="{36661BCF-DB75-43EC-B958-497FBBE8C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/>
              <a:t>Algoritmo em Pseudocodigo ou Portugol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sz="2400" b="1"/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algoritmo “Exemplo01"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/>
              <a:t>    var N1, N2: inteiro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inicio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  escreval("Digite o primeiro número: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  leia(N1)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  escreval("Digite o segundo número: 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  leia(N2)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  escreva("A multiplicação dos números é: ",N1*N2)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400" b="1"/>
              <a:t>    fimalgoritmo</a:t>
            </a:r>
          </a:p>
        </p:txBody>
      </p:sp>
      <p:sp>
        <p:nvSpPr>
          <p:cNvPr id="31748" name="Espaço Reservado para Número de Slide 1">
            <a:extLst>
              <a:ext uri="{FF2B5EF4-FFF2-40B4-BE49-F238E27FC236}">
                <a16:creationId xmlns:a16="http://schemas.microsoft.com/office/drawing/2014/main" id="{4A424621-3E57-F3EE-9FF4-CDCB7955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3715D1-F9CC-4E21-888B-910E1BABA4A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028">
            <a:extLst>
              <a:ext uri="{FF2B5EF4-FFF2-40B4-BE49-F238E27FC236}">
                <a16:creationId xmlns:a16="http://schemas.microsoft.com/office/drawing/2014/main" id="{53CF8E44-12C0-FCD4-5BF7-4F648E725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32771" name="Rectangle 25">
            <a:extLst>
              <a:ext uri="{FF2B5EF4-FFF2-40B4-BE49-F238E27FC236}">
                <a16:creationId xmlns:a16="http://schemas.microsoft.com/office/drawing/2014/main" id="{31A3B65D-F631-8592-53B8-A368F6AD7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VARIÁVEL</a:t>
            </a:r>
          </a:p>
        </p:txBody>
      </p:sp>
      <p:sp>
        <p:nvSpPr>
          <p:cNvPr id="32772" name="Espaço Reservado para Número de Slide 1">
            <a:extLst>
              <a:ext uri="{FF2B5EF4-FFF2-40B4-BE49-F238E27FC236}">
                <a16:creationId xmlns:a16="http://schemas.microsoft.com/office/drawing/2014/main" id="{494B325C-7CA3-83CD-AE43-9C469BC9A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6F3EF9-F0A4-4F52-9373-8510F0437B6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1028">
            <a:extLst>
              <a:ext uri="{FF2B5EF4-FFF2-40B4-BE49-F238E27FC236}">
                <a16:creationId xmlns:a16="http://schemas.microsoft.com/office/drawing/2014/main" id="{5D39DADF-6BAC-3147-21EF-6AB90B6B2E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Variável</a:t>
            </a:r>
          </a:p>
        </p:txBody>
      </p:sp>
      <p:sp>
        <p:nvSpPr>
          <p:cNvPr id="33795" name="Rectangle 25">
            <a:extLst>
              <a:ext uri="{FF2B5EF4-FFF2-40B4-BE49-F238E27FC236}">
                <a16:creationId xmlns:a16="http://schemas.microsoft.com/office/drawing/2014/main" id="{26DD7124-2117-FD3A-1F60-D183456BE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No algoritmo: </a:t>
            </a: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A variável é um local na memória do computador para armazenar os dados que o usuário produz como entrada do algoritmo.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                   (Definição Provisória)</a:t>
            </a:r>
          </a:p>
        </p:txBody>
      </p:sp>
      <p:sp>
        <p:nvSpPr>
          <p:cNvPr id="33796" name="Espaço Reservado para Número de Slide 1">
            <a:extLst>
              <a:ext uri="{FF2B5EF4-FFF2-40B4-BE49-F238E27FC236}">
                <a16:creationId xmlns:a16="http://schemas.microsoft.com/office/drawing/2014/main" id="{6F532E2E-A74F-696A-1F4B-9D576BF61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43713" y="6427788"/>
            <a:ext cx="1905000" cy="457200"/>
          </a:xfrm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28C7A6-08E0-4692-9E3A-7DEEFF0F9B3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pt-BR" altLang="pt-BR" sz="1400"/>
          </a:p>
        </p:txBody>
      </p:sp>
      <p:sp>
        <p:nvSpPr>
          <p:cNvPr id="33797" name="Paralelogramo 2">
            <a:extLst>
              <a:ext uri="{FF2B5EF4-FFF2-40B4-BE49-F238E27FC236}">
                <a16:creationId xmlns:a16="http://schemas.microsoft.com/office/drawing/2014/main" id="{66E9097B-A98E-D4C9-9C53-201E71FFF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100388"/>
            <a:ext cx="1439863" cy="720725"/>
          </a:xfrm>
          <a:prstGeom prst="parallelogram">
            <a:avLst>
              <a:gd name="adj" fmla="val 2497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sp>
        <p:nvSpPr>
          <p:cNvPr id="33798" name="Retângulo 3">
            <a:extLst>
              <a:ext uri="{FF2B5EF4-FFF2-40B4-BE49-F238E27FC236}">
                <a16:creationId xmlns:a16="http://schemas.microsoft.com/office/drawing/2014/main" id="{C811C2FB-DF36-3B12-4DC8-3283688EB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2955925"/>
            <a:ext cx="1944688" cy="93662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sp>
        <p:nvSpPr>
          <p:cNvPr id="33799" name="Fluxograma: Documento 4">
            <a:extLst>
              <a:ext uri="{FF2B5EF4-FFF2-40B4-BE49-F238E27FC236}">
                <a16:creationId xmlns:a16="http://schemas.microsoft.com/office/drawing/2014/main" id="{45CA77A2-5AE9-999B-862E-F9F652E01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3028950"/>
            <a:ext cx="1368425" cy="719138"/>
          </a:xfrm>
          <a:prstGeom prst="flowChartDocumen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400"/>
          </a:p>
        </p:txBody>
      </p:sp>
      <p:cxnSp>
        <p:nvCxnSpPr>
          <p:cNvPr id="33800" name="Conector reto 6">
            <a:extLst>
              <a:ext uri="{FF2B5EF4-FFF2-40B4-BE49-F238E27FC236}">
                <a16:creationId xmlns:a16="http://schemas.microsoft.com/office/drawing/2014/main" id="{11E42545-11DF-B5C7-98AC-7F9048C57914}"/>
              </a:ext>
            </a:extLst>
          </p:cNvPr>
          <p:cNvCxnSpPr>
            <a:cxnSpLocks noChangeShapeType="1"/>
            <a:stCxn id="33797" idx="2"/>
            <a:endCxn id="33798" idx="1"/>
          </p:cNvCxnSpPr>
          <p:nvPr/>
        </p:nvCxnSpPr>
        <p:spPr bwMode="auto">
          <a:xfrm flipV="1">
            <a:off x="2105025" y="3424238"/>
            <a:ext cx="1314450" cy="36512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1" name="Conector reto 10">
            <a:extLst>
              <a:ext uri="{FF2B5EF4-FFF2-40B4-BE49-F238E27FC236}">
                <a16:creationId xmlns:a16="http://schemas.microsoft.com/office/drawing/2014/main" id="{51AE29EA-23FA-6AB4-3B76-287A8D42A00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364163" y="3373438"/>
            <a:ext cx="1295400" cy="508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02" name="CaixaDeTexto 7">
            <a:extLst>
              <a:ext uri="{FF2B5EF4-FFF2-40B4-BE49-F238E27FC236}">
                <a16:creationId xmlns:a16="http://schemas.microsoft.com/office/drawing/2014/main" id="{AC8FCDE6-F8E6-17BB-D9CC-A23F68DB2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3143250"/>
            <a:ext cx="920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/>
              <a:t>Saida</a:t>
            </a:r>
          </a:p>
        </p:txBody>
      </p:sp>
      <p:sp>
        <p:nvSpPr>
          <p:cNvPr id="33803" name="CaixaDeTexto 12">
            <a:extLst>
              <a:ext uri="{FF2B5EF4-FFF2-40B4-BE49-F238E27FC236}">
                <a16:creationId xmlns:a16="http://schemas.microsoft.com/office/drawing/2014/main" id="{C1E5949C-4085-DDAA-6D71-08119D7F1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171825"/>
            <a:ext cx="12303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/>
              <a:t>Entrada</a:t>
            </a:r>
          </a:p>
        </p:txBody>
      </p:sp>
      <p:sp>
        <p:nvSpPr>
          <p:cNvPr id="33804" name="CaixaDeTexto 13">
            <a:extLst>
              <a:ext uri="{FF2B5EF4-FFF2-40B4-BE49-F238E27FC236}">
                <a16:creationId xmlns:a16="http://schemas.microsoft.com/office/drawing/2014/main" id="{16E72C5B-48D4-7E6C-BCA9-F38DAEBC3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9800" y="3171825"/>
            <a:ext cx="1884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/>
              <a:t>ALGORITMO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028">
            <a:extLst>
              <a:ext uri="{FF2B5EF4-FFF2-40B4-BE49-F238E27FC236}">
                <a16:creationId xmlns:a16="http://schemas.microsoft.com/office/drawing/2014/main" id="{CC1E50F9-0C05-72F7-5314-AE64A7FD29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34819" name="Rectangle 25">
            <a:extLst>
              <a:ext uri="{FF2B5EF4-FFF2-40B4-BE49-F238E27FC236}">
                <a16:creationId xmlns:a16="http://schemas.microsoft.com/office/drawing/2014/main" id="{395598DD-59A0-BB49-5C29-15A11BA41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Exemplos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Utilizando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>
                <a:latin typeface="Arial Black" panose="020B0A04020102020204" pitchFamily="34" charset="0"/>
                <a:cs typeface="Arial" panose="020B0604020202020204" pitchFamily="34" charset="0"/>
              </a:rPr>
              <a:t>Variáveis</a:t>
            </a:r>
          </a:p>
        </p:txBody>
      </p:sp>
      <p:sp>
        <p:nvSpPr>
          <p:cNvPr id="34820" name="Espaço Reservado para Número de Slide 1">
            <a:extLst>
              <a:ext uri="{FF2B5EF4-FFF2-40B4-BE49-F238E27FC236}">
                <a16:creationId xmlns:a16="http://schemas.microsoft.com/office/drawing/2014/main" id="{8964BDAD-ADE2-C210-1FC9-AFE74A2C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D4F2164-20B0-4A52-928A-50F5BB88554B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pt-BR" altLang="pt-BR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1028">
            <a:extLst>
              <a:ext uri="{FF2B5EF4-FFF2-40B4-BE49-F238E27FC236}">
                <a16:creationId xmlns:a16="http://schemas.microsoft.com/office/drawing/2014/main" id="{5F052677-E973-6FA6-2496-C03FB1CA3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02</a:t>
            </a:r>
          </a:p>
        </p:txBody>
      </p:sp>
      <p:sp>
        <p:nvSpPr>
          <p:cNvPr id="35843" name="Rectangle 25">
            <a:extLst>
              <a:ext uri="{FF2B5EF4-FFF2-40B4-BE49-F238E27FC236}">
                <a16:creationId xmlns:a16="http://schemas.microsoft.com/office/drawing/2014/main" id="{C7693AE7-5F18-BD5F-45B7-6D952288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Escrever um algoritmo que receba dois números reais e faça as 4 operações matemáticas, mostrando os resultados.</a:t>
            </a:r>
          </a:p>
        </p:txBody>
      </p:sp>
      <p:sp>
        <p:nvSpPr>
          <p:cNvPr id="35844" name="Espaço Reservado para Número de Slide 1">
            <a:extLst>
              <a:ext uri="{FF2B5EF4-FFF2-40B4-BE49-F238E27FC236}">
                <a16:creationId xmlns:a16="http://schemas.microsoft.com/office/drawing/2014/main" id="{B3A03287-2E8C-0A2C-A22D-9D12E263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36420B-E5B3-41FB-9F7D-6B8D76BE7EA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pt-BR" altLang="pt-BR" sz="1400"/>
          </a:p>
        </p:txBody>
      </p:sp>
      <p:sp>
        <p:nvSpPr>
          <p:cNvPr id="35845" name="Rectangle 4">
            <a:extLst>
              <a:ext uri="{FF2B5EF4-FFF2-40B4-BE49-F238E27FC236}">
                <a16:creationId xmlns:a16="http://schemas.microsoft.com/office/drawing/2014/main" id="{AD4DF134-6D66-D173-9453-BFE39285A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028">
            <a:extLst>
              <a:ext uri="{FF2B5EF4-FFF2-40B4-BE49-F238E27FC236}">
                <a16:creationId xmlns:a16="http://schemas.microsoft.com/office/drawing/2014/main" id="{D9867143-70F1-5BCD-68CA-E79B1479E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02</a:t>
            </a:r>
          </a:p>
        </p:txBody>
      </p:sp>
      <p:sp>
        <p:nvSpPr>
          <p:cNvPr id="36867" name="Rectangle 25">
            <a:extLst>
              <a:ext uri="{FF2B5EF4-FFF2-40B4-BE49-F238E27FC236}">
                <a16:creationId xmlns:a16="http://schemas.microsoft.com/office/drawing/2014/main" id="{B684E3CE-91D6-5A79-2169-E40725D6E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// Função: As quatro operações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// Data: Agosto/2025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algoritmo "Exemplo02"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Var N1, N2: real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escreva("Digite o primeiro número: 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leia(N1)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escreva("Digite o segundo número: 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    leia(N2)</a:t>
            </a:r>
          </a:p>
        </p:txBody>
      </p:sp>
      <p:sp>
        <p:nvSpPr>
          <p:cNvPr id="36868" name="Espaço Reservado para Número de Slide 1">
            <a:extLst>
              <a:ext uri="{FF2B5EF4-FFF2-40B4-BE49-F238E27FC236}">
                <a16:creationId xmlns:a16="http://schemas.microsoft.com/office/drawing/2014/main" id="{7BE6F4FD-CECA-6AFC-25E2-5F4F3B53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06A5699-FD59-4DEF-BB0B-75D036FA298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pt-BR" altLang="pt-BR" sz="1400"/>
          </a:p>
        </p:txBody>
      </p:sp>
      <p:sp>
        <p:nvSpPr>
          <p:cNvPr id="36869" name="Texto explicativo retangular com cantos arredondados 1">
            <a:extLst>
              <a:ext uri="{FF2B5EF4-FFF2-40B4-BE49-F238E27FC236}">
                <a16:creationId xmlns:a16="http://schemas.microsoft.com/office/drawing/2014/main" id="{CB914DB0-D613-5C09-3D57-9F3304B61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2276475"/>
            <a:ext cx="1944688" cy="1296988"/>
          </a:xfrm>
          <a:prstGeom prst="wedgeRoundRectCallout">
            <a:avLst>
              <a:gd name="adj1" fmla="val -133185"/>
              <a:gd name="adj2" fmla="val -208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/>
              <a:t>Uma BOA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/>
              <a:t>prática de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/>
              <a:t>Programação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028">
            <a:extLst>
              <a:ext uri="{FF2B5EF4-FFF2-40B4-BE49-F238E27FC236}">
                <a16:creationId xmlns:a16="http://schemas.microsoft.com/office/drawing/2014/main" id="{03D6B3FA-19AD-84C6-8142-C98DEBE5E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02</a:t>
            </a:r>
          </a:p>
        </p:txBody>
      </p:sp>
      <p:sp>
        <p:nvSpPr>
          <p:cNvPr id="37891" name="Rectangle 25">
            <a:extLst>
              <a:ext uri="{FF2B5EF4-FFF2-40B4-BE49-F238E27FC236}">
                <a16:creationId xmlns:a16="http://schemas.microsoft.com/office/drawing/2014/main" id="{C7647C9A-997E-23B5-D187-5F5478F2A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   escreval("A soma é “, N1+N2)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   escreval("A subtração é: ",N1-N2)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   escreval("A multiplicação é: ",N1*N2)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    escreval("A divisão é: ",N1/N2)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</a:p>
        </p:txBody>
      </p:sp>
      <p:sp>
        <p:nvSpPr>
          <p:cNvPr id="37892" name="Espaço Reservado para Número de Slide 1">
            <a:extLst>
              <a:ext uri="{FF2B5EF4-FFF2-40B4-BE49-F238E27FC236}">
                <a16:creationId xmlns:a16="http://schemas.microsoft.com/office/drawing/2014/main" id="{D8C90264-F776-3AF6-CA36-77CFD787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4E0916-CC9C-4EE2-B74B-9B5CAEECFED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pt-BR" altLang="pt-BR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028">
            <a:extLst>
              <a:ext uri="{FF2B5EF4-FFF2-40B4-BE49-F238E27FC236}">
                <a16:creationId xmlns:a16="http://schemas.microsoft.com/office/drawing/2014/main" id="{7E6F09B0-F200-2108-B06B-B1F8A4EFC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03</a:t>
            </a:r>
          </a:p>
        </p:txBody>
      </p:sp>
      <p:sp>
        <p:nvSpPr>
          <p:cNvPr id="38915" name="Rectangle 25">
            <a:extLst>
              <a:ext uri="{FF2B5EF4-FFF2-40B4-BE49-F238E27FC236}">
                <a16:creationId xmlns:a16="http://schemas.microsoft.com/office/drawing/2014/main" id="{AB59987C-73AC-6B4A-1B07-DAB61D250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Escrever um algoritmo para determinar o consumo médio de um automóvel, sendo fornecida a distância total percorrido e o total de combustível gasto.</a:t>
            </a:r>
          </a:p>
        </p:txBody>
      </p:sp>
      <p:sp>
        <p:nvSpPr>
          <p:cNvPr id="38916" name="Espaço Reservado para Número de Slide 1">
            <a:extLst>
              <a:ext uri="{FF2B5EF4-FFF2-40B4-BE49-F238E27FC236}">
                <a16:creationId xmlns:a16="http://schemas.microsoft.com/office/drawing/2014/main" id="{F590BCD7-6B7D-517A-9299-F1DF406F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69D66A-6140-4407-958B-8716D927BA2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pt-BR" altLang="pt-BR" sz="1400"/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51EBE45C-6BFF-C349-DA83-6D4D036F0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2116138"/>
            <a:ext cx="331787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100"/>
              <a:t> “ </a:t>
            </a:r>
            <a:endParaRPr lang="pt-BR" altLang="pt-BR" sz="2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1028">
            <a:extLst>
              <a:ext uri="{FF2B5EF4-FFF2-40B4-BE49-F238E27FC236}">
                <a16:creationId xmlns:a16="http://schemas.microsoft.com/office/drawing/2014/main" id="{1502AC3D-6A5A-1253-1367-A3D2B95219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03</a:t>
            </a:r>
          </a:p>
        </p:txBody>
      </p:sp>
      <p:sp>
        <p:nvSpPr>
          <p:cNvPr id="39939" name="Rectangle 25">
            <a:extLst>
              <a:ext uri="{FF2B5EF4-FFF2-40B4-BE49-F238E27FC236}">
                <a16:creationId xmlns:a16="http://schemas.microsoft.com/office/drawing/2014/main" id="{9B820FE5-22AF-8F96-303A-F5999888F4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// Função: Calculo do consumo médio de um automóvel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// Data: Agosto/2025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algoritmo “Exemplo03"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Var distancia, </a:t>
            </a:r>
            <a:r>
              <a:rPr lang="pt-BR" alt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combustivel</a:t>
            </a: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: real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escreval</a:t>
            </a: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("========== Cálculo de consumo médio de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combustível =========")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escreva("Digite a distância </a:t>
            </a:r>
            <a:r>
              <a:rPr lang="pt-BR" alt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pecorrida</a:t>
            </a: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: 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leia(distancia)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escreva("Digite o combustível gasto: 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  leia(</a:t>
            </a:r>
            <a:r>
              <a:rPr lang="pt-BR" alt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combustivel</a:t>
            </a:r>
            <a:r>
              <a:rPr lang="pt-BR" alt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9940" name="Espaço Reservado para Número de Slide 1">
            <a:extLst>
              <a:ext uri="{FF2B5EF4-FFF2-40B4-BE49-F238E27FC236}">
                <a16:creationId xmlns:a16="http://schemas.microsoft.com/office/drawing/2014/main" id="{51D009F5-534D-6C26-2F64-5F94CA9A4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553E942-7C03-4E2D-B8C8-BB21268C1CE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pt-BR" altLang="pt-BR"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028">
            <a:extLst>
              <a:ext uri="{FF2B5EF4-FFF2-40B4-BE49-F238E27FC236}">
                <a16:creationId xmlns:a16="http://schemas.microsoft.com/office/drawing/2014/main" id="{90C79CD2-FC3D-6085-37F2-BF63DDA95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03</a:t>
            </a:r>
          </a:p>
        </p:txBody>
      </p:sp>
      <p:sp>
        <p:nvSpPr>
          <p:cNvPr id="40963" name="Rectangle 25">
            <a:extLst>
              <a:ext uri="{FF2B5EF4-FFF2-40B4-BE49-F238E27FC236}">
                <a16:creationId xmlns:a16="http://schemas.microsoft.com/office/drawing/2014/main" id="{40CC5B36-8E50-957D-3492-D81BABA39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8" y="1989138"/>
            <a:ext cx="8856662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   escreval("O consumo médio de combustível do seu veículo é ",distancia/combustivel)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</a:p>
        </p:txBody>
      </p:sp>
      <p:sp>
        <p:nvSpPr>
          <p:cNvPr id="40964" name="Espaço Reservado para Número de Slide 1">
            <a:extLst>
              <a:ext uri="{FF2B5EF4-FFF2-40B4-BE49-F238E27FC236}">
                <a16:creationId xmlns:a16="http://schemas.microsoft.com/office/drawing/2014/main" id="{C76B00BC-F75B-9DD2-B54B-12F6E523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C1A03F-8CE8-4958-9124-B2AC50C7AFE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pt-BR" altLang="pt-BR" sz="1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>
            <a:extLst>
              <a:ext uri="{FF2B5EF4-FFF2-40B4-BE49-F238E27FC236}">
                <a16:creationId xmlns:a16="http://schemas.microsoft.com/office/drawing/2014/main" id="{DE0C8FD9-19CA-487D-B9B3-3D2FAA0C6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Escrever um algoritmo que leia o nome de um vendedor, o seu salário fixo e o total de vendas efetuadas por ele no mês (em dinheiro). Sabendo que este vendedor ganha 15% de comissão sobre suas vendas efetuadas, informar o seu nome, o salário fixo e salário final do mês.</a:t>
            </a:r>
            <a:endParaRPr lang="en-US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Espaço Reservado para Número de Slide 1">
            <a:extLst>
              <a:ext uri="{FF2B5EF4-FFF2-40B4-BE49-F238E27FC236}">
                <a16:creationId xmlns:a16="http://schemas.microsoft.com/office/drawing/2014/main" id="{99C4F740-83BC-0923-5D48-E2E7B48B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375BF1-1233-4850-A231-2572A3E8F17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pt-BR" altLang="pt-BR" sz="1400"/>
          </a:p>
        </p:txBody>
      </p:sp>
      <p:sp>
        <p:nvSpPr>
          <p:cNvPr id="41988" name="Text Box 1028">
            <a:extLst>
              <a:ext uri="{FF2B5EF4-FFF2-40B4-BE49-F238E27FC236}">
                <a16:creationId xmlns:a16="http://schemas.microsoft.com/office/drawing/2014/main" id="{795CF659-5842-83F1-0A56-7890295CD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4">
            <a:extLst>
              <a:ext uri="{FF2B5EF4-FFF2-40B4-BE49-F238E27FC236}">
                <a16:creationId xmlns:a16="http://schemas.microsoft.com/office/drawing/2014/main" id="{E1FCBE78-EE24-B4DD-FB2E-DB5495B0A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// Função: Calculo do salário final de um vendedor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// Autor: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// Data: Agosto/;2025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algoritmo "Exemplo04"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var  nome: caractere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      salario, vendas, </a:t>
            </a:r>
            <a:r>
              <a:rPr lang="pt-BR" alt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comissao</a:t>
            </a: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alt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salarioFinal</a:t>
            </a: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: real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inicio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pt-BR" alt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escreval</a:t>
            </a:r>
            <a:r>
              <a:rPr lang="pt-BR" alt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("***** SISTEMA DE GESTÃO DE VENDEDORES *****")</a:t>
            </a:r>
          </a:p>
        </p:txBody>
      </p:sp>
      <p:sp>
        <p:nvSpPr>
          <p:cNvPr id="43011" name="Espaço Reservado para Número de Slide 1">
            <a:extLst>
              <a:ext uri="{FF2B5EF4-FFF2-40B4-BE49-F238E27FC236}">
                <a16:creationId xmlns:a16="http://schemas.microsoft.com/office/drawing/2014/main" id="{EC191A89-3B04-64D7-45D7-9556B8789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36EE43-ABCB-45EF-B9CD-8AA8EC211D6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pt-BR" altLang="pt-BR" sz="1400"/>
          </a:p>
        </p:txBody>
      </p:sp>
      <p:sp>
        <p:nvSpPr>
          <p:cNvPr id="43012" name="Text Box 1028">
            <a:extLst>
              <a:ext uri="{FF2B5EF4-FFF2-40B4-BE49-F238E27FC236}">
                <a16:creationId xmlns:a16="http://schemas.microsoft.com/office/drawing/2014/main" id="{4C85AAC7-D040-F98A-D569-D55434789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4">
            <a:extLst>
              <a:ext uri="{FF2B5EF4-FFF2-40B4-BE49-F238E27FC236}">
                <a16:creationId xmlns:a16="http://schemas.microsoft.com/office/drawing/2014/main" id="{0E076E9C-E91A-D328-0DC5-6A48AB64B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escreva("Digite o nome do vendedor: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leia(nome)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escreva("Digite o salário fixo: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leia(salario)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escreva("Informe a quantidade de vendas do mês: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leia(vendas)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Espaço Reservado para Número de Slide 1">
            <a:extLst>
              <a:ext uri="{FF2B5EF4-FFF2-40B4-BE49-F238E27FC236}">
                <a16:creationId xmlns:a16="http://schemas.microsoft.com/office/drawing/2014/main" id="{DA0943E1-86F9-D9A0-06AF-A75293D4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4283008-E562-4184-A287-718FC29C893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pt-BR" altLang="pt-BR" sz="1400"/>
          </a:p>
        </p:txBody>
      </p:sp>
      <p:sp>
        <p:nvSpPr>
          <p:cNvPr id="44036" name="Text Box 1028">
            <a:extLst>
              <a:ext uri="{FF2B5EF4-FFF2-40B4-BE49-F238E27FC236}">
                <a16:creationId xmlns:a16="http://schemas.microsoft.com/office/drawing/2014/main" id="{A829BBF2-8ED5-D875-8115-718BB1172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4">
            <a:extLst>
              <a:ext uri="{FF2B5EF4-FFF2-40B4-BE49-F238E27FC236}">
                <a16:creationId xmlns:a16="http://schemas.microsoft.com/office/drawing/2014/main" id="{9EEDBA2C-2662-2A1D-2B1C-71D83428D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escreval("*** Informe do Rendimento do Vendedor ***")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 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escreval("Nome do Vendedor: ",nome)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escreval("Salário Fixo do Vendedor: ",salario)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escreval("Salário Final do Vendedor: ", salario+vendas*15/100)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 ") “)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escreval("***** ENCERRAMENTO DO ALGOROTMO *****")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fimalgoritmo</a:t>
            </a:r>
          </a:p>
        </p:txBody>
      </p:sp>
      <p:sp>
        <p:nvSpPr>
          <p:cNvPr id="45059" name="Espaço Reservado para Número de Slide 1">
            <a:extLst>
              <a:ext uri="{FF2B5EF4-FFF2-40B4-BE49-F238E27FC236}">
                <a16:creationId xmlns:a16="http://schemas.microsoft.com/office/drawing/2014/main" id="{FC0F85F9-816B-8369-EE7F-6F59AED69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F9A098-7E11-4646-82E4-90DEE3B26FC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pt-BR" altLang="pt-BR" sz="1400"/>
          </a:p>
        </p:txBody>
      </p:sp>
      <p:sp>
        <p:nvSpPr>
          <p:cNvPr id="45060" name="Text Box 1028">
            <a:extLst>
              <a:ext uri="{FF2B5EF4-FFF2-40B4-BE49-F238E27FC236}">
                <a16:creationId xmlns:a16="http://schemas.microsoft.com/office/drawing/2014/main" id="{F61CE0ED-5EE7-38D9-5CA1-DD3FAA6EC4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Exemplo 04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1028">
            <a:extLst>
              <a:ext uri="{FF2B5EF4-FFF2-40B4-BE49-F238E27FC236}">
                <a16:creationId xmlns:a16="http://schemas.microsoft.com/office/drawing/2014/main" id="{2B9D017C-2D32-EDE5-49FB-2B6AE2587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46083" name="Espaço Reservado para Número de Slide 1">
            <a:extLst>
              <a:ext uri="{FF2B5EF4-FFF2-40B4-BE49-F238E27FC236}">
                <a16:creationId xmlns:a16="http://schemas.microsoft.com/office/drawing/2014/main" id="{481C9D54-60E3-BC6E-5514-85D3DC642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2B6A9D-C5FA-43DD-AAD1-935D7461B41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pt-BR" altLang="pt-BR" sz="1400"/>
          </a:p>
        </p:txBody>
      </p:sp>
      <p:pic>
        <p:nvPicPr>
          <p:cNvPr id="46084" name="Picture 6" descr="Recursos Humanos: 6 dúvidas mais comuns sobre pessoal em sua PME">
            <a:extLst>
              <a:ext uri="{FF2B5EF4-FFF2-40B4-BE49-F238E27FC236}">
                <a16:creationId xmlns:a16="http://schemas.microsoft.com/office/drawing/2014/main" id="{BD5B6858-9E3C-5964-B341-999D1EAA4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205038"/>
            <a:ext cx="6913563" cy="41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028">
            <a:extLst>
              <a:ext uri="{FF2B5EF4-FFF2-40B4-BE49-F238E27FC236}">
                <a16:creationId xmlns:a16="http://schemas.microsoft.com/office/drawing/2014/main" id="{82B68372-A475-0AF8-6EE5-995C7D287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sp>
        <p:nvSpPr>
          <p:cNvPr id="47107" name="Rectangle 25">
            <a:extLst>
              <a:ext uri="{FF2B5EF4-FFF2-40B4-BE49-F238E27FC236}">
                <a16:creationId xmlns:a16="http://schemas.microsoft.com/office/drawing/2014/main" id="{2CDCE417-0F36-6D7D-B765-19AA01BA7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7950" y="2579688"/>
            <a:ext cx="925195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pt-BR" altLang="pt-BR" sz="5600" b="1" dirty="0">
                <a:latin typeface="Arial Black" panose="020B0A04020102020204" pitchFamily="34" charset="0"/>
                <a:cs typeface="Arial" panose="020B0604020202020204" pitchFamily="34" charset="0"/>
              </a:rPr>
              <a:t>EXERCÍCIOS</a:t>
            </a:r>
          </a:p>
        </p:txBody>
      </p:sp>
      <p:sp>
        <p:nvSpPr>
          <p:cNvPr id="47108" name="Espaço Reservado para Número de Slide 1">
            <a:extLst>
              <a:ext uri="{FF2B5EF4-FFF2-40B4-BE49-F238E27FC236}">
                <a16:creationId xmlns:a16="http://schemas.microsoft.com/office/drawing/2014/main" id="{8B1E8387-BF50-A5B5-CFE3-5ACA70E3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EC6A3B-BD36-4FCB-988C-D5128CE4A56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pt-BR" altLang="pt-BR" sz="1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4">
            <a:extLst>
              <a:ext uri="{FF2B5EF4-FFF2-40B4-BE49-F238E27FC236}">
                <a16:creationId xmlns:a16="http://schemas.microsoft.com/office/drawing/2014/main" id="{715AC03F-9D67-29F3-FFAD-A634EE65A0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89138"/>
            <a:ext cx="88201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Escrever um algoritmo que leia o nome de um aluno e as notas das três provas semestrais.  No final informar o nome do aluno e a sua média (aritmética).</a:t>
            </a:r>
          </a:p>
        </p:txBody>
      </p:sp>
      <p:sp>
        <p:nvSpPr>
          <p:cNvPr id="48131" name="Espaço Reservado para Número de Slide 1">
            <a:extLst>
              <a:ext uri="{FF2B5EF4-FFF2-40B4-BE49-F238E27FC236}">
                <a16:creationId xmlns:a16="http://schemas.microsoft.com/office/drawing/2014/main" id="{1278A596-CA60-2925-3088-4990E6BAF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326680-6C2E-4396-AB07-1BAAE5A910D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pt-BR" altLang="pt-BR" sz="1400"/>
          </a:p>
        </p:txBody>
      </p:sp>
      <p:sp>
        <p:nvSpPr>
          <p:cNvPr id="48132" name="Text Box 1028">
            <a:extLst>
              <a:ext uri="{FF2B5EF4-FFF2-40B4-BE49-F238E27FC236}">
                <a16:creationId xmlns:a16="http://schemas.microsoft.com/office/drawing/2014/main" id="{1EACFCF6-9B15-8385-1E15-6444B83FC1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4">
            <a:extLst>
              <a:ext uri="{FF2B5EF4-FFF2-40B4-BE49-F238E27FC236}">
                <a16:creationId xmlns:a16="http://schemas.microsoft.com/office/drawing/2014/main" id="{81AE657A-793B-AFA8-9B38-426B2554A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Escrever um algoritmo que leia uma temperatura em graus Celsius e apresenta-a convertida em graus Fahrenheit.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A fórmula de conversão é: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        F=(9*Celsius+160) / 5.</a:t>
            </a:r>
          </a:p>
        </p:txBody>
      </p:sp>
      <p:sp>
        <p:nvSpPr>
          <p:cNvPr id="49155" name="Espaço Reservado para Número de Slide 1">
            <a:extLst>
              <a:ext uri="{FF2B5EF4-FFF2-40B4-BE49-F238E27FC236}">
                <a16:creationId xmlns:a16="http://schemas.microsoft.com/office/drawing/2014/main" id="{8843E73A-FD5B-7C86-AEAD-B311AD03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A9B0D99-3A56-43FE-9918-F6E9274F019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pt-BR" altLang="pt-BR" sz="1400"/>
          </a:p>
        </p:txBody>
      </p:sp>
      <p:sp>
        <p:nvSpPr>
          <p:cNvPr id="49156" name="Text Box 1028">
            <a:extLst>
              <a:ext uri="{FF2B5EF4-FFF2-40B4-BE49-F238E27FC236}">
                <a16:creationId xmlns:a16="http://schemas.microsoft.com/office/drawing/2014/main" id="{87CCCE65-D911-7CC3-8C57-6C124865F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4">
            <a:extLst>
              <a:ext uri="{FF2B5EF4-FFF2-40B4-BE49-F238E27FC236}">
                <a16:creationId xmlns:a16="http://schemas.microsoft.com/office/drawing/2014/main" id="{A49C2BAB-DEDA-B1BA-11DD-9D4029920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Escreva um algoritmo que receba um valor em dólares (US$) e a cotação do dolar no momento (R$), e converta-o em real (R$). .</a:t>
            </a:r>
          </a:p>
        </p:txBody>
      </p:sp>
      <p:sp>
        <p:nvSpPr>
          <p:cNvPr id="50179" name="Espaço Reservado para Número de Slide 1">
            <a:extLst>
              <a:ext uri="{FF2B5EF4-FFF2-40B4-BE49-F238E27FC236}">
                <a16:creationId xmlns:a16="http://schemas.microsoft.com/office/drawing/2014/main" id="{F2C212C6-9772-CEB3-C7AF-E5672FDB3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3DB8A5-FAE2-4F7D-8926-E3DA7EB24128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pt-BR" altLang="pt-BR" sz="1400"/>
          </a:p>
        </p:txBody>
      </p:sp>
      <p:sp>
        <p:nvSpPr>
          <p:cNvPr id="50180" name="Text Box 1028">
            <a:extLst>
              <a:ext uri="{FF2B5EF4-FFF2-40B4-BE49-F238E27FC236}">
                <a16:creationId xmlns:a16="http://schemas.microsoft.com/office/drawing/2014/main" id="{C0B682A8-4DF9-D2B5-F9DC-F180AF7BD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4">
            <a:extLst>
              <a:ext uri="{FF2B5EF4-FFF2-40B4-BE49-F238E27FC236}">
                <a16:creationId xmlns:a16="http://schemas.microsoft.com/office/drawing/2014/main" id="{D626D58D-4169-8744-531A-457C2BCCF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74850"/>
            <a:ext cx="882015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/>
              <a:t>Escreva um algoritmo que, para a Loja PeraDoce, receba o valor da compra e a quantidade de prestações que o cliente deseja pagar. Mostrar no final o valor da compra, a quantidade de prestações e o valor de cada prestação.</a:t>
            </a:r>
          </a:p>
        </p:txBody>
      </p:sp>
      <p:sp>
        <p:nvSpPr>
          <p:cNvPr id="51203" name="Espaço Reservado para Número de Slide 1">
            <a:extLst>
              <a:ext uri="{FF2B5EF4-FFF2-40B4-BE49-F238E27FC236}">
                <a16:creationId xmlns:a16="http://schemas.microsoft.com/office/drawing/2014/main" id="{E6D70D54-9ABD-D8D4-280E-632CB1CF1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1770994-D803-4918-ADAE-A6BB3F36EF26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pt-BR" altLang="pt-BR" sz="1400"/>
          </a:p>
        </p:txBody>
      </p:sp>
      <p:sp>
        <p:nvSpPr>
          <p:cNvPr id="51204" name="Text Box 1028">
            <a:extLst>
              <a:ext uri="{FF2B5EF4-FFF2-40B4-BE49-F238E27FC236}">
                <a16:creationId xmlns:a16="http://schemas.microsoft.com/office/drawing/2014/main" id="{F0C82C2E-14E9-A143-4EBA-9701026C2B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 dirty="0">
                <a:latin typeface="Arial Black" panose="020B0A04020102020204" pitchFamily="34" charset="0"/>
              </a:rPr>
              <a:t>Exercício 04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4">
            <a:extLst>
              <a:ext uri="{FF2B5EF4-FFF2-40B4-BE49-F238E27FC236}">
                <a16:creationId xmlns:a16="http://schemas.microsoft.com/office/drawing/2014/main" id="{9DCB149F-1244-02AC-C053-4C5D3D898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916832"/>
            <a:ext cx="882015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dirty="0"/>
              <a:t>Escreva um algoritmo que calcule o preço de venda de um carro, sabendo-se que: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dirty="0"/>
              <a:t>É a soma do custo de fábrica, aplicando os impostos, e depois nesse valor aplicando uma percentagem do distribuidor.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dirty="0"/>
              <a:t>Supondo que a percentagem dos impostos é 45% e a percentagem do distribuidor é 15%.</a:t>
            </a:r>
          </a:p>
        </p:txBody>
      </p:sp>
      <p:sp>
        <p:nvSpPr>
          <p:cNvPr id="52227" name="Espaço Reservado para Número de Slide 1">
            <a:extLst>
              <a:ext uri="{FF2B5EF4-FFF2-40B4-BE49-F238E27FC236}">
                <a16:creationId xmlns:a16="http://schemas.microsoft.com/office/drawing/2014/main" id="{46080AA2-0A68-344C-5F4E-F2A37562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7C96321-87A5-4013-A150-925C0A70C48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pt-BR" altLang="pt-BR" sz="1400"/>
          </a:p>
        </p:txBody>
      </p:sp>
      <p:sp>
        <p:nvSpPr>
          <p:cNvPr id="52228" name="Text Box 1028">
            <a:extLst>
              <a:ext uri="{FF2B5EF4-FFF2-40B4-BE49-F238E27FC236}">
                <a16:creationId xmlns:a16="http://schemas.microsoft.com/office/drawing/2014/main" id="{5119BA37-02CE-457E-2CD1-C14651FA8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Exercício 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ço Reservado para Número de Slide 1">
            <a:extLst>
              <a:ext uri="{FF2B5EF4-FFF2-40B4-BE49-F238E27FC236}">
                <a16:creationId xmlns:a16="http://schemas.microsoft.com/office/drawing/2014/main" id="{A43C5A4C-B3B2-42FF-F93D-19B962E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E90457-94F3-48C9-8F7D-40D82D3343C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pt-BR" altLang="pt-BR" sz="1400"/>
          </a:p>
        </p:txBody>
      </p:sp>
      <p:sp>
        <p:nvSpPr>
          <p:cNvPr id="53251" name="Text Box 1028">
            <a:extLst>
              <a:ext uri="{FF2B5EF4-FFF2-40B4-BE49-F238E27FC236}">
                <a16:creationId xmlns:a16="http://schemas.microsoft.com/office/drawing/2014/main" id="{48CF0E0D-906F-E273-99AB-4CFCA67A5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57200"/>
            <a:ext cx="90678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3600">
                <a:latin typeface="Arial Black" panose="020B0A04020102020204" pitchFamily="34" charset="0"/>
              </a:rPr>
              <a:t>CONCEITOS BÁSICOS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3600">
              <a:latin typeface="Arial Black" panose="020B0A04020102020204" pitchFamily="34" charset="0"/>
            </a:endParaRPr>
          </a:p>
        </p:txBody>
      </p:sp>
      <p:pic>
        <p:nvPicPr>
          <p:cNvPr id="53252" name="Picture 2" descr="FIM - Creative Digital Studio">
            <a:extLst>
              <a:ext uri="{FF2B5EF4-FFF2-40B4-BE49-F238E27FC236}">
                <a16:creationId xmlns:a16="http://schemas.microsoft.com/office/drawing/2014/main" id="{F3F04559-56FC-ECF0-00DF-DA7A76A9D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6475"/>
            <a:ext cx="5184775" cy="374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alt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677435081057B40A489DF4F858BB6F6" ma:contentTypeVersion="0" ma:contentTypeDescription="Crie um novo documento." ma:contentTypeScope="" ma:versionID="8fbb82c320a6f2a20a2685aaf65ca8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90E56D-E65E-45AB-B2F7-9D9DF67B618E}"/>
</file>

<file path=customXml/itemProps2.xml><?xml version="1.0" encoding="utf-8"?>
<ds:datastoreItem xmlns:ds="http://schemas.openxmlformats.org/officeDocument/2006/customXml" ds:itemID="{66228324-E863-4519-AEE3-9F9FF0D64EAF}"/>
</file>

<file path=customXml/itemProps3.xml><?xml version="1.0" encoding="utf-8"?>
<ds:datastoreItem xmlns:ds="http://schemas.openxmlformats.org/officeDocument/2006/customXml" ds:itemID="{E0900E1C-A8A4-403D-A1BC-809E2F32D186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3482</TotalTime>
  <Words>1811</Words>
  <Application>Microsoft Office PowerPoint</Application>
  <PresentationFormat>Apresentação na tela (4:3)</PresentationFormat>
  <Paragraphs>342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7" baseType="lpstr">
      <vt:lpstr>Arial</vt:lpstr>
      <vt:lpstr>Arial Black</vt:lpstr>
      <vt:lpstr>BookmanITC Lt BT</vt:lpstr>
      <vt:lpstr>Calibri</vt:lpstr>
      <vt:lpstr>Courier New</vt:lpstr>
      <vt:lpstr>Tahoma</vt:lpstr>
      <vt:lpstr>Times New Roman</vt:lpstr>
      <vt:lpstr>Wingdings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MARCOS JR</cp:lastModifiedBy>
  <cp:revision>145</cp:revision>
  <dcterms:created xsi:type="dcterms:W3CDTF">2008-02-25T13:34:03Z</dcterms:created>
  <dcterms:modified xsi:type="dcterms:W3CDTF">2026-08-26T19:37:52Z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0x0101005677435081057B40A489DF4F858BB6F6</vt:lpwstr>
  </property>
</Properties>
</file>