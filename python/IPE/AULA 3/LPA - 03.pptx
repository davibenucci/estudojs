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8"/>
  </p:notesMasterIdLst>
  <p:handoutMasterIdLst>
    <p:handoutMasterId r:id="rId49"/>
  </p:handoutMasterIdLst>
  <p:sldIdLst>
    <p:sldId id="256" r:id="rId2"/>
    <p:sldId id="328" r:id="rId3"/>
    <p:sldId id="343" r:id="rId4"/>
    <p:sldId id="332" r:id="rId5"/>
    <p:sldId id="329" r:id="rId6"/>
    <p:sldId id="330" r:id="rId7"/>
    <p:sldId id="331" r:id="rId8"/>
    <p:sldId id="333" r:id="rId9"/>
    <p:sldId id="344" r:id="rId10"/>
    <p:sldId id="309" r:id="rId11"/>
    <p:sldId id="313" r:id="rId12"/>
    <p:sldId id="312" r:id="rId13"/>
    <p:sldId id="335" r:id="rId14"/>
    <p:sldId id="334" r:id="rId15"/>
    <p:sldId id="336" r:id="rId16"/>
    <p:sldId id="337" r:id="rId17"/>
    <p:sldId id="338" r:id="rId18"/>
    <p:sldId id="348" r:id="rId19"/>
    <p:sldId id="349" r:id="rId20"/>
    <p:sldId id="350" r:id="rId21"/>
    <p:sldId id="351" r:id="rId22"/>
    <p:sldId id="321" r:id="rId23"/>
    <p:sldId id="325" r:id="rId24"/>
    <p:sldId id="352" r:id="rId25"/>
    <p:sldId id="324" r:id="rId26"/>
    <p:sldId id="322" r:id="rId27"/>
    <p:sldId id="353" r:id="rId28"/>
    <p:sldId id="347" r:id="rId29"/>
    <p:sldId id="318" r:id="rId30"/>
    <p:sldId id="327" r:id="rId31"/>
    <p:sldId id="339" r:id="rId32"/>
    <p:sldId id="340" r:id="rId33"/>
    <p:sldId id="341" r:id="rId34"/>
    <p:sldId id="342" r:id="rId35"/>
    <p:sldId id="356" r:id="rId36"/>
    <p:sldId id="357" r:id="rId37"/>
    <p:sldId id="319" r:id="rId38"/>
    <p:sldId id="320" r:id="rId39"/>
    <p:sldId id="326" r:id="rId40"/>
    <p:sldId id="358" r:id="rId41"/>
    <p:sldId id="359" r:id="rId42"/>
    <p:sldId id="360" r:id="rId43"/>
    <p:sldId id="361" r:id="rId44"/>
    <p:sldId id="362" r:id="rId45"/>
    <p:sldId id="363" r:id="rId46"/>
    <p:sldId id="346" r:id="rId47"/>
  </p:sldIdLst>
  <p:sldSz cx="9144000" cy="6858000" type="screen4x3"/>
  <p:notesSz cx="6888163" cy="10017125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3" autoAdjust="0"/>
    <p:restoredTop sz="86392" autoAdjust="0"/>
  </p:normalViewPr>
  <p:slideViewPr>
    <p:cSldViewPr>
      <p:cViewPr varScale="1">
        <p:scale>
          <a:sx n="54" d="100"/>
          <a:sy n="54" d="100"/>
        </p:scale>
        <p:origin x="1704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51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51C025-8C60-4500-8607-EBA650BF1A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1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97" tIns="48299" rIns="96597" bIns="48299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B8FC050-BFAE-3F1C-9027-CD5C33E82D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97" tIns="48299" rIns="96597" bIns="48299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D535FE47-65F5-2492-8972-3650BED3E5A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7063"/>
            <a:ext cx="2984500" cy="5000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97" tIns="48299" rIns="96597" bIns="48299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42247FFD-13E5-B6EF-307B-C9F337C61D3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517063"/>
            <a:ext cx="2984500" cy="5000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597" tIns="48299" rIns="96597" bIns="48299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 smtClean="0"/>
            </a:lvl1pPr>
          </a:lstStyle>
          <a:p>
            <a:pPr>
              <a:defRPr/>
            </a:pPr>
            <a:fld id="{035957D2-93C8-468D-99AA-3267F2B30DA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33E6AAF-8BDD-BCB5-E5C3-B7956CB300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51CA80-991B-8253-CE07-C89BD27D11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DFE8185-746D-483F-A60A-D5D19753C17F}" type="datetimeFigureOut">
              <a:rPr lang="pt-BR"/>
              <a:pPr>
                <a:defRPr/>
              </a:pPr>
              <a:t>26/08/2026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ACA1BBF8-AC3E-3805-B623-69660E523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260CC778-9687-3900-1F0D-B9017DDB5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757738"/>
            <a:ext cx="5510213" cy="45085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27BE7C-EF42-1E38-E221-431CA58E44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513888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9B13E9A-420C-BAEF-4F69-DB556576B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02075" y="9513888"/>
            <a:ext cx="2984500" cy="5016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16F9DC8-F3E6-48D3-A966-DD8E4B2F760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Imagem de Slide 1">
            <a:extLst>
              <a:ext uri="{FF2B5EF4-FFF2-40B4-BE49-F238E27FC236}">
                <a16:creationId xmlns:a16="http://schemas.microsoft.com/office/drawing/2014/main" id="{EC3FF751-8184-37A8-2618-16BB042C21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Espaço Reservado para Anotações 2">
            <a:extLst>
              <a:ext uri="{FF2B5EF4-FFF2-40B4-BE49-F238E27FC236}">
                <a16:creationId xmlns:a16="http://schemas.microsoft.com/office/drawing/2014/main" id="{ECCC055B-1811-7475-EC9E-71EA6EB543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9460" name="Espaço Reservado para Número de Slide 3">
            <a:extLst>
              <a:ext uri="{FF2B5EF4-FFF2-40B4-BE49-F238E27FC236}">
                <a16:creationId xmlns:a16="http://schemas.microsoft.com/office/drawing/2014/main" id="{349D2605-373B-CAE8-489C-5DDD37560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5C5841-0447-4EBC-884B-30FDE6A2F425}" type="slidenum">
              <a:rPr lang="pt-BR" altLang="pt-B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14</a:t>
            </a:fld>
            <a:endParaRPr lang="pt-BR" altLang="pt-BR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Imagem de Slide 1">
            <a:extLst>
              <a:ext uri="{FF2B5EF4-FFF2-40B4-BE49-F238E27FC236}">
                <a16:creationId xmlns:a16="http://schemas.microsoft.com/office/drawing/2014/main" id="{20B0AADF-7B8F-A750-04C0-C404C9E2D3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Espaço Reservado para Anotações 2">
            <a:extLst>
              <a:ext uri="{FF2B5EF4-FFF2-40B4-BE49-F238E27FC236}">
                <a16:creationId xmlns:a16="http://schemas.microsoft.com/office/drawing/2014/main" id="{2A40C2EF-6B8B-6CE4-CA6D-DFD9FD0299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0244" name="Espaço Reservado para Número de Slide 3">
            <a:extLst>
              <a:ext uri="{FF2B5EF4-FFF2-40B4-BE49-F238E27FC236}">
                <a16:creationId xmlns:a16="http://schemas.microsoft.com/office/drawing/2014/main" id="{599056F5-6303-57CD-59BE-959E308DE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AB9342-2084-46E4-9AD2-AA4787093719}" type="slidenum">
              <a:rPr lang="pt-BR" altLang="pt-B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21</a:t>
            </a:fld>
            <a:endParaRPr lang="pt-BR" altLang="pt-BR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>
            <a:extLst>
              <a:ext uri="{FF2B5EF4-FFF2-40B4-BE49-F238E27FC236}">
                <a16:creationId xmlns:a16="http://schemas.microsoft.com/office/drawing/2014/main" id="{8996A3FA-BC38-9F4C-11C3-547DD6D897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ço Reservado para Anotações 2">
            <a:extLst>
              <a:ext uri="{FF2B5EF4-FFF2-40B4-BE49-F238E27FC236}">
                <a16:creationId xmlns:a16="http://schemas.microsoft.com/office/drawing/2014/main" id="{142C5FF2-974E-EE8A-0DB6-6E3CEA5650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0724" name="Espaço Reservado para Número de Slide 3">
            <a:extLst>
              <a:ext uri="{FF2B5EF4-FFF2-40B4-BE49-F238E27FC236}">
                <a16:creationId xmlns:a16="http://schemas.microsoft.com/office/drawing/2014/main" id="{7E75AE3F-B80B-9432-9901-3A2B7803E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E92FC4-3AF3-4F9E-9997-7A263366318B}" type="slidenum">
              <a:rPr lang="pt-BR" altLang="pt-B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33</a:t>
            </a:fld>
            <a:endParaRPr lang="pt-BR" altLang="pt-BR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>
            <a:extLst>
              <a:ext uri="{FF2B5EF4-FFF2-40B4-BE49-F238E27FC236}">
                <a16:creationId xmlns:a16="http://schemas.microsoft.com/office/drawing/2014/main" id="{63B10C0C-03DD-7972-2D47-757FE93F0A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ço Reservado para Anotações 2">
            <a:extLst>
              <a:ext uri="{FF2B5EF4-FFF2-40B4-BE49-F238E27FC236}">
                <a16:creationId xmlns:a16="http://schemas.microsoft.com/office/drawing/2014/main" id="{95A9C88A-3F9D-E4BE-958D-0925833E2F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2772" name="Espaço Reservado para Número de Slide 3">
            <a:extLst>
              <a:ext uri="{FF2B5EF4-FFF2-40B4-BE49-F238E27FC236}">
                <a16:creationId xmlns:a16="http://schemas.microsoft.com/office/drawing/2014/main" id="{C404832B-B9AA-C983-3E18-F946A8277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029E3CE-9F11-4B22-B496-444C05CDA179}" type="slidenum">
              <a:rPr lang="pt-BR" altLang="pt-B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34</a:t>
            </a:fld>
            <a:endParaRPr lang="pt-BR" altLang="pt-BR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>
            <a:extLst>
              <a:ext uri="{FF2B5EF4-FFF2-40B4-BE49-F238E27FC236}">
                <a16:creationId xmlns:a16="http://schemas.microsoft.com/office/drawing/2014/main" id="{0BBCA292-D011-727E-0D79-7676949782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>
            <a:extLst>
              <a:ext uri="{FF2B5EF4-FFF2-40B4-BE49-F238E27FC236}">
                <a16:creationId xmlns:a16="http://schemas.microsoft.com/office/drawing/2014/main" id="{6CC3D3FA-941C-CE77-460F-9AD1F674C9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34820" name="Espaço Reservado para Número de Slide 3">
            <a:extLst>
              <a:ext uri="{FF2B5EF4-FFF2-40B4-BE49-F238E27FC236}">
                <a16:creationId xmlns:a16="http://schemas.microsoft.com/office/drawing/2014/main" id="{3743DCDB-6BCC-0AFE-1656-4D83F9E8E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D762CF-8B6E-4738-9032-EA23597BC92A}" type="slidenum">
              <a:rPr lang="pt-BR" altLang="pt-BR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46</a:t>
            </a:fld>
            <a:endParaRPr lang="pt-BR" altLang="pt-BR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D780E6-2875-B6CC-6F7E-6AD7C916B08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0D3BF5F-84B4-DBBB-BB91-78F3E272B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EF43D06-6891-76DA-E351-5715F02BD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9CC8856B-8B5C-6FFB-35D1-1616739152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3325B7B-200E-0B96-5413-DBBF48CB9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54CC36E-0827-64B8-0656-205FD8212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2E2F424-106C-16D7-6E85-23A6DE239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8F7E291-F4A6-3CB4-4FF4-2409B9851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D12749CA-20A9-84CA-6594-86D4FA8E9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A580508-B083-3C1F-CBA7-BAFDAA51B7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FF9D846B-C0CE-EAB0-4F53-48228BE0C7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C5A25B92-782F-1E6A-563A-4748076F96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17C2583-AA7B-21E3-E164-F1ED158858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7A5E5CF-C9CC-4DEC-84EB-341BD4EC11F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6010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8A414DA5-6851-D645-96A8-9A109041CC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997C0E70-C209-F12E-1790-8F61D482F8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0705AFC0-DFE0-C807-FC59-AB6157E5EC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CC40E-E27C-4CEA-B7D4-1FE01310E0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0941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3A707F2-9851-6443-AFDB-2E6E6ABA62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D2F0B176-3760-0DA7-1436-8CDC880DB0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12A383B4-99AA-FB9C-53F2-13F933F6BA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9DC85-AFB8-4B97-9B70-F096153D2D6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9065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FDE279B6-A685-3EDD-A2E5-0778EBE02F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BA327727-215E-8CAD-6DCA-093A7F5C57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D9E2E468-716B-754E-5EC0-AB6628C8B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2F46B-4020-45C8-93B1-128F9B3EB62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1070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0A77ECED-FDE3-B9A6-B674-198F43164A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A9C467D1-B6D5-AC1A-2DCE-BBF0BC1B10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2FC09F5F-535B-D1ED-E0AE-082F358470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42896-45E0-4BDD-B211-F249F6417551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3436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32039321-247C-255A-7057-37D522382C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7E7AA383-C634-EFDD-B193-CD4E96CACF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60FCDCF4-693F-A158-6386-B774806DB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6F5CD-7912-4EEF-80F8-8DA164AA858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8219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62F5EFE2-4463-8B2D-FE9C-529331353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94DB2BCC-ED4F-B0F9-49F5-70AA364959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401614CD-3469-203D-FC56-1732F4058E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2685C-27CF-46AE-AF74-990C1F54B98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049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730DCC34-4FE3-5005-FA38-A53215A67E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DAEA4E33-671C-E5F0-1E34-315D1BDDEA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F9C8FF5B-27A3-C042-4335-74DF191BC7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AB038-79F7-42CA-B1AA-337D726F43B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2076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C3E86DD9-FFA2-AEF5-29A5-2E12CFEDFA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AA9F271F-3F07-160F-F11D-2548904FD1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09D977DD-FDFD-5F7F-8A0F-9689EAB8C3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010B47-4E49-4094-BEE6-8752D994A1B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3334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9927A32-A8EA-047C-2F03-34EAD1DE4B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95B0366A-F89F-72A9-B53F-F5D4B10BDD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CBB6FEA4-AEF4-6B72-BBD4-E79FEB30FE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5281D-5CE2-449C-A74C-EDA68E7E756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799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B580E366-6E4F-3DD1-BE64-3A927E212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7FCCD4C5-9914-BD84-5D53-D01A6D8179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DC9F8EE0-049E-F8E2-442D-958B5FF1DA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0B70A-5271-4DF9-8907-E5499823EFF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8596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FEF04A6A-4622-3505-9615-FA51DAC264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C39E9E5E-B752-3117-A506-776B6C23BD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72B31B74-2BF5-F4D7-B02B-F81A8E0E79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D666C637-9BF6-C5C8-FA4D-B83C8B6FB2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D79E8D31-9E64-FA00-C981-3729D6D6F3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1E0EE048-5475-7AD3-D0B1-2864F59232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9CE09360-ED11-C516-BE48-7F10F61FD06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8EF39D16-06DA-1446-9FEC-8ACB74AFC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66B7249A-F59A-785D-85FC-016CD7265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CC33C9D0-2DE4-A189-0674-76346E308F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6BDD8AB7-CA30-2785-F6A2-D689065D96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28FA17E0-8413-B910-61D6-178456D7BD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07426BE8-8EB3-4EAE-A948-AC98C59E398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9517EA2-2433-CB1C-A825-9BA0DB4B5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09963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pt-BR" sz="66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Lógica de Programação e</a:t>
            </a:r>
            <a:r>
              <a:rPr lang="pt-BR" sz="4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 </a:t>
            </a:r>
            <a:r>
              <a:rPr lang="pt-BR" sz="6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Algoritmos</a:t>
            </a:r>
            <a:endParaRPr lang="pt-BR" sz="4400" b="1" dirty="0">
              <a:effectLst>
                <a:outerShdw blurRad="38100" dist="38100" dir="2700000" algn="tl">
                  <a:srgbClr val="000000"/>
                </a:outerShdw>
              </a:effectLst>
              <a:latin typeface="BookmanITC Lt BT" pitchFamily="18" charset="0"/>
            </a:endParaRPr>
          </a:p>
          <a:p>
            <a:pPr algn="ctr" eaLnBrk="1" hangingPunct="1">
              <a:spcBef>
                <a:spcPct val="50000"/>
              </a:spcBef>
              <a:defRPr/>
            </a:pPr>
            <a:r>
              <a:rPr lang="pt-BR" sz="4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03</a:t>
            </a:r>
          </a:p>
          <a:p>
            <a:pPr algn="ctr" eaLnBrk="1" hangingPunct="1">
              <a:defRPr/>
            </a:pPr>
            <a:endParaRPr lang="pt-BR" altLang="pt-BR" sz="4400" b="1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CADAC20-040D-ECF8-860E-3B55403B0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6419850"/>
            <a:ext cx="5984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1">
            <a:extLst>
              <a:ext uri="{FF2B5EF4-FFF2-40B4-BE49-F238E27FC236}">
                <a16:creationId xmlns:a16="http://schemas.microsoft.com/office/drawing/2014/main" id="{18C9B18D-0080-4DCD-1981-0492E8AB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B372F0-36D9-44C1-9F92-F578338E30B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6147" name="Text Box 1028">
            <a:extLst>
              <a:ext uri="{FF2B5EF4-FFF2-40B4-BE49-F238E27FC236}">
                <a16:creationId xmlns:a16="http://schemas.microsoft.com/office/drawing/2014/main" id="{F1C7C7EC-5C4C-203F-552A-6E25D27CC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Expressões Lógicas</a:t>
            </a:r>
          </a:p>
        </p:txBody>
      </p:sp>
      <p:sp>
        <p:nvSpPr>
          <p:cNvPr id="6148" name="Rectangle 25">
            <a:extLst>
              <a:ext uri="{FF2B5EF4-FFF2-40B4-BE49-F238E27FC236}">
                <a16:creationId xmlns:a16="http://schemas.microsoft.com/office/drawing/2014/main" id="{C9A00C6F-9696-EE1C-F79A-A918FBA8C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133600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4800" b="1">
                <a:latin typeface="Arial Black" panose="020B0A04020102020204" pitchFamily="34" charset="0"/>
                <a:cs typeface="Arial" panose="020B0604020202020204" pitchFamily="34" charset="0"/>
              </a:rPr>
              <a:t>EXPRESSÕES LÓGICAS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4800" b="1">
                <a:latin typeface="Arial Black" panose="020B0A04020102020204" pitchFamily="34" charset="0"/>
                <a:cs typeface="Arial" panose="020B0604020202020204" pitchFamily="34" charset="0"/>
              </a:rPr>
              <a:t>/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4800" b="1">
                <a:latin typeface="Arial Black" panose="020B0A04020102020204" pitchFamily="34" charset="0"/>
                <a:cs typeface="Arial" panose="020B0604020202020204" pitchFamily="34" charset="0"/>
              </a:rPr>
              <a:t>OPERADORES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4800" b="1">
                <a:latin typeface="Arial Black" panose="020B0A04020102020204" pitchFamily="34" charset="0"/>
                <a:cs typeface="Arial" panose="020B0604020202020204" pitchFamily="34" charset="0"/>
              </a:rPr>
              <a:t>RELACIONAIS E LÓGICOS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>
            <a:extLst>
              <a:ext uri="{FF2B5EF4-FFF2-40B4-BE49-F238E27FC236}">
                <a16:creationId xmlns:a16="http://schemas.microsoft.com/office/drawing/2014/main" id="{A9A1CD44-2A2E-2474-231D-3957216DC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>
              <a:spcBef>
                <a:spcPct val="0"/>
              </a:spcBef>
              <a:buClrTx/>
              <a:buFontTx/>
              <a:buNone/>
            </a:pPr>
            <a:r>
              <a:rPr lang="en-US" altLang="pt-BR" sz="36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É comum nos algoritmos surgirem situações em que a execução de uma ação, ou sequência de ações, esteja sujeita a uma certa condição. Esta condição é representada no texto do algoritmo por meio de uma </a:t>
            </a:r>
            <a:r>
              <a:rPr lang="en-US" altLang="pt-BR" sz="3600" b="1" i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expressão lógica</a:t>
            </a:r>
            <a:r>
              <a:rPr lang="en-US" altLang="pt-BR" sz="36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171" name="Espaço Reservado para Número de Slide 1">
            <a:extLst>
              <a:ext uri="{FF2B5EF4-FFF2-40B4-BE49-F238E27FC236}">
                <a16:creationId xmlns:a16="http://schemas.microsoft.com/office/drawing/2014/main" id="{3ABE7B8A-B3F2-AE4A-59F2-2D4E0BAA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DAC45E-441F-4F43-B2D6-2DC657C0ED6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  <p:sp>
        <p:nvSpPr>
          <p:cNvPr id="7172" name="Text Box 1028">
            <a:extLst>
              <a:ext uri="{FF2B5EF4-FFF2-40B4-BE49-F238E27FC236}">
                <a16:creationId xmlns:a16="http://schemas.microsoft.com/office/drawing/2014/main" id="{5518727A-B3DF-FC0E-E6A4-BD26DDD7D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Expressões Lógicas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>
            <a:extLst>
              <a:ext uri="{FF2B5EF4-FFF2-40B4-BE49-F238E27FC236}">
                <a16:creationId xmlns:a16="http://schemas.microsoft.com/office/drawing/2014/main" id="{15884494-8F55-0FFB-0B65-514D6C984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Uma relação é uma comparação realizada entre valores do mesmo tipo, e portanto, os operadores relacionais são utilizados para comparar dados do mesmo tipo. Os valores a serem comparados podem ser constantes, variáveis ou expressões aritméticas.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Espaço Reservado para Número de Slide 1">
            <a:extLst>
              <a:ext uri="{FF2B5EF4-FFF2-40B4-BE49-F238E27FC236}">
                <a16:creationId xmlns:a16="http://schemas.microsoft.com/office/drawing/2014/main" id="{8C40CC5A-C2D5-4E3D-C1C9-217E9C34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FA1390-2F56-4257-91F4-C9AA10AB60C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8196" name="Text Box 1028">
            <a:extLst>
              <a:ext uri="{FF2B5EF4-FFF2-40B4-BE49-F238E27FC236}">
                <a16:creationId xmlns:a16="http://schemas.microsoft.com/office/drawing/2014/main" id="{0105C5BC-B1DD-D675-0296-CD70A83E1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Operadores Relacionais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>
            <a:extLst>
              <a:ext uri="{FF2B5EF4-FFF2-40B4-BE49-F238E27FC236}">
                <a16:creationId xmlns:a16="http://schemas.microsoft.com/office/drawing/2014/main" id="{4A88CDE0-9B59-1E11-41D9-93BCC5F06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Os resultados obtidos dos operadores relacionais são sempre valores lógicos (VERDADEIRO ou FALSO).</a:t>
            </a:r>
          </a:p>
        </p:txBody>
      </p:sp>
      <p:sp>
        <p:nvSpPr>
          <p:cNvPr id="9219" name="Espaço Reservado para Número de Slide 1">
            <a:extLst>
              <a:ext uri="{FF2B5EF4-FFF2-40B4-BE49-F238E27FC236}">
                <a16:creationId xmlns:a16="http://schemas.microsoft.com/office/drawing/2014/main" id="{95174650-A083-D68A-9104-0611873E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DC74CF-DDC7-4192-A2BA-D4C40636B80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9220" name="Text Box 1028">
            <a:extLst>
              <a:ext uri="{FF2B5EF4-FFF2-40B4-BE49-F238E27FC236}">
                <a16:creationId xmlns:a16="http://schemas.microsoft.com/office/drawing/2014/main" id="{FB9783CF-4222-E889-D4C7-349F8C9F7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Operadores Relacionais</a:t>
            </a:r>
          </a:p>
        </p:txBody>
      </p:sp>
      <p:pic>
        <p:nvPicPr>
          <p:cNvPr id="9221" name="Picture 5">
            <a:extLst>
              <a:ext uri="{FF2B5EF4-FFF2-40B4-BE49-F238E27FC236}">
                <a16:creationId xmlns:a16="http://schemas.microsoft.com/office/drawing/2014/main" id="{0DF88166-529D-F753-2EAF-04167B936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3962400"/>
            <a:ext cx="4991100" cy="249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>
            <a:extLst>
              <a:ext uri="{FF2B5EF4-FFF2-40B4-BE49-F238E27FC236}">
                <a16:creationId xmlns:a16="http://schemas.microsoft.com/office/drawing/2014/main" id="{857486B8-9462-B506-4B72-1E2F729E3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Exemplos: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2 + 5 &gt; 4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Verdadeiro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3 ≠ 3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Falso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2 * 4 = 24/3 ... 8 = 8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Verdadeiro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15 % 4 &lt; 19 % 6 ... 3 &lt; 1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Falso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3 * 5 / 4 ≤ 3^2/0,5 ... 15 / 4 ≤ 9/0,5 ...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3 ≤ 18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Verdadeiro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2 + 8 % 7 ≥ 3 * 6 – 15 ... 2 + 1 ≥ 18 – 15 ...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3 ≥ 3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Verdadeiro</a:t>
            </a:r>
          </a:p>
        </p:txBody>
      </p:sp>
      <p:sp>
        <p:nvSpPr>
          <p:cNvPr id="10243" name="Espaço Reservado para Número de Slide 1">
            <a:extLst>
              <a:ext uri="{FF2B5EF4-FFF2-40B4-BE49-F238E27FC236}">
                <a16:creationId xmlns:a16="http://schemas.microsoft.com/office/drawing/2014/main" id="{D4172987-4A93-972D-231B-B63203BF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CDE08F-9242-4A50-96CB-E3B051F6693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10244" name="Text Box 1028">
            <a:extLst>
              <a:ext uri="{FF2B5EF4-FFF2-40B4-BE49-F238E27FC236}">
                <a16:creationId xmlns:a16="http://schemas.microsoft.com/office/drawing/2014/main" id="{8527A2BB-3014-BF53-7B32-A2474D810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Operadores Relacionais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>
            <a:extLst>
              <a:ext uri="{FF2B5EF4-FFF2-40B4-BE49-F238E27FC236}">
                <a16:creationId xmlns:a16="http://schemas.microsoft.com/office/drawing/2014/main" id="{0282D4DF-7FA4-F13A-C6AF-FCB979337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Os operadores lógicos são utilizados para combinar resultados de expressões, retornando umresultado final: VERDADEIRO (TRUE) ou FALSO (FALSE).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53F78776-EF63-ED70-3408-0F578623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DB9F50-FD11-4AF9-AE61-98BEEDF0C7A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11268" name="Text Box 1028">
            <a:extLst>
              <a:ext uri="{FF2B5EF4-FFF2-40B4-BE49-F238E27FC236}">
                <a16:creationId xmlns:a16="http://schemas.microsoft.com/office/drawing/2014/main" id="{37208DCF-6680-F72B-26E6-8C1ECF7ED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Operadores Lógicos</a:t>
            </a:r>
          </a:p>
        </p:txBody>
      </p:sp>
      <p:pic>
        <p:nvPicPr>
          <p:cNvPr id="11269" name="Picture 9">
            <a:extLst>
              <a:ext uri="{FF2B5EF4-FFF2-40B4-BE49-F238E27FC236}">
                <a16:creationId xmlns:a16="http://schemas.microsoft.com/office/drawing/2014/main" id="{EC53C72B-B950-5EFA-EABF-767C1A8C1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8" t="47726" r="27621" b="36116"/>
          <a:stretch>
            <a:fillRect/>
          </a:stretch>
        </p:blipFill>
        <p:spPr bwMode="auto">
          <a:xfrm>
            <a:off x="323850" y="4724400"/>
            <a:ext cx="84963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27628" t="47726" r="27621" b="36116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>
            <a:extLst>
              <a:ext uri="{FF2B5EF4-FFF2-40B4-BE49-F238E27FC236}">
                <a16:creationId xmlns:a16="http://schemas.microsoft.com/office/drawing/2014/main" id="{3860727F-1BCA-7B2B-943B-5623638F0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Exemplos: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Dados X = 2, Y = 5, Z = 9, nome=“Maria” e Vlog = F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pt-BR" sz="2800" b="1">
              <a:solidFill>
                <a:srgbClr val="0D0D0D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Obter os resultados das expressões lógicas a seguir: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pt-BR" sz="2800" b="1">
              <a:solidFill>
                <a:srgbClr val="0D0D0D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X + Y &gt; Z </a:t>
            </a:r>
            <a:r>
              <a:rPr lang="en-US" altLang="pt-BR" sz="2800" b="1" u="sng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nome = "MARIA“  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en-US" altLang="pt-BR" sz="2800" b="1">
                <a:solidFill>
                  <a:srgbClr val="0D0D0D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</a:t>
            </a:r>
            <a:endParaRPr lang="en-US" altLang="pt-BR" sz="2800" b="1">
              <a:solidFill>
                <a:srgbClr val="0D0D0D"/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Vlog </a:t>
            </a:r>
            <a:r>
              <a:rPr lang="en-US" altLang="pt-BR" sz="2800" b="1" u="sng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ou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Y &gt; X  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en-US" altLang="pt-BR" sz="2800" b="1">
                <a:solidFill>
                  <a:srgbClr val="0D0D0D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 </a:t>
            </a:r>
            <a:endParaRPr lang="en-US" altLang="pt-BR" sz="2800" b="1">
              <a:solidFill>
                <a:srgbClr val="0D0D0D"/>
              </a:solidFill>
              <a:latin typeface="Arial Black" panose="020B0A040201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nome = "JORGE"  </a:t>
            </a:r>
            <a:r>
              <a:rPr lang="en-US" altLang="pt-BR" sz="2800" b="1" u="sng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VLog  </a:t>
            </a:r>
            <a:r>
              <a:rPr lang="en-US" altLang="pt-BR" sz="2800" b="1" u="sng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ou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X</a:t>
            </a:r>
            <a:r>
              <a:rPr lang="en-US" altLang="pt-BR" sz="2800" b="1" baseline="33000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&lt; Z + 10  </a:t>
            </a:r>
            <a:r>
              <a:rPr lang="en-US" altLang="pt-BR" sz="2800" b="1">
                <a:solidFill>
                  <a:srgbClr val="0D0D0D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</a:t>
            </a:r>
            <a:r>
              <a:rPr lang="en-US" altLang="pt-BR" sz="2800" b="1">
                <a:solidFill>
                  <a:srgbClr val="0D0D0D"/>
                </a:solidFill>
                <a:latin typeface="Arial Black" panose="020B0A04020102020204" pitchFamily="34" charset="0"/>
                <a:ea typeface="Verdana" panose="020B060403050404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</a:t>
            </a:r>
            <a:endParaRPr lang="pt-BR" altLang="pt-BR" sz="2800" b="1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Espaço Reservado para Número de Slide 1">
            <a:extLst>
              <a:ext uri="{FF2B5EF4-FFF2-40B4-BE49-F238E27FC236}">
                <a16:creationId xmlns:a16="http://schemas.microsoft.com/office/drawing/2014/main" id="{FE8BE1D9-9903-CABD-4DBB-8ECFE5805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55E5F5-405A-45BC-B33B-7A404E01AFD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12292" name="Text Box 1028">
            <a:extLst>
              <a:ext uri="{FF2B5EF4-FFF2-40B4-BE49-F238E27FC236}">
                <a16:creationId xmlns:a16="http://schemas.microsoft.com/office/drawing/2014/main" id="{6D85C42D-DBD5-793D-0692-A7195A19F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Operadores Lógicos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1">
            <a:extLst>
              <a:ext uri="{FF2B5EF4-FFF2-40B4-BE49-F238E27FC236}">
                <a16:creationId xmlns:a16="http://schemas.microsoft.com/office/drawing/2014/main" id="{B6B089F9-2530-8CCB-8E86-85A48E71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9CAD54-B8E6-41B3-87EC-39D6744E9EA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13315" name="Text Box 1028">
            <a:extLst>
              <a:ext uri="{FF2B5EF4-FFF2-40B4-BE49-F238E27FC236}">
                <a16:creationId xmlns:a16="http://schemas.microsoft.com/office/drawing/2014/main" id="{77C953CC-0725-AF74-7FE2-AC381F61C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13316" name="Rectangle 25">
            <a:extLst>
              <a:ext uri="{FF2B5EF4-FFF2-40B4-BE49-F238E27FC236}">
                <a16:creationId xmlns:a16="http://schemas.microsoft.com/office/drawing/2014/main" id="{53668456-38BE-369D-B130-5A390AC89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ESTRUTURA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CONDICIONAL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SIMPLES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1">
            <a:extLst>
              <a:ext uri="{FF2B5EF4-FFF2-40B4-BE49-F238E27FC236}">
                <a16:creationId xmlns:a16="http://schemas.microsoft.com/office/drawing/2014/main" id="{B14C8A9B-AF95-0EFC-0293-6C5233F2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184900"/>
            <a:ext cx="1905000" cy="6080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F794DC-7C53-4442-87AD-B443763B842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14339" name="Text Box 1028">
            <a:extLst>
              <a:ext uri="{FF2B5EF4-FFF2-40B4-BE49-F238E27FC236}">
                <a16:creationId xmlns:a16="http://schemas.microsoft.com/office/drawing/2014/main" id="{98FCC1FA-3F96-9429-56B8-09B062DE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" y="404813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Comando Condicional Simples</a:t>
            </a:r>
          </a:p>
        </p:txBody>
      </p:sp>
      <p:sp>
        <p:nvSpPr>
          <p:cNvPr id="14340" name="Losango 1">
            <a:extLst>
              <a:ext uri="{FF2B5EF4-FFF2-40B4-BE49-F238E27FC236}">
                <a16:creationId xmlns:a16="http://schemas.microsoft.com/office/drawing/2014/main" id="{D7925546-531D-2B44-D1FE-5440004BC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163" y="2049463"/>
            <a:ext cx="1873250" cy="1341437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sp>
        <p:nvSpPr>
          <p:cNvPr id="14341" name="Retângulo 2">
            <a:extLst>
              <a:ext uri="{FF2B5EF4-FFF2-40B4-BE49-F238E27FC236}">
                <a16:creationId xmlns:a16="http://schemas.microsoft.com/office/drawing/2014/main" id="{F9ED7DCF-FE35-48C7-B395-81BC84B27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3608388"/>
            <a:ext cx="1871662" cy="9588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sp>
        <p:nvSpPr>
          <p:cNvPr id="4" name="Lágrima 3">
            <a:extLst>
              <a:ext uri="{FF2B5EF4-FFF2-40B4-BE49-F238E27FC236}">
                <a16:creationId xmlns:a16="http://schemas.microsoft.com/office/drawing/2014/main" id="{6CA10C53-6787-9928-0536-43E92C96D9B2}"/>
              </a:ext>
            </a:extLst>
          </p:cNvPr>
          <p:cNvSpPr/>
          <p:nvPr/>
        </p:nvSpPr>
        <p:spPr bwMode="auto">
          <a:xfrm>
            <a:off x="3798888" y="4656138"/>
            <a:ext cx="360362" cy="642937"/>
          </a:xfrm>
          <a:prstGeom prst="teardrop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pt-BR"/>
          </a:p>
        </p:txBody>
      </p:sp>
      <p:cxnSp>
        <p:nvCxnSpPr>
          <p:cNvPr id="14343" name="Conector reto 7">
            <a:extLst>
              <a:ext uri="{FF2B5EF4-FFF2-40B4-BE49-F238E27FC236}">
                <a16:creationId xmlns:a16="http://schemas.microsoft.com/office/drawing/2014/main" id="{33433279-6C28-E23D-9FB3-0A5D4FB68C0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54650" y="2720975"/>
            <a:ext cx="0" cy="887413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44" name="Conector reto 9">
            <a:extLst>
              <a:ext uri="{FF2B5EF4-FFF2-40B4-BE49-F238E27FC236}">
                <a16:creationId xmlns:a16="http://schemas.microsoft.com/office/drawing/2014/main" id="{50454255-2B90-76AA-B88B-79D51A9EF8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54650" y="4567238"/>
            <a:ext cx="0" cy="411162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45" name="Conector reto 11">
            <a:extLst>
              <a:ext uri="{FF2B5EF4-FFF2-40B4-BE49-F238E27FC236}">
                <a16:creationId xmlns:a16="http://schemas.microsoft.com/office/drawing/2014/main" id="{5973A6EA-6022-BB51-AFE2-26C265BCD185}"/>
              </a:ext>
            </a:extLst>
          </p:cNvPr>
          <p:cNvCxnSpPr>
            <a:cxnSpLocks noChangeShapeType="1"/>
            <a:stCxn id="4" idx="0"/>
          </p:cNvCxnSpPr>
          <p:nvPr/>
        </p:nvCxnSpPr>
        <p:spPr bwMode="auto">
          <a:xfrm>
            <a:off x="4159250" y="4978400"/>
            <a:ext cx="1295400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46" name="Conector reto 14">
            <a:extLst>
              <a:ext uri="{FF2B5EF4-FFF2-40B4-BE49-F238E27FC236}">
                <a16:creationId xmlns:a16="http://schemas.microsoft.com/office/drawing/2014/main" id="{BE2C052D-F565-6A7A-927D-FB823D212995}"/>
              </a:ext>
            </a:extLst>
          </p:cNvPr>
          <p:cNvCxnSpPr>
            <a:cxnSpLocks noChangeShapeType="1"/>
            <a:stCxn id="14340" idx="3"/>
          </p:cNvCxnSpPr>
          <p:nvPr/>
        </p:nvCxnSpPr>
        <p:spPr bwMode="auto">
          <a:xfrm>
            <a:off x="4951413" y="2720975"/>
            <a:ext cx="503237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47" name="Conector reto 18">
            <a:extLst>
              <a:ext uri="{FF2B5EF4-FFF2-40B4-BE49-F238E27FC236}">
                <a16:creationId xmlns:a16="http://schemas.microsoft.com/office/drawing/2014/main" id="{ABDFA409-C6F0-27B8-88D8-EA09EE93E9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46363" y="2720975"/>
            <a:ext cx="5048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48" name="Conector reto 16">
            <a:extLst>
              <a:ext uri="{FF2B5EF4-FFF2-40B4-BE49-F238E27FC236}">
                <a16:creationId xmlns:a16="http://schemas.microsoft.com/office/drawing/2014/main" id="{A4292482-CFDB-5D3F-8822-585FBD6531A0}"/>
              </a:ext>
            </a:extLst>
          </p:cNvPr>
          <p:cNvCxnSpPr>
            <a:cxnSpLocks noChangeShapeType="1"/>
            <a:stCxn id="4" idx="4"/>
          </p:cNvCxnSpPr>
          <p:nvPr/>
        </p:nvCxnSpPr>
        <p:spPr bwMode="auto">
          <a:xfrm flipH="1">
            <a:off x="2646363" y="4978400"/>
            <a:ext cx="11525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49" name="Conector reto 19">
            <a:extLst>
              <a:ext uri="{FF2B5EF4-FFF2-40B4-BE49-F238E27FC236}">
                <a16:creationId xmlns:a16="http://schemas.microsoft.com/office/drawing/2014/main" id="{344B36D4-570C-8143-9399-FC83C284982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46363" y="2720975"/>
            <a:ext cx="0" cy="2257425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0" name="Conector reto 21">
            <a:extLst>
              <a:ext uri="{FF2B5EF4-FFF2-40B4-BE49-F238E27FC236}">
                <a16:creationId xmlns:a16="http://schemas.microsoft.com/office/drawing/2014/main" id="{A24D3A55-4531-5856-9918-BBA327726DEB}"/>
              </a:ext>
            </a:extLst>
          </p:cNvPr>
          <p:cNvCxnSpPr>
            <a:cxnSpLocks noChangeShapeType="1"/>
            <a:stCxn id="14340" idx="0"/>
          </p:cNvCxnSpPr>
          <p:nvPr/>
        </p:nvCxnSpPr>
        <p:spPr bwMode="auto">
          <a:xfrm flipV="1">
            <a:off x="4014788" y="1989138"/>
            <a:ext cx="0" cy="5715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351" name="CaixaDeTexto 22">
            <a:extLst>
              <a:ext uri="{FF2B5EF4-FFF2-40B4-BE49-F238E27FC236}">
                <a16:creationId xmlns:a16="http://schemas.microsoft.com/office/drawing/2014/main" id="{64CFC163-33F8-9A5A-139E-4A64F62DB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988" y="2184400"/>
            <a:ext cx="92710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Salario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  &lt;=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750.00</a:t>
            </a:r>
          </a:p>
        </p:txBody>
      </p:sp>
      <p:sp>
        <p:nvSpPr>
          <p:cNvPr id="14352" name="CaixaDeTexto 42">
            <a:extLst>
              <a:ext uri="{FF2B5EF4-FFF2-40B4-BE49-F238E27FC236}">
                <a16:creationId xmlns:a16="http://schemas.microsoft.com/office/drawing/2014/main" id="{9F1F7627-348B-E1F1-3EB2-49E49372D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025" y="3551238"/>
            <a:ext cx="1441450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    salario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          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salario * 1.10</a:t>
            </a:r>
          </a:p>
        </p:txBody>
      </p:sp>
      <p:sp>
        <p:nvSpPr>
          <p:cNvPr id="14353" name="CaixaDeTexto 46">
            <a:extLst>
              <a:ext uri="{FF2B5EF4-FFF2-40B4-BE49-F238E27FC236}">
                <a16:creationId xmlns:a16="http://schemas.microsoft.com/office/drawing/2014/main" id="{27092B45-3D5E-0DA4-BE94-EC3EA3131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2293938"/>
            <a:ext cx="355600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000" b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14354" name="CaixaDeTexto 48">
            <a:extLst>
              <a:ext uri="{FF2B5EF4-FFF2-40B4-BE49-F238E27FC236}">
                <a16:creationId xmlns:a16="http://schemas.microsoft.com/office/drawing/2014/main" id="{B820D5F1-7A52-59C9-02AE-F7BE0C3D5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1625" y="2293938"/>
            <a:ext cx="369888" cy="53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000" b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4355" name="Retângulo 23">
            <a:extLst>
              <a:ext uri="{FF2B5EF4-FFF2-40B4-BE49-F238E27FC236}">
                <a16:creationId xmlns:a16="http://schemas.microsoft.com/office/drawing/2014/main" id="{63AEDDB1-6313-0078-AFFF-FB99201D7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5472113"/>
            <a:ext cx="42640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/>
              <a:t>se salario &lt;= 750.00 então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/>
              <a:t>   salario&lt;-salario*1.10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/>
              <a:t>fimse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>
            <a:extLst>
              <a:ext uri="{FF2B5EF4-FFF2-40B4-BE49-F238E27FC236}">
                <a16:creationId xmlns:a16="http://schemas.microsoft.com/office/drawing/2014/main" id="{A7F3F92B-64E1-7EFC-D4F9-D7720E1B6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Escrever um algoritmo </a:t>
            </a:r>
            <a:r>
              <a:rPr lang="pt-BR" altLang="pt-BR" sz="4000" b="1"/>
              <a:t>que receba um número e mostre se é par.</a:t>
            </a:r>
          </a:p>
        </p:txBody>
      </p:sp>
      <p:sp>
        <p:nvSpPr>
          <p:cNvPr id="15363" name="Espaço Reservado para Número de Slide 1">
            <a:extLst>
              <a:ext uri="{FF2B5EF4-FFF2-40B4-BE49-F238E27FC236}">
                <a16:creationId xmlns:a16="http://schemas.microsoft.com/office/drawing/2014/main" id="{0A392841-2831-83F7-7462-552534D8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C4722D-DD5B-4721-9653-9F4F639A150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15364" name="Text Box 1028">
            <a:extLst>
              <a:ext uri="{FF2B5EF4-FFF2-40B4-BE49-F238E27FC236}">
                <a16:creationId xmlns:a16="http://schemas.microsoft.com/office/drawing/2014/main" id="{D350E91A-0CDF-C61F-2DEC-4F5A56C0D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>
            <a:extLst>
              <a:ext uri="{FF2B5EF4-FFF2-40B4-BE49-F238E27FC236}">
                <a16:creationId xmlns:a16="http://schemas.microsoft.com/office/drawing/2014/main" id="{65580636-9B19-D5EF-089C-1C3645C94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49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// Função: Verifica se o número informado é par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// Autor: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// Data: Agosto/;2022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algoritmo "Exemplo09"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var  numero : inteiro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inicio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escreval("&lt;&gt;&lt;&gt;&lt;&gt;&lt;&gt;&lt;&gt; PROGRAMA PARA VERIFICAR SE O NÚMERO É PAR &lt;&gt;&lt;&gt;&lt;&gt;&lt;&gt;&lt;&gt;")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escreval(" 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escreva("Digite um núumero: 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leia(numero)</a:t>
            </a:r>
          </a:p>
        </p:txBody>
      </p:sp>
      <p:sp>
        <p:nvSpPr>
          <p:cNvPr id="16387" name="Espaço Reservado para Número de Slide 1">
            <a:extLst>
              <a:ext uri="{FF2B5EF4-FFF2-40B4-BE49-F238E27FC236}">
                <a16:creationId xmlns:a16="http://schemas.microsoft.com/office/drawing/2014/main" id="{D6ECCA19-5989-C3A2-464B-B12EC9DB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26E794-70F0-4C5C-AE9E-28BC8B5B025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16388" name="Text Box 1028">
            <a:extLst>
              <a:ext uri="{FF2B5EF4-FFF2-40B4-BE49-F238E27FC236}">
                <a16:creationId xmlns:a16="http://schemas.microsoft.com/office/drawing/2014/main" id="{06FF1EF2-0F54-A12D-08E1-6C9BA942C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>
            <a:extLst>
              <a:ext uri="{FF2B5EF4-FFF2-40B4-BE49-F238E27FC236}">
                <a16:creationId xmlns:a16="http://schemas.microsoft.com/office/drawing/2014/main" id="{040867B2-FA71-C1A7-5FA4-6DCDA5E8C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escreval(“ “)</a:t>
            </a:r>
            <a:endParaRPr lang="pt-BR" altLang="pt-BR" sz="26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se(numero mod 2 = 0) entao</a:t>
            </a:r>
            <a:endParaRPr lang="pt-BR" altLang="pt-BR" sz="26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      escreval("O número: “,numero, “ é PAR")</a:t>
            </a:r>
            <a:endParaRPr lang="pt-BR" altLang="pt-BR" sz="26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   fimse</a:t>
            </a:r>
            <a:endParaRPr lang="pt-BR" altLang="pt-BR" sz="26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600" b="1"/>
              <a:t>fimalgoritmo</a:t>
            </a:r>
            <a:endParaRPr lang="pt-BR" altLang="pt-BR" sz="2600"/>
          </a:p>
        </p:txBody>
      </p:sp>
      <p:sp>
        <p:nvSpPr>
          <p:cNvPr id="17411" name="Espaço Reservado para Número de Slide 1">
            <a:extLst>
              <a:ext uri="{FF2B5EF4-FFF2-40B4-BE49-F238E27FC236}">
                <a16:creationId xmlns:a16="http://schemas.microsoft.com/office/drawing/2014/main" id="{E9A5047B-BC9B-A029-278B-11276B2B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2500BF-BE7A-48B0-8D26-02445CC3DD9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17412" name="Text Box 1028">
            <a:extLst>
              <a:ext uri="{FF2B5EF4-FFF2-40B4-BE49-F238E27FC236}">
                <a16:creationId xmlns:a16="http://schemas.microsoft.com/office/drawing/2014/main" id="{11FA02ED-9723-9A21-4AB8-ECC40D4F9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09</a:t>
            </a:r>
          </a:p>
        </p:txBody>
      </p:sp>
      <p:grpSp>
        <p:nvGrpSpPr>
          <p:cNvPr id="17413" name="Grupo 3">
            <a:extLst>
              <a:ext uri="{FF2B5EF4-FFF2-40B4-BE49-F238E27FC236}">
                <a16:creationId xmlns:a16="http://schemas.microsoft.com/office/drawing/2014/main" id="{651C4738-AA8C-CCD5-D747-DF72076CCC2D}"/>
              </a:ext>
            </a:extLst>
          </p:cNvPr>
          <p:cNvGrpSpPr>
            <a:grpSpLocks/>
          </p:cNvGrpSpPr>
          <p:nvPr/>
        </p:nvGrpSpPr>
        <p:grpSpPr bwMode="auto">
          <a:xfrm>
            <a:off x="6192838" y="3586163"/>
            <a:ext cx="2339975" cy="2579687"/>
            <a:chOff x="5220072" y="2924944"/>
            <a:chExt cx="3671887" cy="3309937"/>
          </a:xfrm>
        </p:grpSpPr>
        <p:sp>
          <p:nvSpPr>
            <p:cNvPr id="17414" name="Losango 1">
              <a:extLst>
                <a:ext uri="{FF2B5EF4-FFF2-40B4-BE49-F238E27FC236}">
                  <a16:creationId xmlns:a16="http://schemas.microsoft.com/office/drawing/2014/main" id="{F8B54A3C-3659-1FF7-C708-8B2CEDAD7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872" y="2985269"/>
              <a:ext cx="1873250" cy="1341437"/>
            </a:xfrm>
            <a:prstGeom prst="diamond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sp>
          <p:nvSpPr>
            <p:cNvPr id="17415" name="Retângulo 2">
              <a:extLst>
                <a:ext uri="{FF2B5EF4-FFF2-40B4-BE49-F238E27FC236}">
                  <a16:creationId xmlns:a16="http://schemas.microsoft.com/office/drawing/2014/main" id="{6CF26AC0-852A-4F69-C7D2-D83F7067F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297" y="4544194"/>
              <a:ext cx="1871662" cy="95885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sp>
          <p:nvSpPr>
            <p:cNvPr id="7" name="Lágrima 6">
              <a:extLst>
                <a:ext uri="{FF2B5EF4-FFF2-40B4-BE49-F238E27FC236}">
                  <a16:creationId xmlns:a16="http://schemas.microsoft.com/office/drawing/2014/main" id="{6E1E31F1-CB63-0DCA-5095-335942348442}"/>
                </a:ext>
              </a:extLst>
            </p:cNvPr>
            <p:cNvSpPr/>
            <p:nvPr/>
          </p:nvSpPr>
          <p:spPr bwMode="auto">
            <a:xfrm>
              <a:off x="6373452" y="5591225"/>
              <a:ext cx="358719" cy="643656"/>
            </a:xfrm>
            <a:prstGeom prst="teardrop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pt-BR"/>
            </a:p>
          </p:txBody>
        </p:sp>
        <p:cxnSp>
          <p:nvCxnSpPr>
            <p:cNvPr id="17417" name="Conector reto 7">
              <a:extLst>
                <a:ext uri="{FF2B5EF4-FFF2-40B4-BE49-F238E27FC236}">
                  <a16:creationId xmlns:a16="http://schemas.microsoft.com/office/drawing/2014/main" id="{F08EF7BE-F6A2-51FE-EF0F-CAF3261602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28359" y="3656781"/>
              <a:ext cx="0" cy="887413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18" name="Conector reto 9">
              <a:extLst>
                <a:ext uri="{FF2B5EF4-FFF2-40B4-BE49-F238E27FC236}">
                  <a16:creationId xmlns:a16="http://schemas.microsoft.com/office/drawing/2014/main" id="{42B88EF5-3591-6D02-9A77-1C0DC20393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28359" y="5503044"/>
              <a:ext cx="0" cy="41116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19" name="Conector reto 11">
              <a:extLst>
                <a:ext uri="{FF2B5EF4-FFF2-40B4-BE49-F238E27FC236}">
                  <a16:creationId xmlns:a16="http://schemas.microsoft.com/office/drawing/2014/main" id="{7A9824CE-095E-F52A-8B42-994C72876DEB}"/>
                </a:ext>
              </a:extLst>
            </p:cNvPr>
            <p:cNvCxnSpPr>
              <a:cxnSpLocks noChangeShapeType="1"/>
              <a:stCxn id="7" idx="0"/>
            </p:cNvCxnSpPr>
            <p:nvPr/>
          </p:nvCxnSpPr>
          <p:spPr bwMode="auto">
            <a:xfrm>
              <a:off x="6732959" y="5914206"/>
              <a:ext cx="1295400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20" name="Conector reto 14">
              <a:extLst>
                <a:ext uri="{FF2B5EF4-FFF2-40B4-BE49-F238E27FC236}">
                  <a16:creationId xmlns:a16="http://schemas.microsoft.com/office/drawing/2014/main" id="{FE3DA6C9-C808-BFDC-2277-D8771339CF52}"/>
                </a:ext>
              </a:extLst>
            </p:cNvPr>
            <p:cNvCxnSpPr>
              <a:cxnSpLocks noChangeShapeType="1"/>
              <a:stCxn id="17414" idx="3"/>
            </p:cNvCxnSpPr>
            <p:nvPr/>
          </p:nvCxnSpPr>
          <p:spPr bwMode="auto">
            <a:xfrm>
              <a:off x="7525122" y="3656781"/>
              <a:ext cx="503237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21" name="Conector reto 18">
              <a:extLst>
                <a:ext uri="{FF2B5EF4-FFF2-40B4-BE49-F238E27FC236}">
                  <a16:creationId xmlns:a16="http://schemas.microsoft.com/office/drawing/2014/main" id="{257C0C89-8331-7341-D65D-557CD1A9FB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20072" y="3656781"/>
              <a:ext cx="504825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22" name="Conector reto 16">
              <a:extLst>
                <a:ext uri="{FF2B5EF4-FFF2-40B4-BE49-F238E27FC236}">
                  <a16:creationId xmlns:a16="http://schemas.microsoft.com/office/drawing/2014/main" id="{47D36749-F55D-1EAA-040B-D36C35119D72}"/>
                </a:ext>
              </a:extLst>
            </p:cNvPr>
            <p:cNvCxnSpPr>
              <a:cxnSpLocks noChangeShapeType="1"/>
              <a:stCxn id="7" idx="4"/>
            </p:cNvCxnSpPr>
            <p:nvPr/>
          </p:nvCxnSpPr>
          <p:spPr bwMode="auto">
            <a:xfrm flipH="1">
              <a:off x="5220072" y="5914206"/>
              <a:ext cx="1152525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23" name="Conector reto 19">
              <a:extLst>
                <a:ext uri="{FF2B5EF4-FFF2-40B4-BE49-F238E27FC236}">
                  <a16:creationId xmlns:a16="http://schemas.microsoft.com/office/drawing/2014/main" id="{962C51F5-D160-CBA5-FA4C-970F3E41E9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20072" y="3656781"/>
              <a:ext cx="0" cy="2257425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424" name="Conector reto 21">
              <a:extLst>
                <a:ext uri="{FF2B5EF4-FFF2-40B4-BE49-F238E27FC236}">
                  <a16:creationId xmlns:a16="http://schemas.microsoft.com/office/drawing/2014/main" id="{7B9C1E47-0DC1-193D-93A1-107B3122BCFF}"/>
                </a:ext>
              </a:extLst>
            </p:cNvPr>
            <p:cNvCxnSpPr>
              <a:cxnSpLocks noChangeShapeType="1"/>
              <a:stCxn id="17414" idx="0"/>
            </p:cNvCxnSpPr>
            <p:nvPr/>
          </p:nvCxnSpPr>
          <p:spPr bwMode="auto">
            <a:xfrm flipV="1">
              <a:off x="6588497" y="2924944"/>
              <a:ext cx="0" cy="5715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425" name="CaixaDeTexto 46">
              <a:extLst>
                <a:ext uri="{FF2B5EF4-FFF2-40B4-BE49-F238E27FC236}">
                  <a16:creationId xmlns:a16="http://schemas.microsoft.com/office/drawing/2014/main" id="{8B2135A7-2F71-A066-92C7-30ED19371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6859" y="3229744"/>
              <a:ext cx="355600" cy="53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7426" name="CaixaDeTexto 48">
              <a:extLst>
                <a:ext uri="{FF2B5EF4-FFF2-40B4-BE49-F238E27FC236}">
                  <a16:creationId xmlns:a16="http://schemas.microsoft.com/office/drawing/2014/main" id="{3A072249-C3A2-0145-16B6-D78941C3C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240" y="3257228"/>
              <a:ext cx="369888" cy="53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>
            <a:extLst>
              <a:ext uri="{FF2B5EF4-FFF2-40B4-BE49-F238E27FC236}">
                <a16:creationId xmlns:a16="http://schemas.microsoft.com/office/drawing/2014/main" id="{C20F473E-1443-AEAE-5BEA-CF61C3DA1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Escrever um algoritmo que peça para o usuário digitar o nome do vendedor, sua idade e o total vendido no mês, e mostre no final: o nome e o salario final do mesmo, sabendo que:</a:t>
            </a:r>
          </a:p>
          <a:p>
            <a:pPr marL="0" lvl="1"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   Salário base: R$1.200,00 </a:t>
            </a:r>
          </a:p>
          <a:p>
            <a:pPr marL="0" lvl="1"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   Comissão: 15% sobre o total vendido</a:t>
            </a:r>
          </a:p>
          <a:p>
            <a:pPr marL="0" lvl="1"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   Se o vendedor tiver mais de 50 anos tem  </a:t>
            </a:r>
          </a:p>
          <a:p>
            <a:pPr marL="0" lvl="1">
              <a:spcBef>
                <a:spcPct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   uma gratificação de R$ 350.00.</a:t>
            </a:r>
          </a:p>
        </p:txBody>
      </p:sp>
      <p:sp>
        <p:nvSpPr>
          <p:cNvPr id="18435" name="Espaço Reservado para Número de Slide 1">
            <a:extLst>
              <a:ext uri="{FF2B5EF4-FFF2-40B4-BE49-F238E27FC236}">
                <a16:creationId xmlns:a16="http://schemas.microsoft.com/office/drawing/2014/main" id="{8FAF6BA7-D930-553E-A164-F427FAA3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0AEE06-4168-4AC7-8ADC-CE91FB1ADFF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18436" name="Text Box 1028">
            <a:extLst>
              <a:ext uri="{FF2B5EF4-FFF2-40B4-BE49-F238E27FC236}">
                <a16:creationId xmlns:a16="http://schemas.microsoft.com/office/drawing/2014/main" id="{16A89631-ECD1-855F-A1E9-FE3865001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>
            <a:extLst>
              <a:ext uri="{FF2B5EF4-FFF2-40B4-BE49-F238E27FC236}">
                <a16:creationId xmlns:a16="http://schemas.microsoft.com/office/drawing/2014/main" id="{01878D5F-5507-77B3-6E73-C7CB42BF5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Função: Calcula o saláeio final do vendedor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Data: Agosto/;2022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algoritmo "Exemplo10"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var  nome: caractere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idade: inteiro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totalVendido, salarioFinal: real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PROGRAMA PARA CALCULAR O SALÁRIO FINAL DO VENDEDOR &lt;&gt;&lt;&gt;&lt;&gt;&lt;&gt;&lt;&gt;")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Espaço Reservado para Número de Slide 1">
            <a:extLst>
              <a:ext uri="{FF2B5EF4-FFF2-40B4-BE49-F238E27FC236}">
                <a16:creationId xmlns:a16="http://schemas.microsoft.com/office/drawing/2014/main" id="{36216126-305F-FB20-2B7B-B0F28EB91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402E89-2B14-4D04-A77D-BC5DB1334AC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20484" name="Text Box 1028">
            <a:extLst>
              <a:ext uri="{FF2B5EF4-FFF2-40B4-BE49-F238E27FC236}">
                <a16:creationId xmlns:a16="http://schemas.microsoft.com/office/drawing/2014/main" id="{89166883-2793-D354-9EE5-2879BDA06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>
            <a:extLst>
              <a:ext uri="{FF2B5EF4-FFF2-40B4-BE49-F238E27FC236}">
                <a16:creationId xmlns:a16="http://schemas.microsoft.com/office/drawing/2014/main" id="{CECDFB13-D7CE-A2C3-B04B-70DE3EFCE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escreva("Digite o nome do Vendedor: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leia(nome)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escreva("Digite a idade do Vendedor: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leia(idade)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escreva("Digite o Total Vendido: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leia(totalVendido)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Calculo do Salário Final &lt;&gt;&lt;&gt;&lt;&gt;&lt;&gt;&lt;&gt;")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salarioFinal &lt;- 1200 + totalVendido*15/100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Espaço Reservado para Número de Slide 1">
            <a:extLst>
              <a:ext uri="{FF2B5EF4-FFF2-40B4-BE49-F238E27FC236}">
                <a16:creationId xmlns:a16="http://schemas.microsoft.com/office/drawing/2014/main" id="{F8C1468B-C604-0E04-7D3F-C441C181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FD3051-6288-4149-80DB-CAC432650D6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21508" name="Text Box 1028">
            <a:extLst>
              <a:ext uri="{FF2B5EF4-FFF2-40B4-BE49-F238E27FC236}">
                <a16:creationId xmlns:a16="http://schemas.microsoft.com/office/drawing/2014/main" id="{5F343663-A450-E173-9312-49A8180F3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>
            <a:extLst>
              <a:ext uri="{FF2B5EF4-FFF2-40B4-BE49-F238E27FC236}">
                <a16:creationId xmlns:a16="http://schemas.microsoft.com/office/drawing/2014/main" id="{9F287299-A169-C15A-5CC9-C31A21704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se(idade &gt; 50) entao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salarioFinal &lt;- salarioFinal + 350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fimse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escreval("O vendedor: ",nome," tem como salário Final: ",salarioFinal)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1" name="Espaço Reservado para Número de Slide 1">
            <a:extLst>
              <a:ext uri="{FF2B5EF4-FFF2-40B4-BE49-F238E27FC236}">
                <a16:creationId xmlns:a16="http://schemas.microsoft.com/office/drawing/2014/main" id="{566F4C71-E27C-6476-7F0D-D95BE60B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FCD7D0-2806-4F8E-833E-7155EA95994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22532" name="Text Box 1028">
            <a:extLst>
              <a:ext uri="{FF2B5EF4-FFF2-40B4-BE49-F238E27FC236}">
                <a16:creationId xmlns:a16="http://schemas.microsoft.com/office/drawing/2014/main" id="{520DBD09-C2AD-ADFB-B5C3-81878A1F6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10</a:t>
            </a:r>
          </a:p>
        </p:txBody>
      </p:sp>
      <p:grpSp>
        <p:nvGrpSpPr>
          <p:cNvPr id="22533" name="Grupo 3">
            <a:extLst>
              <a:ext uri="{FF2B5EF4-FFF2-40B4-BE49-F238E27FC236}">
                <a16:creationId xmlns:a16="http://schemas.microsoft.com/office/drawing/2014/main" id="{2390EA52-A1A6-83C2-0348-9804C474D2D4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4017963"/>
            <a:ext cx="2339975" cy="2579687"/>
            <a:chOff x="5220072" y="2924944"/>
            <a:chExt cx="3671887" cy="3309937"/>
          </a:xfrm>
        </p:grpSpPr>
        <p:sp>
          <p:nvSpPr>
            <p:cNvPr id="22534" name="Losango 1">
              <a:extLst>
                <a:ext uri="{FF2B5EF4-FFF2-40B4-BE49-F238E27FC236}">
                  <a16:creationId xmlns:a16="http://schemas.microsoft.com/office/drawing/2014/main" id="{C8B2602B-F361-761B-CAEB-D25076102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1872" y="2985269"/>
              <a:ext cx="1873250" cy="1341437"/>
            </a:xfrm>
            <a:prstGeom prst="diamond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sp>
          <p:nvSpPr>
            <p:cNvPr id="22535" name="Retângulo 2">
              <a:extLst>
                <a:ext uri="{FF2B5EF4-FFF2-40B4-BE49-F238E27FC236}">
                  <a16:creationId xmlns:a16="http://schemas.microsoft.com/office/drawing/2014/main" id="{2DC384B8-27EA-EA35-C825-F2D1592A6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297" y="4544194"/>
              <a:ext cx="1871662" cy="95885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sp>
          <p:nvSpPr>
            <p:cNvPr id="8" name="Lágrima 7">
              <a:extLst>
                <a:ext uri="{FF2B5EF4-FFF2-40B4-BE49-F238E27FC236}">
                  <a16:creationId xmlns:a16="http://schemas.microsoft.com/office/drawing/2014/main" id="{D09114A3-61DA-2095-6A6D-514C6B82E791}"/>
                </a:ext>
              </a:extLst>
            </p:cNvPr>
            <p:cNvSpPr/>
            <p:nvPr/>
          </p:nvSpPr>
          <p:spPr bwMode="auto">
            <a:xfrm>
              <a:off x="6373454" y="5591225"/>
              <a:ext cx="358719" cy="643656"/>
            </a:xfrm>
            <a:prstGeom prst="teardrop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1" hangingPunct="1">
                <a:defRPr/>
              </a:pPr>
              <a:endParaRPr lang="pt-BR"/>
            </a:p>
          </p:txBody>
        </p:sp>
        <p:cxnSp>
          <p:nvCxnSpPr>
            <p:cNvPr id="22537" name="Conector reto 7">
              <a:extLst>
                <a:ext uri="{FF2B5EF4-FFF2-40B4-BE49-F238E27FC236}">
                  <a16:creationId xmlns:a16="http://schemas.microsoft.com/office/drawing/2014/main" id="{55ECB9E5-54D4-DEC4-C599-7060EB229A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28359" y="3656781"/>
              <a:ext cx="0" cy="887413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38" name="Conector reto 9">
              <a:extLst>
                <a:ext uri="{FF2B5EF4-FFF2-40B4-BE49-F238E27FC236}">
                  <a16:creationId xmlns:a16="http://schemas.microsoft.com/office/drawing/2014/main" id="{9BD85065-B14D-7060-CA52-75496BFAB3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28359" y="5503044"/>
              <a:ext cx="0" cy="411162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39" name="Conector reto 11">
              <a:extLst>
                <a:ext uri="{FF2B5EF4-FFF2-40B4-BE49-F238E27FC236}">
                  <a16:creationId xmlns:a16="http://schemas.microsoft.com/office/drawing/2014/main" id="{341C0D16-F670-ED97-8B59-377DDC333CE3}"/>
                </a:ext>
              </a:extLst>
            </p:cNvPr>
            <p:cNvCxnSpPr>
              <a:cxnSpLocks noChangeShapeType="1"/>
              <a:stCxn id="8" idx="0"/>
            </p:cNvCxnSpPr>
            <p:nvPr/>
          </p:nvCxnSpPr>
          <p:spPr bwMode="auto">
            <a:xfrm>
              <a:off x="6732959" y="5914206"/>
              <a:ext cx="1295400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0" name="Conector reto 14">
              <a:extLst>
                <a:ext uri="{FF2B5EF4-FFF2-40B4-BE49-F238E27FC236}">
                  <a16:creationId xmlns:a16="http://schemas.microsoft.com/office/drawing/2014/main" id="{15AE3F74-053B-B4C6-E08F-FA4024E1FA47}"/>
                </a:ext>
              </a:extLst>
            </p:cNvPr>
            <p:cNvCxnSpPr>
              <a:cxnSpLocks noChangeShapeType="1"/>
              <a:stCxn id="22534" idx="3"/>
            </p:cNvCxnSpPr>
            <p:nvPr/>
          </p:nvCxnSpPr>
          <p:spPr bwMode="auto">
            <a:xfrm>
              <a:off x="7525122" y="3656781"/>
              <a:ext cx="503237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1" name="Conector reto 18">
              <a:extLst>
                <a:ext uri="{FF2B5EF4-FFF2-40B4-BE49-F238E27FC236}">
                  <a16:creationId xmlns:a16="http://schemas.microsoft.com/office/drawing/2014/main" id="{DDED949B-A622-A51A-6D12-E76017AAB6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20072" y="3656781"/>
              <a:ext cx="504825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2" name="Conector reto 16">
              <a:extLst>
                <a:ext uri="{FF2B5EF4-FFF2-40B4-BE49-F238E27FC236}">
                  <a16:creationId xmlns:a16="http://schemas.microsoft.com/office/drawing/2014/main" id="{EFA861B6-3D00-DB90-31A7-2B8D765E1BB1}"/>
                </a:ext>
              </a:extLst>
            </p:cNvPr>
            <p:cNvCxnSpPr>
              <a:cxnSpLocks noChangeShapeType="1"/>
              <a:stCxn id="8" idx="4"/>
            </p:cNvCxnSpPr>
            <p:nvPr/>
          </p:nvCxnSpPr>
          <p:spPr bwMode="auto">
            <a:xfrm flipH="1">
              <a:off x="5220072" y="5914206"/>
              <a:ext cx="1152525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3" name="Conector reto 19">
              <a:extLst>
                <a:ext uri="{FF2B5EF4-FFF2-40B4-BE49-F238E27FC236}">
                  <a16:creationId xmlns:a16="http://schemas.microsoft.com/office/drawing/2014/main" id="{883AE65E-39A9-773C-0C31-F5CEEDF2FD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20072" y="3656781"/>
              <a:ext cx="0" cy="2257425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544" name="Conector reto 21">
              <a:extLst>
                <a:ext uri="{FF2B5EF4-FFF2-40B4-BE49-F238E27FC236}">
                  <a16:creationId xmlns:a16="http://schemas.microsoft.com/office/drawing/2014/main" id="{F62782F3-0AFC-D10A-2C2D-4B5AC1E7D291}"/>
                </a:ext>
              </a:extLst>
            </p:cNvPr>
            <p:cNvCxnSpPr>
              <a:cxnSpLocks noChangeShapeType="1"/>
              <a:stCxn id="22534" idx="0"/>
            </p:cNvCxnSpPr>
            <p:nvPr/>
          </p:nvCxnSpPr>
          <p:spPr bwMode="auto">
            <a:xfrm flipV="1">
              <a:off x="6588497" y="2924944"/>
              <a:ext cx="0" cy="5715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545" name="CaixaDeTexto 46">
              <a:extLst>
                <a:ext uri="{FF2B5EF4-FFF2-40B4-BE49-F238E27FC236}">
                  <a16:creationId xmlns:a16="http://schemas.microsoft.com/office/drawing/2014/main" id="{6665335D-213E-94F0-6E40-C35D9B20C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6859" y="3229744"/>
              <a:ext cx="355600" cy="53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22546" name="CaixaDeTexto 48">
              <a:extLst>
                <a:ext uri="{FF2B5EF4-FFF2-40B4-BE49-F238E27FC236}">
                  <a16:creationId xmlns:a16="http://schemas.microsoft.com/office/drawing/2014/main" id="{91630621-A8EA-D575-BDC4-0A89F2D27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240" y="3257228"/>
              <a:ext cx="369888" cy="53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1">
            <a:extLst>
              <a:ext uri="{FF2B5EF4-FFF2-40B4-BE49-F238E27FC236}">
                <a16:creationId xmlns:a16="http://schemas.microsoft.com/office/drawing/2014/main" id="{1EECB063-4596-0258-803C-55E77CD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B1DE15-054C-4477-9E79-60E753C4865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6147" name="Text Box 1028">
            <a:extLst>
              <a:ext uri="{FF2B5EF4-FFF2-40B4-BE49-F238E27FC236}">
                <a16:creationId xmlns:a16="http://schemas.microsoft.com/office/drawing/2014/main" id="{A9ABB41B-7575-8BEA-73FD-37A3E80C5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</p:txBody>
      </p:sp>
      <p:sp>
        <p:nvSpPr>
          <p:cNvPr id="6148" name="Rectangle 25">
            <a:extLst>
              <a:ext uri="{FF2B5EF4-FFF2-40B4-BE49-F238E27FC236}">
                <a16:creationId xmlns:a16="http://schemas.microsoft.com/office/drawing/2014/main" id="{3DF5B5AB-E3E3-FF25-C422-5766E5038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ESTRUTURA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CONDICIONAL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COMPOSTA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>
            <a:extLst>
              <a:ext uri="{FF2B5EF4-FFF2-40B4-BE49-F238E27FC236}">
                <a16:creationId xmlns:a16="http://schemas.microsoft.com/office/drawing/2014/main" id="{C86DFF0F-47EF-9829-C23D-19898C828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Os algoritmos com estrutura Condicional Composta (ou Seleção Composta) descrevem tanto as ações que serão executadas quando a condição for verdadeira, como as ações para o caso contrário (condição falsa). </a:t>
            </a:r>
          </a:p>
        </p:txBody>
      </p:sp>
      <p:sp>
        <p:nvSpPr>
          <p:cNvPr id="7171" name="Espaço Reservado para Número de Slide 1">
            <a:extLst>
              <a:ext uri="{FF2B5EF4-FFF2-40B4-BE49-F238E27FC236}">
                <a16:creationId xmlns:a16="http://schemas.microsoft.com/office/drawing/2014/main" id="{861205B9-E7E9-1C66-FD70-D127D261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36A3D9-51DF-4D6E-889B-80B5FF49100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7172" name="Text Box 1028">
            <a:extLst>
              <a:ext uri="{FF2B5EF4-FFF2-40B4-BE49-F238E27FC236}">
                <a16:creationId xmlns:a16="http://schemas.microsoft.com/office/drawing/2014/main" id="{589FF7FC-4769-0E58-2E01-A16F8F610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Estrutura Condicional Composta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>
            <a:extLst>
              <a:ext uri="{FF2B5EF4-FFF2-40B4-BE49-F238E27FC236}">
                <a16:creationId xmlns:a16="http://schemas.microsoft.com/office/drawing/2014/main" id="{B88DEA06-C08A-A808-6659-2305C0CE2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Assim, a palavra </a:t>
            </a:r>
            <a:r>
              <a:rPr lang="pt-BR" altLang="pt-BR" sz="3600" b="1">
                <a:latin typeface="Arial Black" panose="020B0A04020102020204" pitchFamily="34" charset="0"/>
                <a:cs typeface="Arial" panose="020B0604020202020204" pitchFamily="34" charset="0"/>
              </a:rPr>
              <a:t>então</a:t>
            </a: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 da instrução se aplica-se nas ações para quando a condição é verdadeira e a palavra </a:t>
            </a:r>
            <a:r>
              <a:rPr lang="pt-BR" altLang="pt-BR" sz="3600" b="1">
                <a:latin typeface="Arial Black" panose="020B0A04020102020204" pitchFamily="34" charset="0"/>
                <a:cs typeface="Arial" panose="020B0604020202020204" pitchFamily="34" charset="0"/>
              </a:rPr>
              <a:t>senão</a:t>
            </a: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 aplica-se no caso contrário, ou seja, quando a condição é falsa. </a:t>
            </a:r>
          </a:p>
        </p:txBody>
      </p:sp>
      <p:sp>
        <p:nvSpPr>
          <p:cNvPr id="8195" name="Espaço Reservado para Número de Slide 1">
            <a:extLst>
              <a:ext uri="{FF2B5EF4-FFF2-40B4-BE49-F238E27FC236}">
                <a16:creationId xmlns:a16="http://schemas.microsoft.com/office/drawing/2014/main" id="{D26E5E87-C924-59DC-196E-7B24C263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9ED02A-5FE7-47D9-BE9B-4884430A73D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8196" name="Text Box 1028">
            <a:extLst>
              <a:ext uri="{FF2B5EF4-FFF2-40B4-BE49-F238E27FC236}">
                <a16:creationId xmlns:a16="http://schemas.microsoft.com/office/drawing/2014/main" id="{7490781A-19BA-A735-A755-488E623C0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Estrutura Condicional Composta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1">
            <a:extLst>
              <a:ext uri="{FF2B5EF4-FFF2-40B4-BE49-F238E27FC236}">
                <a16:creationId xmlns:a16="http://schemas.microsoft.com/office/drawing/2014/main" id="{48A15FCF-B1C3-F462-7DB0-D0DBF85F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5150" y="6184900"/>
            <a:ext cx="1905000" cy="608013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8CF928-E627-4C21-8A32-0DAF75C78DD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cxnSp>
        <p:nvCxnSpPr>
          <p:cNvPr id="9219" name="Conector reto 21">
            <a:extLst>
              <a:ext uri="{FF2B5EF4-FFF2-40B4-BE49-F238E27FC236}">
                <a16:creationId xmlns:a16="http://schemas.microsoft.com/office/drawing/2014/main" id="{DED716FF-7D3F-FC35-7E07-1202B0B7DF1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-468313" y="1844675"/>
            <a:ext cx="0" cy="5715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0" name="Losango 26">
            <a:extLst>
              <a:ext uri="{FF2B5EF4-FFF2-40B4-BE49-F238E27FC236}">
                <a16:creationId xmlns:a16="http://schemas.microsoft.com/office/drawing/2014/main" id="{3D29F7FB-E90C-8CF7-9318-3A32BD99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1905000"/>
            <a:ext cx="1873250" cy="1341438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sp>
        <p:nvSpPr>
          <p:cNvPr id="9221" name="Retângulo 27">
            <a:extLst>
              <a:ext uri="{FF2B5EF4-FFF2-40B4-BE49-F238E27FC236}">
                <a16:creationId xmlns:a16="http://schemas.microsoft.com/office/drawing/2014/main" id="{39C1E1D2-88BF-40CA-FBE5-10C8405CB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463925"/>
            <a:ext cx="1870075" cy="9588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sp>
        <p:nvSpPr>
          <p:cNvPr id="29" name="Lágrima 28">
            <a:extLst>
              <a:ext uri="{FF2B5EF4-FFF2-40B4-BE49-F238E27FC236}">
                <a16:creationId xmlns:a16="http://schemas.microsoft.com/office/drawing/2014/main" id="{B0838ADB-082B-DBE1-D78D-46AB5C3A1F80}"/>
              </a:ext>
            </a:extLst>
          </p:cNvPr>
          <p:cNvSpPr/>
          <p:nvPr/>
        </p:nvSpPr>
        <p:spPr bwMode="auto">
          <a:xfrm>
            <a:off x="4211638" y="4511675"/>
            <a:ext cx="358775" cy="642938"/>
          </a:xfrm>
          <a:prstGeom prst="teardrop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pt-BR"/>
          </a:p>
        </p:txBody>
      </p:sp>
      <p:cxnSp>
        <p:nvCxnSpPr>
          <p:cNvPr id="9223" name="Conector reto 29">
            <a:extLst>
              <a:ext uri="{FF2B5EF4-FFF2-40B4-BE49-F238E27FC236}">
                <a16:creationId xmlns:a16="http://schemas.microsoft.com/office/drawing/2014/main" id="{994898D9-16C0-C3A4-686C-E19A4E99538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68988" y="2576513"/>
            <a:ext cx="0" cy="887412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4" name="Conector reto 31">
            <a:extLst>
              <a:ext uri="{FF2B5EF4-FFF2-40B4-BE49-F238E27FC236}">
                <a16:creationId xmlns:a16="http://schemas.microsoft.com/office/drawing/2014/main" id="{5ADCF30F-2C5F-A376-4BC9-66C7E88D1CE8}"/>
              </a:ext>
            </a:extLst>
          </p:cNvPr>
          <p:cNvCxnSpPr>
            <a:cxnSpLocks noChangeShapeType="1"/>
            <a:stCxn id="29" idx="0"/>
          </p:cNvCxnSpPr>
          <p:nvPr/>
        </p:nvCxnSpPr>
        <p:spPr bwMode="auto">
          <a:xfrm>
            <a:off x="4570413" y="4833938"/>
            <a:ext cx="129857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5" name="Conector reto 32">
            <a:extLst>
              <a:ext uri="{FF2B5EF4-FFF2-40B4-BE49-F238E27FC236}">
                <a16:creationId xmlns:a16="http://schemas.microsoft.com/office/drawing/2014/main" id="{0F38976C-CD9E-248B-651A-79645D87903D}"/>
              </a:ext>
            </a:extLst>
          </p:cNvPr>
          <p:cNvCxnSpPr>
            <a:cxnSpLocks noChangeShapeType="1"/>
            <a:stCxn id="9220" idx="3"/>
          </p:cNvCxnSpPr>
          <p:nvPr/>
        </p:nvCxnSpPr>
        <p:spPr bwMode="auto">
          <a:xfrm>
            <a:off x="5364163" y="2576513"/>
            <a:ext cx="5048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6" name="Conector reto 33">
            <a:extLst>
              <a:ext uri="{FF2B5EF4-FFF2-40B4-BE49-F238E27FC236}">
                <a16:creationId xmlns:a16="http://schemas.microsoft.com/office/drawing/2014/main" id="{B91EE287-72AF-1BCB-D3E9-A1F9CA765F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59113" y="2576513"/>
            <a:ext cx="5048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7" name="Conector reto 34">
            <a:extLst>
              <a:ext uri="{FF2B5EF4-FFF2-40B4-BE49-F238E27FC236}">
                <a16:creationId xmlns:a16="http://schemas.microsoft.com/office/drawing/2014/main" id="{F9B4FBAE-AF22-88A8-57A2-C752D39069B0}"/>
              </a:ext>
            </a:extLst>
          </p:cNvPr>
          <p:cNvCxnSpPr>
            <a:cxnSpLocks noChangeShapeType="1"/>
            <a:stCxn id="29" idx="4"/>
          </p:cNvCxnSpPr>
          <p:nvPr/>
        </p:nvCxnSpPr>
        <p:spPr bwMode="auto">
          <a:xfrm flipH="1">
            <a:off x="3059113" y="4833938"/>
            <a:ext cx="1152525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28" name="Conector reto 36">
            <a:extLst>
              <a:ext uri="{FF2B5EF4-FFF2-40B4-BE49-F238E27FC236}">
                <a16:creationId xmlns:a16="http://schemas.microsoft.com/office/drawing/2014/main" id="{14DAAD1B-FEEC-1792-1480-B82AF0A1E96B}"/>
              </a:ext>
            </a:extLst>
          </p:cNvPr>
          <p:cNvCxnSpPr>
            <a:cxnSpLocks noChangeShapeType="1"/>
            <a:stCxn id="9220" idx="0"/>
          </p:cNvCxnSpPr>
          <p:nvPr/>
        </p:nvCxnSpPr>
        <p:spPr bwMode="auto">
          <a:xfrm flipV="1">
            <a:off x="4427538" y="1844675"/>
            <a:ext cx="0" cy="60325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9" name="Retângulo 37">
            <a:extLst>
              <a:ext uri="{FF2B5EF4-FFF2-40B4-BE49-F238E27FC236}">
                <a16:creationId xmlns:a16="http://schemas.microsoft.com/office/drawing/2014/main" id="{A1C2EC10-F82C-CA8D-D13E-CC00BE5F4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2488" y="3463925"/>
            <a:ext cx="1873250" cy="9588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cxnSp>
        <p:nvCxnSpPr>
          <p:cNvPr id="9230" name="Conector reto 38">
            <a:extLst>
              <a:ext uri="{FF2B5EF4-FFF2-40B4-BE49-F238E27FC236}">
                <a16:creationId xmlns:a16="http://schemas.microsoft.com/office/drawing/2014/main" id="{591780DD-ACC6-BC5C-B2EE-328568D5190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059113" y="2576513"/>
            <a:ext cx="0" cy="830262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31" name="Conector reto 39">
            <a:extLst>
              <a:ext uri="{FF2B5EF4-FFF2-40B4-BE49-F238E27FC236}">
                <a16:creationId xmlns:a16="http://schemas.microsoft.com/office/drawing/2014/main" id="{F949142B-9336-FCBB-E467-0E33972DA3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59113" y="4437063"/>
            <a:ext cx="0" cy="396875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32" name="CaixaDeTexto 41">
            <a:extLst>
              <a:ext uri="{FF2B5EF4-FFF2-40B4-BE49-F238E27FC236}">
                <a16:creationId xmlns:a16="http://schemas.microsoft.com/office/drawing/2014/main" id="{FD452A25-6C78-5A4F-3F2D-A04452DD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613" y="2039938"/>
            <a:ext cx="8477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Num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mod 2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= 0</a:t>
            </a:r>
          </a:p>
        </p:txBody>
      </p:sp>
      <p:sp>
        <p:nvSpPr>
          <p:cNvPr id="9233" name="CaixaDeTexto 43">
            <a:extLst>
              <a:ext uri="{FF2B5EF4-FFF2-40B4-BE49-F238E27FC236}">
                <a16:creationId xmlns:a16="http://schemas.microsoft.com/office/drawing/2014/main" id="{4FC63E22-2113-6416-304B-6BEA07433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429000"/>
            <a:ext cx="12795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O numeroo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       é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     par</a:t>
            </a:r>
          </a:p>
        </p:txBody>
      </p:sp>
      <p:sp>
        <p:nvSpPr>
          <p:cNvPr id="9234" name="CaixaDeTexto 44">
            <a:extLst>
              <a:ext uri="{FF2B5EF4-FFF2-40B4-BE49-F238E27FC236}">
                <a16:creationId xmlns:a16="http://schemas.microsoft.com/office/drawing/2014/main" id="{2EEE4F9A-5D64-0994-8897-1EBBE81D2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8113" y="2149475"/>
            <a:ext cx="358775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000" b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</p:txBody>
      </p:sp>
      <p:sp>
        <p:nvSpPr>
          <p:cNvPr id="9235" name="CaixaDeTexto 45">
            <a:extLst>
              <a:ext uri="{FF2B5EF4-FFF2-40B4-BE49-F238E27FC236}">
                <a16:creationId xmlns:a16="http://schemas.microsoft.com/office/drawing/2014/main" id="{389B0731-6DE8-1A1A-3ED2-681BCB6C8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413" y="3460750"/>
            <a:ext cx="1279525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O numeroo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       é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600" b="1">
                <a:latin typeface="Arial" panose="020B0604020202020204" pitchFamily="34" charset="0"/>
                <a:cs typeface="Arial" panose="020B0604020202020204" pitchFamily="34" charset="0"/>
              </a:rPr>
              <a:t>     impar</a:t>
            </a:r>
          </a:p>
        </p:txBody>
      </p:sp>
      <p:sp>
        <p:nvSpPr>
          <p:cNvPr id="9236" name="CaixaDeTexto 47">
            <a:extLst>
              <a:ext uri="{FF2B5EF4-FFF2-40B4-BE49-F238E27FC236}">
                <a16:creationId xmlns:a16="http://schemas.microsoft.com/office/drawing/2014/main" id="{3306CAF2-8E66-F5DD-1FDA-31F8ED84C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463" y="2149475"/>
            <a:ext cx="371475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000" b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9237" name="Retângulo 50">
            <a:extLst>
              <a:ext uri="{FF2B5EF4-FFF2-40B4-BE49-F238E27FC236}">
                <a16:creationId xmlns:a16="http://schemas.microsoft.com/office/drawing/2014/main" id="{CA098274-9F84-8444-D636-405BCA467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188" y="5157788"/>
            <a:ext cx="3978275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/>
              <a:t>se num mod 2 = 0 </a:t>
            </a:r>
            <a:r>
              <a:rPr lang="pt-BR" altLang="pt-BR" sz="2200">
                <a:latin typeface="Arial Black" panose="020B0A04020102020204" pitchFamily="34" charset="0"/>
              </a:rPr>
              <a:t>entao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/>
              <a:t>     escreva(”É PAR”)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>
                <a:latin typeface="Arial Black" panose="020B0A04020102020204" pitchFamily="34" charset="0"/>
              </a:rPr>
              <a:t>senao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/>
              <a:t>     escreva(”É IMPAR”)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200"/>
              <a:t>fimse</a:t>
            </a:r>
          </a:p>
        </p:txBody>
      </p:sp>
      <p:cxnSp>
        <p:nvCxnSpPr>
          <p:cNvPr id="9238" name="Conector reto 71">
            <a:extLst>
              <a:ext uri="{FF2B5EF4-FFF2-40B4-BE49-F238E27FC236}">
                <a16:creationId xmlns:a16="http://schemas.microsoft.com/office/drawing/2014/main" id="{27441264-466E-E7BD-35F0-5DD4B60113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68988" y="4437063"/>
            <a:ext cx="0" cy="409575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39" name="Text Box 1028">
            <a:extLst>
              <a:ext uri="{FF2B5EF4-FFF2-40B4-BE49-F238E27FC236}">
                <a16:creationId xmlns:a16="http://schemas.microsoft.com/office/drawing/2014/main" id="{FBEF2BF3-A933-76B6-CEB4-F8D0D2548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Estrutura Condicional Composta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>
            <a:extLst>
              <a:ext uri="{FF2B5EF4-FFF2-40B4-BE49-F238E27FC236}">
                <a16:creationId xmlns:a16="http://schemas.microsoft.com/office/drawing/2014/main" id="{6FE12A2B-4BD8-0154-EBF2-CC84AB3E6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Escrever um algoritmo </a:t>
            </a:r>
            <a:r>
              <a:rPr lang="pt-BR" altLang="pt-BR" sz="3600"/>
              <a:t>que receba um número e mostre se é par ou impar. </a:t>
            </a: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DB0B6F01-09CB-DB86-E5A3-27CBD056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2F2798-2E3A-486B-BD1A-EFACC7F7035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11268" name="Text Box 1028">
            <a:extLst>
              <a:ext uri="{FF2B5EF4-FFF2-40B4-BE49-F238E27FC236}">
                <a16:creationId xmlns:a16="http://schemas.microsoft.com/office/drawing/2014/main" id="{90F69C52-392D-0858-F0BE-835F383DA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>
            <a:extLst>
              <a:ext uri="{FF2B5EF4-FFF2-40B4-BE49-F238E27FC236}">
                <a16:creationId xmlns:a16="http://schemas.microsoft.com/office/drawing/2014/main" id="{AD997225-424B-A20D-A723-AAEA4E773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Função: Verificar se é zero ou par ou impar.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Data: Agosto/;2022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algoritmo "Exemplo11”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var  numero : inteiro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EFETUA A VERIFIÇAÇÃO DE PAR OU IMPAR &lt;&gt;&lt;&gt;&lt;&gt;&lt;&gt;&lt;&gt;")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escreva("Digite um núumero: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leia(numero)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Espaço Reservado para Número de Slide 1">
            <a:extLst>
              <a:ext uri="{FF2B5EF4-FFF2-40B4-BE49-F238E27FC236}">
                <a16:creationId xmlns:a16="http://schemas.microsoft.com/office/drawing/2014/main" id="{C866A593-2C16-43AC-0687-88B567D7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084018-367F-4884-A91B-0E7A374D707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12292" name="Text Box 1028">
            <a:extLst>
              <a:ext uri="{FF2B5EF4-FFF2-40B4-BE49-F238E27FC236}">
                <a16:creationId xmlns:a16="http://schemas.microsoft.com/office/drawing/2014/main" id="{6DDD8273-7292-6148-5D43-F4B5F9DE5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4">
            <a:extLst>
              <a:ext uri="{FF2B5EF4-FFF2-40B4-BE49-F238E27FC236}">
                <a16:creationId xmlns:a16="http://schemas.microsoft.com/office/drawing/2014/main" id="{4CF4F548-C63C-6520-62F2-E886FE213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Faz a Seleção &lt;&gt;&lt;&gt;&lt;&gt;&lt;&gt;&lt;&gt;")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se(numero mod 2 = 0) entao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escreval("O número é PAR")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senao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escreva("O número é IMPAR")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fimse     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Espaço Reservado para Número de Slide 1">
            <a:extLst>
              <a:ext uri="{FF2B5EF4-FFF2-40B4-BE49-F238E27FC236}">
                <a16:creationId xmlns:a16="http://schemas.microsoft.com/office/drawing/2014/main" id="{6565DC56-69FE-F4EA-2BC1-2592B611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123503-E55B-4C6B-BBB0-C88407DCCE8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13316" name="Text Box 1028">
            <a:extLst>
              <a:ext uri="{FF2B5EF4-FFF2-40B4-BE49-F238E27FC236}">
                <a16:creationId xmlns:a16="http://schemas.microsoft.com/office/drawing/2014/main" id="{0EA34E19-E71C-534F-08A3-D666EF146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11</a:t>
            </a:r>
          </a:p>
        </p:txBody>
      </p:sp>
      <p:grpSp>
        <p:nvGrpSpPr>
          <p:cNvPr id="13317" name="Grupo 2">
            <a:extLst>
              <a:ext uri="{FF2B5EF4-FFF2-40B4-BE49-F238E27FC236}">
                <a16:creationId xmlns:a16="http://schemas.microsoft.com/office/drawing/2014/main" id="{DC6172B6-7510-97E0-0451-70903E2E4E9E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3851275"/>
            <a:ext cx="2736850" cy="2098675"/>
            <a:chOff x="4356100" y="1989138"/>
            <a:chExt cx="4679950" cy="3309937"/>
          </a:xfrm>
        </p:grpSpPr>
        <p:sp>
          <p:nvSpPr>
            <p:cNvPr id="13318" name="Losango 26">
              <a:extLst>
                <a:ext uri="{FF2B5EF4-FFF2-40B4-BE49-F238E27FC236}">
                  <a16:creationId xmlns:a16="http://schemas.microsoft.com/office/drawing/2014/main" id="{D8EB9DF7-21DE-0DFD-E33F-B1D8D717A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4525" y="2049463"/>
              <a:ext cx="1871663" cy="1341437"/>
            </a:xfrm>
            <a:prstGeom prst="diamond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sp>
          <p:nvSpPr>
            <p:cNvPr id="13319" name="Retângulo 27">
              <a:extLst>
                <a:ext uri="{FF2B5EF4-FFF2-40B4-BE49-F238E27FC236}">
                  <a16:creationId xmlns:a16="http://schemas.microsoft.com/office/drawing/2014/main" id="{59D63440-5516-26CD-1ACC-6A4A55EAE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3608388"/>
              <a:ext cx="1871662" cy="95885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sp>
          <p:nvSpPr>
            <p:cNvPr id="38" name="Lágrima 37">
              <a:extLst>
                <a:ext uri="{FF2B5EF4-FFF2-40B4-BE49-F238E27FC236}">
                  <a16:creationId xmlns:a16="http://schemas.microsoft.com/office/drawing/2014/main" id="{988FCD54-3F4A-4E02-C045-444548C2F43D}"/>
                </a:ext>
              </a:extLst>
            </p:cNvPr>
            <p:cNvSpPr/>
            <p:nvPr/>
          </p:nvSpPr>
          <p:spPr bwMode="auto">
            <a:xfrm>
              <a:off x="6443617" y="4655616"/>
              <a:ext cx="361041" cy="643459"/>
            </a:xfrm>
            <a:prstGeom prst="teardrop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eaLnBrk="1" hangingPunct="1">
                <a:defRPr/>
              </a:pPr>
              <a:endParaRPr lang="pt-BR"/>
            </a:p>
          </p:txBody>
        </p:sp>
        <p:cxnSp>
          <p:nvCxnSpPr>
            <p:cNvPr id="13321" name="Conector reto 29">
              <a:extLst>
                <a:ext uri="{FF2B5EF4-FFF2-40B4-BE49-F238E27FC236}">
                  <a16:creationId xmlns:a16="http://schemas.microsoft.com/office/drawing/2014/main" id="{AE124109-B00B-96FE-83A0-652C9A1B81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01013" y="2720975"/>
              <a:ext cx="0" cy="887413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22" name="Conector reto 31">
              <a:extLst>
                <a:ext uri="{FF2B5EF4-FFF2-40B4-BE49-F238E27FC236}">
                  <a16:creationId xmlns:a16="http://schemas.microsoft.com/office/drawing/2014/main" id="{E18B860F-D097-A94F-86C9-808F04E0D114}"/>
                </a:ext>
              </a:extLst>
            </p:cNvPr>
            <p:cNvCxnSpPr>
              <a:cxnSpLocks noChangeShapeType="1"/>
              <a:stCxn id="38" idx="0"/>
            </p:cNvCxnSpPr>
            <p:nvPr/>
          </p:nvCxnSpPr>
          <p:spPr bwMode="auto">
            <a:xfrm>
              <a:off x="6804025" y="4978400"/>
              <a:ext cx="1296988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23" name="Conector reto 32">
              <a:extLst>
                <a:ext uri="{FF2B5EF4-FFF2-40B4-BE49-F238E27FC236}">
                  <a16:creationId xmlns:a16="http://schemas.microsoft.com/office/drawing/2014/main" id="{B0F7EEA1-B1F9-9763-E78B-DBE5DB070EB4}"/>
                </a:ext>
              </a:extLst>
            </p:cNvPr>
            <p:cNvCxnSpPr>
              <a:cxnSpLocks noChangeShapeType="1"/>
              <a:stCxn id="13318" idx="3"/>
            </p:cNvCxnSpPr>
            <p:nvPr/>
          </p:nvCxnSpPr>
          <p:spPr bwMode="auto">
            <a:xfrm>
              <a:off x="7596188" y="2720975"/>
              <a:ext cx="504825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24" name="Conector reto 33">
              <a:extLst>
                <a:ext uri="{FF2B5EF4-FFF2-40B4-BE49-F238E27FC236}">
                  <a16:creationId xmlns:a16="http://schemas.microsoft.com/office/drawing/2014/main" id="{C4616A5E-AA2B-868E-92A6-E5066B3EB5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92725" y="2720975"/>
              <a:ext cx="503238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25" name="Conector reto 34">
              <a:extLst>
                <a:ext uri="{FF2B5EF4-FFF2-40B4-BE49-F238E27FC236}">
                  <a16:creationId xmlns:a16="http://schemas.microsoft.com/office/drawing/2014/main" id="{BC675128-324C-732A-B554-AB48919FF446}"/>
                </a:ext>
              </a:extLst>
            </p:cNvPr>
            <p:cNvCxnSpPr>
              <a:cxnSpLocks noChangeShapeType="1"/>
              <a:stCxn id="38" idx="4"/>
            </p:cNvCxnSpPr>
            <p:nvPr/>
          </p:nvCxnSpPr>
          <p:spPr bwMode="auto">
            <a:xfrm flipH="1">
              <a:off x="5292725" y="4978400"/>
              <a:ext cx="1150938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26" name="Conector reto 36">
              <a:extLst>
                <a:ext uri="{FF2B5EF4-FFF2-40B4-BE49-F238E27FC236}">
                  <a16:creationId xmlns:a16="http://schemas.microsoft.com/office/drawing/2014/main" id="{C6EDC42D-14A7-DD3B-55BB-96B996A84A89}"/>
                </a:ext>
              </a:extLst>
            </p:cNvPr>
            <p:cNvCxnSpPr>
              <a:cxnSpLocks noChangeShapeType="1"/>
              <a:stCxn id="13318" idx="0"/>
            </p:cNvCxnSpPr>
            <p:nvPr/>
          </p:nvCxnSpPr>
          <p:spPr bwMode="auto">
            <a:xfrm flipV="1">
              <a:off x="6659563" y="1989138"/>
              <a:ext cx="0" cy="60325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327" name="Retângulo 37">
              <a:extLst>
                <a:ext uri="{FF2B5EF4-FFF2-40B4-BE49-F238E27FC236}">
                  <a16:creationId xmlns:a16="http://schemas.microsoft.com/office/drawing/2014/main" id="{AFD0A7F7-D8D9-9855-B376-BC4F0ADAB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100" y="3608388"/>
              <a:ext cx="1871663" cy="95885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cxnSp>
          <p:nvCxnSpPr>
            <p:cNvPr id="13328" name="Conector reto 38">
              <a:extLst>
                <a:ext uri="{FF2B5EF4-FFF2-40B4-BE49-F238E27FC236}">
                  <a16:creationId xmlns:a16="http://schemas.microsoft.com/office/drawing/2014/main" id="{F47F6799-DAFA-628F-1B80-00552B2856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91931" y="2720975"/>
              <a:ext cx="794" cy="830263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329" name="Conector reto 39">
              <a:extLst>
                <a:ext uri="{FF2B5EF4-FFF2-40B4-BE49-F238E27FC236}">
                  <a16:creationId xmlns:a16="http://schemas.microsoft.com/office/drawing/2014/main" id="{CEA27F4B-F293-B48A-B28E-0BC3D4F989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91931" y="4581525"/>
              <a:ext cx="794" cy="396875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3330" name="CaixaDeTexto 44">
              <a:extLst>
                <a:ext uri="{FF2B5EF4-FFF2-40B4-BE49-F238E27FC236}">
                  <a16:creationId xmlns:a16="http://schemas.microsoft.com/office/drawing/2014/main" id="{351A8659-3911-CEB5-00CC-70FD87B44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1725" y="2293938"/>
              <a:ext cx="357188" cy="53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13331" name="CaixaDeTexto 47">
              <a:extLst>
                <a:ext uri="{FF2B5EF4-FFF2-40B4-BE49-F238E27FC236}">
                  <a16:creationId xmlns:a16="http://schemas.microsoft.com/office/drawing/2014/main" id="{CBB9198C-F880-F3AA-F628-58E098242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075" y="2293938"/>
              <a:ext cx="369888" cy="531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sz="2000" b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cxnSp>
          <p:nvCxnSpPr>
            <p:cNvPr id="13332" name="Conector reto 71">
              <a:extLst>
                <a:ext uri="{FF2B5EF4-FFF2-40B4-BE49-F238E27FC236}">
                  <a16:creationId xmlns:a16="http://schemas.microsoft.com/office/drawing/2014/main" id="{EF41EE1A-81D7-7F15-4327-F706683755A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101013" y="4581525"/>
              <a:ext cx="0" cy="409575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>
            <a:extLst>
              <a:ext uri="{FF2B5EF4-FFF2-40B4-BE49-F238E27FC236}">
                <a16:creationId xmlns:a16="http://schemas.microsoft.com/office/drawing/2014/main" id="{74DDB51D-10C2-DF67-6F37-030A57276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dirty="0">
                <a:latin typeface="Arial" panose="020B0604020202020204" pitchFamily="34" charset="0"/>
                <a:cs typeface="Arial" panose="020B0604020202020204" pitchFamily="34" charset="0"/>
              </a:rPr>
              <a:t>Escrever um algoritmo </a:t>
            </a:r>
            <a:r>
              <a:rPr lang="pt-BR" altLang="pt-BR" sz="3600" dirty="0"/>
              <a:t>que receba um número e mostre se é zero e se não for zero mostre se é par ou impar. </a:t>
            </a:r>
          </a:p>
        </p:txBody>
      </p:sp>
      <p:sp>
        <p:nvSpPr>
          <p:cNvPr id="14339" name="Espaço Reservado para Número de Slide 1">
            <a:extLst>
              <a:ext uri="{FF2B5EF4-FFF2-40B4-BE49-F238E27FC236}">
                <a16:creationId xmlns:a16="http://schemas.microsoft.com/office/drawing/2014/main" id="{4D9953F6-8259-2FC2-C504-9C4BCFA2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35BD2D-F599-4AC2-AB02-1B406C92DA6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  <p:sp>
        <p:nvSpPr>
          <p:cNvPr id="14340" name="Text Box 1028">
            <a:extLst>
              <a:ext uri="{FF2B5EF4-FFF2-40B4-BE49-F238E27FC236}">
                <a16:creationId xmlns:a16="http://schemas.microsoft.com/office/drawing/2014/main" id="{C3987239-85AC-6C04-D541-590A910DD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>
            <a:extLst>
              <a:ext uri="{FF2B5EF4-FFF2-40B4-BE49-F238E27FC236}">
                <a16:creationId xmlns:a16="http://schemas.microsoft.com/office/drawing/2014/main" id="{CBFED7EF-A69D-F14C-A0F1-8B7941908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9138"/>
            <a:ext cx="8820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Função: Verificar se é zero ou par ou impar.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// Data: Agosto/;2022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algoritmo "Exemplo12”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var  numero : inteiro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EFETUA A VERIFIÇAÇÃO DE ZERO, PAR OU IMPAR &lt;&gt;&lt;&gt;&lt;&gt;&lt;&gt;&lt;&gt;")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escreva("Digite um núumero: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leia(numero)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Text Box 1028">
            <a:extLst>
              <a:ext uri="{FF2B5EF4-FFF2-40B4-BE49-F238E27FC236}">
                <a16:creationId xmlns:a16="http://schemas.microsoft.com/office/drawing/2014/main" id="{C74A7B69-27C2-B0FE-AA99-BAD53E1E0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>
            <a:extLst>
              <a:ext uri="{FF2B5EF4-FFF2-40B4-BE49-F238E27FC236}">
                <a16:creationId xmlns:a16="http://schemas.microsoft.com/office/drawing/2014/main" id="{EA079CEF-6EDC-132A-1A51-F3831648D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9138"/>
            <a:ext cx="8820150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Faz a Seleção &lt;&gt;&lt;&gt;&lt;&gt;&lt;&gt;&lt;&gt;")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se(numero = 0)  entao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escreval("O número é ZERO")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senao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se(numero mod 2 = 0) entao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   escreval("O número é PAR")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senao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   escreva("O número é IMPAR")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   fimse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fimse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Text Box 1028">
            <a:extLst>
              <a:ext uri="{FF2B5EF4-FFF2-40B4-BE49-F238E27FC236}">
                <a16:creationId xmlns:a16="http://schemas.microsoft.com/office/drawing/2014/main" id="{2B76E900-DA80-B083-4996-7358FBD89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12</a:t>
            </a:r>
          </a:p>
        </p:txBody>
      </p:sp>
      <p:grpSp>
        <p:nvGrpSpPr>
          <p:cNvPr id="16388" name="Grupo 35">
            <a:extLst>
              <a:ext uri="{FF2B5EF4-FFF2-40B4-BE49-F238E27FC236}">
                <a16:creationId xmlns:a16="http://schemas.microsoft.com/office/drawing/2014/main" id="{279DE866-1C57-F8FF-0B44-04889746412D}"/>
              </a:ext>
            </a:extLst>
          </p:cNvPr>
          <p:cNvGrpSpPr>
            <a:grpSpLocks/>
          </p:cNvGrpSpPr>
          <p:nvPr/>
        </p:nvGrpSpPr>
        <p:grpSpPr bwMode="auto">
          <a:xfrm>
            <a:off x="5545138" y="2901950"/>
            <a:ext cx="3635375" cy="3190875"/>
            <a:chOff x="2987948" y="643732"/>
            <a:chExt cx="5904532" cy="4809817"/>
          </a:xfrm>
        </p:grpSpPr>
        <p:grpSp>
          <p:nvGrpSpPr>
            <p:cNvPr id="16389" name="Grupo 36">
              <a:extLst>
                <a:ext uri="{FF2B5EF4-FFF2-40B4-BE49-F238E27FC236}">
                  <a16:creationId xmlns:a16="http://schemas.microsoft.com/office/drawing/2014/main" id="{080D2935-ABF4-C916-E923-0367B27B1F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779" y="3212976"/>
              <a:ext cx="4968701" cy="2240573"/>
              <a:chOff x="3923779" y="3861048"/>
              <a:chExt cx="4968701" cy="2240573"/>
            </a:xfrm>
          </p:grpSpPr>
          <p:sp>
            <p:nvSpPr>
              <p:cNvPr id="16407" name="Retângulo 27">
                <a:extLst>
                  <a:ext uri="{FF2B5EF4-FFF2-40B4-BE49-F238E27FC236}">
                    <a16:creationId xmlns:a16="http://schemas.microsoft.com/office/drawing/2014/main" id="{334D7C8B-8ADE-10FF-E960-19EDB4965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546" y="3981921"/>
                <a:ext cx="1871662" cy="958850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/>
              </a:p>
            </p:txBody>
          </p:sp>
          <p:sp>
            <p:nvSpPr>
              <p:cNvPr id="24" name="Lágrima 23">
                <a:extLst>
                  <a:ext uri="{FF2B5EF4-FFF2-40B4-BE49-F238E27FC236}">
                    <a16:creationId xmlns:a16="http://schemas.microsoft.com/office/drawing/2014/main" id="{78710544-2A79-80E8-51A1-59E4149CFAA8}"/>
                  </a:ext>
                </a:extLst>
              </p:cNvPr>
              <p:cNvSpPr/>
              <p:nvPr/>
            </p:nvSpPr>
            <p:spPr bwMode="auto">
              <a:xfrm>
                <a:off x="5148646" y="5517743"/>
                <a:ext cx="358397" cy="583878"/>
              </a:xfrm>
              <a:prstGeom prst="teardrop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eaLnBrk="1" hangingPunct="1">
                  <a:defRPr/>
                </a:pPr>
                <a:endParaRPr lang="pt-BR"/>
              </a:p>
            </p:txBody>
          </p:sp>
          <p:cxnSp>
            <p:nvCxnSpPr>
              <p:cNvPr id="16409" name="Conector reto 31">
                <a:extLst>
                  <a:ext uri="{FF2B5EF4-FFF2-40B4-BE49-F238E27FC236}">
                    <a16:creationId xmlns:a16="http://schemas.microsoft.com/office/drawing/2014/main" id="{CF675D0B-B16F-0BB3-5315-E37DE4A84456}"/>
                  </a:ext>
                </a:extLst>
              </p:cNvPr>
              <p:cNvCxnSpPr>
                <a:cxnSpLocks noChangeShapeType="1"/>
                <a:stCxn id="24" idx="0"/>
              </p:cNvCxnSpPr>
              <p:nvPr/>
            </p:nvCxnSpPr>
            <p:spPr bwMode="auto">
              <a:xfrm flipV="1">
                <a:off x="5508228" y="5780152"/>
                <a:ext cx="1169813" cy="29225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10" name="Conector reto 34">
                <a:extLst>
                  <a:ext uri="{FF2B5EF4-FFF2-40B4-BE49-F238E27FC236}">
                    <a16:creationId xmlns:a16="http://schemas.microsoft.com/office/drawing/2014/main" id="{EEA0B7C5-D288-47CD-8357-EBD34E57900C}"/>
                  </a:ext>
                </a:extLst>
              </p:cNvPr>
              <p:cNvCxnSpPr>
                <a:cxnSpLocks noChangeShapeType="1"/>
                <a:stCxn id="24" idx="4"/>
              </p:cNvCxnSpPr>
              <p:nvPr/>
            </p:nvCxnSpPr>
            <p:spPr bwMode="auto">
              <a:xfrm flipH="1">
                <a:off x="3923779" y="5809377"/>
                <a:ext cx="1224087" cy="758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11" name="Conector reto 39">
                <a:extLst>
                  <a:ext uri="{FF2B5EF4-FFF2-40B4-BE49-F238E27FC236}">
                    <a16:creationId xmlns:a16="http://schemas.microsoft.com/office/drawing/2014/main" id="{F8F440DC-4787-1D88-DB1C-62C7FDF4DA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23779" y="3861048"/>
                <a:ext cx="0" cy="1910382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12" name="Conector reto 71">
                <a:extLst>
                  <a:ext uri="{FF2B5EF4-FFF2-40B4-BE49-F238E27FC236}">
                    <a16:creationId xmlns:a16="http://schemas.microsoft.com/office/drawing/2014/main" id="{47015632-B03D-1F83-23B7-44297054BE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36096" y="4940771"/>
                <a:ext cx="0" cy="409575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413" name="Retângulo 27">
                <a:extLst>
                  <a:ext uri="{FF2B5EF4-FFF2-40B4-BE49-F238E27FC236}">
                    <a16:creationId xmlns:a16="http://schemas.microsoft.com/office/drawing/2014/main" id="{2442C3DF-1ECD-A323-B3B6-50ABC7111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20818" y="4004667"/>
                <a:ext cx="1871662" cy="958850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/>
              </a:p>
            </p:txBody>
          </p:sp>
          <p:cxnSp>
            <p:nvCxnSpPr>
              <p:cNvPr id="16414" name="Conector reto 71">
                <a:extLst>
                  <a:ext uri="{FF2B5EF4-FFF2-40B4-BE49-F238E27FC236}">
                    <a16:creationId xmlns:a16="http://schemas.microsoft.com/office/drawing/2014/main" id="{9CD71A13-E3C1-60F3-809E-82F8123DCC7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028384" y="4940771"/>
                <a:ext cx="0" cy="409575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415" name="Elipse 62">
                <a:extLst>
                  <a:ext uri="{FF2B5EF4-FFF2-40B4-BE49-F238E27FC236}">
                    <a16:creationId xmlns:a16="http://schemas.microsoft.com/office/drawing/2014/main" id="{5CF674C6-E428-06D2-DE6A-DABACB038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1835" y="5228803"/>
                <a:ext cx="252413" cy="263019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/>
              </a:p>
            </p:txBody>
          </p:sp>
          <p:cxnSp>
            <p:nvCxnSpPr>
              <p:cNvPr id="16416" name="Conector reto 63">
                <a:extLst>
                  <a:ext uri="{FF2B5EF4-FFF2-40B4-BE49-F238E27FC236}">
                    <a16:creationId xmlns:a16="http://schemas.microsoft.com/office/drawing/2014/main" id="{985A2BD4-0616-488F-523C-E3279AE7176A}"/>
                  </a:ext>
                </a:extLst>
              </p:cNvPr>
              <p:cNvCxnSpPr>
                <a:cxnSpLocks noChangeShapeType="1"/>
                <a:endCxn id="16415" idx="6"/>
              </p:cNvCxnSpPr>
              <p:nvPr/>
            </p:nvCxnSpPr>
            <p:spPr bwMode="auto">
              <a:xfrm flipH="1">
                <a:off x="6804248" y="5334301"/>
                <a:ext cx="1224136" cy="26012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17" name="Conector reto 64">
                <a:extLst>
                  <a:ext uri="{FF2B5EF4-FFF2-40B4-BE49-F238E27FC236}">
                    <a16:creationId xmlns:a16="http://schemas.microsoft.com/office/drawing/2014/main" id="{51D5C1ED-E414-D850-C5EB-2D1A66653EB4}"/>
                  </a:ext>
                </a:extLst>
              </p:cNvPr>
              <p:cNvCxnSpPr>
                <a:cxnSpLocks noChangeShapeType="1"/>
                <a:stCxn id="16415" idx="2"/>
              </p:cNvCxnSpPr>
              <p:nvPr/>
            </p:nvCxnSpPr>
            <p:spPr bwMode="auto">
              <a:xfrm flipH="1">
                <a:off x="5436096" y="5360313"/>
                <a:ext cx="1115739" cy="12506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18" name="Conector reto 65">
                <a:extLst>
                  <a:ext uri="{FF2B5EF4-FFF2-40B4-BE49-F238E27FC236}">
                    <a16:creationId xmlns:a16="http://schemas.microsoft.com/office/drawing/2014/main" id="{238D7A7C-9B90-F261-9BE8-20DAAB5B778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660232" y="5508411"/>
                <a:ext cx="0" cy="263019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6390" name="Grupo 37">
              <a:extLst>
                <a:ext uri="{FF2B5EF4-FFF2-40B4-BE49-F238E27FC236}">
                  <a16:creationId xmlns:a16="http://schemas.microsoft.com/office/drawing/2014/main" id="{562B53D1-0D5A-F35F-6BD2-669AE0A8C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7948" y="643732"/>
              <a:ext cx="5040436" cy="2713260"/>
              <a:chOff x="2987948" y="643732"/>
              <a:chExt cx="5040436" cy="2713260"/>
            </a:xfrm>
          </p:grpSpPr>
          <p:sp>
            <p:nvSpPr>
              <p:cNvPr id="16391" name="CaixaDeTexto 47">
                <a:extLst>
                  <a:ext uri="{FF2B5EF4-FFF2-40B4-BE49-F238E27FC236}">
                    <a16:creationId xmlns:a16="http://schemas.microsoft.com/office/drawing/2014/main" id="{5835D4D5-8DF1-2A94-5AFA-7C63F54140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08104" y="2199854"/>
                <a:ext cx="369888" cy="531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000" b="1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16392" name="Conector reto 29">
                <a:extLst>
                  <a:ext uri="{FF2B5EF4-FFF2-40B4-BE49-F238E27FC236}">
                    <a16:creationId xmlns:a16="http://schemas.microsoft.com/office/drawing/2014/main" id="{663ADA6D-FB8B-2835-C7BD-59752922B7A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32861" y="1375569"/>
                <a:ext cx="0" cy="887413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393" name="Conector reto 32">
                <a:extLst>
                  <a:ext uri="{FF2B5EF4-FFF2-40B4-BE49-F238E27FC236}">
                    <a16:creationId xmlns:a16="http://schemas.microsoft.com/office/drawing/2014/main" id="{D13067A1-7CD7-C3B5-E820-D5F4CFB6675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228036" y="1375569"/>
                <a:ext cx="504825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394" name="Conector reto 33">
                <a:extLst>
                  <a:ext uri="{FF2B5EF4-FFF2-40B4-BE49-F238E27FC236}">
                    <a16:creationId xmlns:a16="http://schemas.microsoft.com/office/drawing/2014/main" id="{5DDCEB6D-2B0C-90B1-91B4-F0A484E553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24573" y="1375569"/>
                <a:ext cx="503238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395" name="Conector reto 36">
                <a:extLst>
                  <a:ext uri="{FF2B5EF4-FFF2-40B4-BE49-F238E27FC236}">
                    <a16:creationId xmlns:a16="http://schemas.microsoft.com/office/drawing/2014/main" id="{0F0496A5-99C5-31D8-A7AE-E6718042E7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291411" y="643732"/>
                <a:ext cx="0" cy="60325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396" name="Retângulo 37">
                <a:extLst>
                  <a:ext uri="{FF2B5EF4-FFF2-40B4-BE49-F238E27FC236}">
                    <a16:creationId xmlns:a16="http://schemas.microsoft.com/office/drawing/2014/main" id="{C0F410B0-9A99-FE8D-F369-91DA98FCA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948" y="2262982"/>
                <a:ext cx="1871663" cy="958850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/>
              </a:p>
            </p:txBody>
          </p:sp>
          <p:cxnSp>
            <p:nvCxnSpPr>
              <p:cNvPr id="16397" name="Conector reto 38">
                <a:extLst>
                  <a:ext uri="{FF2B5EF4-FFF2-40B4-BE49-F238E27FC236}">
                    <a16:creationId xmlns:a16="http://schemas.microsoft.com/office/drawing/2014/main" id="{B6719C16-1D83-943C-0A02-05DB6D5D4CA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923779" y="1375569"/>
                <a:ext cx="794" cy="830263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398" name="CaixaDeTexto 44">
                <a:extLst>
                  <a:ext uri="{FF2B5EF4-FFF2-40B4-BE49-F238E27FC236}">
                    <a16:creationId xmlns:a16="http://schemas.microsoft.com/office/drawing/2014/main" id="{93180F9B-F0A6-4D81-B1E4-FA6AF3639A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2804" y="1003772"/>
                <a:ext cx="357188" cy="531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000" b="1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16399" name="CaixaDeTexto 47">
                <a:extLst>
                  <a:ext uri="{FF2B5EF4-FFF2-40B4-BE49-F238E27FC236}">
                    <a16:creationId xmlns:a16="http://schemas.microsoft.com/office/drawing/2014/main" id="{CD0ABBC8-96FD-21A8-8985-4228C4C1EF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28184" y="976016"/>
                <a:ext cx="369888" cy="531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000" b="1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16400" name="Losango 26">
                <a:extLst>
                  <a:ext uri="{FF2B5EF4-FFF2-40B4-BE49-F238E27FC236}">
                    <a16:creationId xmlns:a16="http://schemas.microsoft.com/office/drawing/2014/main" id="{C02FCEA1-DA22-0F80-234D-994CE191A0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6373" y="704057"/>
                <a:ext cx="1871663" cy="1341437"/>
              </a:xfrm>
              <a:prstGeom prst="diamond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/>
              </a:p>
            </p:txBody>
          </p:sp>
          <p:sp>
            <p:nvSpPr>
              <p:cNvPr id="16401" name="Losango 26">
                <a:extLst>
                  <a:ext uri="{FF2B5EF4-FFF2-40B4-BE49-F238E27FC236}">
                    <a16:creationId xmlns:a16="http://schemas.microsoft.com/office/drawing/2014/main" id="{34435BB5-5255-0217-071B-C9A0C5AD7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6136" y="1867570"/>
                <a:ext cx="1871663" cy="1341437"/>
              </a:xfrm>
              <a:prstGeom prst="diamond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/>
              </a:p>
            </p:txBody>
          </p:sp>
          <p:cxnSp>
            <p:nvCxnSpPr>
              <p:cNvPr id="16402" name="Conector reto 49">
                <a:extLst>
                  <a:ext uri="{FF2B5EF4-FFF2-40B4-BE49-F238E27FC236}">
                    <a16:creationId xmlns:a16="http://schemas.microsoft.com/office/drawing/2014/main" id="{B10AA9E8-7453-7D15-B197-EEF1C5CD754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435873" y="2538288"/>
                <a:ext cx="360263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03" name="Conector reto 50">
                <a:extLst>
                  <a:ext uri="{FF2B5EF4-FFF2-40B4-BE49-F238E27FC236}">
                    <a16:creationId xmlns:a16="http://schemas.microsoft.com/office/drawing/2014/main" id="{E18B51C8-A2FB-04EC-D415-34D2BB8D62F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7668121" y="2515642"/>
                <a:ext cx="360263" cy="0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04" name="Conector reto 51">
                <a:extLst>
                  <a:ext uri="{FF2B5EF4-FFF2-40B4-BE49-F238E27FC236}">
                    <a16:creationId xmlns:a16="http://schemas.microsoft.com/office/drawing/2014/main" id="{E031DE61-AD29-E81E-40A2-76CABF851A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35873" y="2538288"/>
                <a:ext cx="0" cy="818704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405" name="Conector reto 52">
                <a:extLst>
                  <a:ext uri="{FF2B5EF4-FFF2-40B4-BE49-F238E27FC236}">
                    <a16:creationId xmlns:a16="http://schemas.microsoft.com/office/drawing/2014/main" id="{A0E4B770-FB66-2B8B-8540-48EBC7145F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028384" y="2515642"/>
                <a:ext cx="0" cy="818704"/>
              </a:xfrm>
              <a:prstGeom prst="line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406" name="CaixaDeTexto 44">
                <a:extLst>
                  <a:ext uri="{FF2B5EF4-FFF2-40B4-BE49-F238E27FC236}">
                    <a16:creationId xmlns:a16="http://schemas.microsoft.com/office/drawing/2014/main" id="{163F6128-2C2C-AA36-AB2A-1109839D72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33754" y="2199854"/>
                <a:ext cx="357188" cy="5318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pt-BR" altLang="pt-BR" sz="2000" b="1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Número de Slide 1">
            <a:extLst>
              <a:ext uri="{FF2B5EF4-FFF2-40B4-BE49-F238E27FC236}">
                <a16:creationId xmlns:a16="http://schemas.microsoft.com/office/drawing/2014/main" id="{FCAE1953-8F45-756B-F4DF-0F833E2F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FA3D47-8D1A-4EB0-AB6F-7F5B808CA5B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  <p:sp>
        <p:nvSpPr>
          <p:cNvPr id="24579" name="Text Box 1028">
            <a:extLst>
              <a:ext uri="{FF2B5EF4-FFF2-40B4-BE49-F238E27FC236}">
                <a16:creationId xmlns:a16="http://schemas.microsoft.com/office/drawing/2014/main" id="{EA1A760D-7FA1-D278-11D3-0B5B52F59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24580" name="Rectangle 25">
            <a:extLst>
              <a:ext uri="{FF2B5EF4-FFF2-40B4-BE49-F238E27FC236}">
                <a16:creationId xmlns:a16="http://schemas.microsoft.com/office/drawing/2014/main" id="{1C60A56A-3323-44E0-C27F-36CA3CE91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EXERCÍCIOS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>
            <a:extLst>
              <a:ext uri="{FF2B5EF4-FFF2-40B4-BE49-F238E27FC236}">
                <a16:creationId xmlns:a16="http://schemas.microsoft.com/office/drawing/2014/main" id="{4E2048BE-7D7C-9B61-AE8A-30A8A01FD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Escreva um algoritmo para ler o nome do aluno e suas duas notas bimestrais. No final se a média aritmética delas ((P1+P2)/2) for maior ou igual a 7.0, mostrar o nome, a média e do aluno a mensagem: ”ALUNO APROVADO”.</a:t>
            </a:r>
          </a:p>
        </p:txBody>
      </p:sp>
      <p:sp>
        <p:nvSpPr>
          <p:cNvPr id="25603" name="Espaço Reservado para Número de Slide 1">
            <a:extLst>
              <a:ext uri="{FF2B5EF4-FFF2-40B4-BE49-F238E27FC236}">
                <a16:creationId xmlns:a16="http://schemas.microsoft.com/office/drawing/2014/main" id="{9E07C43F-5AE1-E990-534F-12B71F32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3EB9F6-685B-409F-B9FD-CFBC0EDC84F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pt-BR" altLang="pt-BR" sz="1400"/>
          </a:p>
        </p:txBody>
      </p:sp>
      <p:sp>
        <p:nvSpPr>
          <p:cNvPr id="25604" name="Text Box 1028">
            <a:extLst>
              <a:ext uri="{FF2B5EF4-FFF2-40B4-BE49-F238E27FC236}">
                <a16:creationId xmlns:a16="http://schemas.microsoft.com/office/drawing/2014/main" id="{0F5530AF-8E73-3FCD-DDB6-C9EEB9137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>
            <a:extLst>
              <a:ext uri="{FF2B5EF4-FFF2-40B4-BE49-F238E27FC236}">
                <a16:creationId xmlns:a16="http://schemas.microsoft.com/office/drawing/2014/main" id="{470FAE6B-6720-F74E-6BCF-BBF142686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Escreva um programa para ler 2 valores (considere que não serão informados valores iguais) e mostre se o primeiro valor é maior do que o segundo valor.</a:t>
            </a:r>
          </a:p>
        </p:txBody>
      </p:sp>
      <p:sp>
        <p:nvSpPr>
          <p:cNvPr id="26627" name="Espaço Reservado para Número de Slide 1">
            <a:extLst>
              <a:ext uri="{FF2B5EF4-FFF2-40B4-BE49-F238E27FC236}">
                <a16:creationId xmlns:a16="http://schemas.microsoft.com/office/drawing/2014/main" id="{BA0965D6-F173-3785-8DDC-1D825926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DF3402-10B1-456E-B275-CA3B27A7D0A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pt-BR" altLang="pt-BR" sz="1400"/>
          </a:p>
        </p:txBody>
      </p:sp>
      <p:sp>
        <p:nvSpPr>
          <p:cNvPr id="26628" name="Text Box 1028">
            <a:extLst>
              <a:ext uri="{FF2B5EF4-FFF2-40B4-BE49-F238E27FC236}">
                <a16:creationId xmlns:a16="http://schemas.microsoft.com/office/drawing/2014/main" id="{E24938C4-1DC1-36BD-B923-516869764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080DAD3-05BB-8015-E817-29F9DA4E5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Escreva um algoritmo que leia o ano de nascimento de uma pessoa e mostre uma mensagem que diga se ela poderá votar este ano (não é necessário considerar o mês em que ela nasceu).</a:t>
            </a:r>
          </a:p>
          <a:p>
            <a:pPr fontAlgn="t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OBS: Considere o ano atual 2026.</a:t>
            </a:r>
          </a:p>
          <a:p>
            <a:pPr fontAlgn="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651" name="Espaço Reservado para Número de Slide 1">
            <a:extLst>
              <a:ext uri="{FF2B5EF4-FFF2-40B4-BE49-F238E27FC236}">
                <a16:creationId xmlns:a16="http://schemas.microsoft.com/office/drawing/2014/main" id="{0737864E-C7CB-1C2F-62A4-7C085B5C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0EE3CA-7B22-427D-AAFC-1908CC6071F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pt-BR" altLang="pt-BR" sz="1400"/>
          </a:p>
        </p:txBody>
      </p:sp>
      <p:sp>
        <p:nvSpPr>
          <p:cNvPr id="27652" name="Text Box 1028">
            <a:extLst>
              <a:ext uri="{FF2B5EF4-FFF2-40B4-BE49-F238E27FC236}">
                <a16:creationId xmlns:a16="http://schemas.microsoft.com/office/drawing/2014/main" id="{CE975FA4-3BC1-AE0B-CC85-F0FA4CB9C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>
            <a:extLst>
              <a:ext uri="{FF2B5EF4-FFF2-40B4-BE49-F238E27FC236}">
                <a16:creationId xmlns:a16="http://schemas.microsoft.com/office/drawing/2014/main" id="{347C4B24-20BF-7C29-CEC8-8BC08A664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Escreva um algoritmo que receba um número inteiro e mostre se este número está no intervalo entre 100 e 200 (inclusive).</a:t>
            </a:r>
          </a:p>
        </p:txBody>
      </p:sp>
      <p:sp>
        <p:nvSpPr>
          <p:cNvPr id="28675" name="Espaço Reservado para Número de Slide 1">
            <a:extLst>
              <a:ext uri="{FF2B5EF4-FFF2-40B4-BE49-F238E27FC236}">
                <a16:creationId xmlns:a16="http://schemas.microsoft.com/office/drawing/2014/main" id="{8288B68C-87EF-D287-F813-C278D669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5D5AFC-99B8-4B6C-9A01-DD861103433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pt-BR" altLang="pt-BR" sz="1400"/>
          </a:p>
        </p:txBody>
      </p:sp>
      <p:sp>
        <p:nvSpPr>
          <p:cNvPr id="28676" name="Text Box 1028">
            <a:extLst>
              <a:ext uri="{FF2B5EF4-FFF2-40B4-BE49-F238E27FC236}">
                <a16:creationId xmlns:a16="http://schemas.microsoft.com/office/drawing/2014/main" id="{A3ED0294-533D-1090-7371-E3E8C76C9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13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>
            <a:extLst>
              <a:ext uri="{FF2B5EF4-FFF2-40B4-BE49-F238E27FC236}">
                <a16:creationId xmlns:a16="http://schemas.microsoft.com/office/drawing/2014/main" id="{B6B43CC4-B712-46B7-B1A0-084B4EC6B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b="1">
                <a:latin typeface="Arial" panose="020B0604020202020204" pitchFamily="34" charset="0"/>
                <a:cs typeface="Arial" panose="020B0604020202020204" pitchFamily="34" charset="0"/>
              </a:rPr>
              <a:t>Escreva um algoritmo que peça para ser digitado o nome, a idade e o sexo de um aluno. Calcule a mensalidade, sabendo-se que: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b="1">
                <a:latin typeface="Arial" panose="020B0604020202020204" pitchFamily="34" charset="0"/>
                <a:cs typeface="Arial" panose="020B0604020202020204" pitchFamily="34" charset="0"/>
              </a:rPr>
              <a:t>     Mensalidade inicial: R$ 950.00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b="1">
                <a:latin typeface="Arial" panose="020B0604020202020204" pitchFamily="34" charset="0"/>
                <a:cs typeface="Arial" panose="020B0604020202020204" pitchFamily="34" charset="0"/>
              </a:rPr>
              <a:t>     Se tiver idade acima de 40 anos, tem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b="1">
                <a:latin typeface="Arial" panose="020B0604020202020204" pitchFamily="34" charset="0"/>
                <a:cs typeface="Arial" panose="020B0604020202020204" pitchFamily="34" charset="0"/>
              </a:rPr>
              <a:t>     um desconto de 15%.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b="1">
                <a:latin typeface="Arial" panose="020B0604020202020204" pitchFamily="34" charset="0"/>
                <a:cs typeface="Arial" panose="020B0604020202020204" pitchFamily="34" charset="0"/>
              </a:rPr>
              <a:t>     Se for do sexo feminino tem, ainda  um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b="1">
                <a:latin typeface="Arial" panose="020B0604020202020204" pitchFamily="34" charset="0"/>
                <a:cs typeface="Arial" panose="020B0604020202020204" pitchFamily="34" charset="0"/>
              </a:rPr>
              <a:t>     desconto de 20%.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b="1">
                <a:latin typeface="Arial" panose="020B0604020202020204" pitchFamily="34" charset="0"/>
                <a:cs typeface="Arial" panose="020B0604020202020204" pitchFamily="34" charset="0"/>
              </a:rPr>
              <a:t>No final mostre o nome, a idade, o sexo e o valor da mensalidade.</a:t>
            </a:r>
          </a:p>
        </p:txBody>
      </p:sp>
      <p:sp>
        <p:nvSpPr>
          <p:cNvPr id="29699" name="Espaço Reservado para Número de Slide 1">
            <a:extLst>
              <a:ext uri="{FF2B5EF4-FFF2-40B4-BE49-F238E27FC236}">
                <a16:creationId xmlns:a16="http://schemas.microsoft.com/office/drawing/2014/main" id="{EE1675DD-9819-6FBA-A48F-50EFCB2B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142670-51CD-4C28-9070-8A4A7BBCDCC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pt-BR" altLang="pt-BR" sz="1400"/>
          </a:p>
        </p:txBody>
      </p:sp>
      <p:sp>
        <p:nvSpPr>
          <p:cNvPr id="29700" name="Text Box 1028">
            <a:extLst>
              <a:ext uri="{FF2B5EF4-FFF2-40B4-BE49-F238E27FC236}">
                <a16:creationId xmlns:a16="http://schemas.microsoft.com/office/drawing/2014/main" id="{FE4A03AE-0E84-2875-0293-56356EB33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14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>
            <a:extLst>
              <a:ext uri="{FF2B5EF4-FFF2-40B4-BE49-F238E27FC236}">
                <a16:creationId xmlns:a16="http://schemas.microsoft.com/office/drawing/2014/main" id="{91629FF0-8F23-2C1B-EBA8-95B1B1968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Um clube resolve premiar seus tenistas com mais de 40 anos e com mais de 10 anos filiado ao clube, abolindo a mensalidade do mês. Faça um algoritmo que peça para o usuário digitar o nome do sócio, o esporte que pratica, a data de nascimento e a data de filiação ao clube, e mostre o nome e somente se ele NÃO pagará a mensalidade (se ele deve pagar não mostrar nada).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OBS: Usar como data atual: 2023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Utilizar somente o comande SE simples.</a:t>
            </a:r>
          </a:p>
        </p:txBody>
      </p:sp>
      <p:sp>
        <p:nvSpPr>
          <p:cNvPr id="31747" name="Espaço Reservado para Número de Slide 1">
            <a:extLst>
              <a:ext uri="{FF2B5EF4-FFF2-40B4-BE49-F238E27FC236}">
                <a16:creationId xmlns:a16="http://schemas.microsoft.com/office/drawing/2014/main" id="{0B67CB8B-C35D-55F6-8EEE-39E614A0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B1BD3F-23E4-4E79-911E-45D6B31A486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pt-BR" altLang="pt-BR" sz="1400"/>
          </a:p>
        </p:txBody>
      </p:sp>
      <p:sp>
        <p:nvSpPr>
          <p:cNvPr id="31748" name="Text Box 1028">
            <a:extLst>
              <a:ext uri="{FF2B5EF4-FFF2-40B4-BE49-F238E27FC236}">
                <a16:creationId xmlns:a16="http://schemas.microsoft.com/office/drawing/2014/main" id="{F821A8EC-A420-8423-633E-BAFF2F06E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15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>
            <a:extLst>
              <a:ext uri="{FF2B5EF4-FFF2-40B4-BE49-F238E27FC236}">
                <a16:creationId xmlns:a16="http://schemas.microsoft.com/office/drawing/2014/main" id="{ADE61D9D-92F8-CCE0-062B-639EE2809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/>
              <a:t>Escreva um programa para ler um valor e escrever se é </a:t>
            </a:r>
            <a:r>
              <a:rPr lang="pt-BR" altLang="pt-BR" sz="3600" b="1"/>
              <a:t>zero, positivo </a:t>
            </a:r>
            <a:r>
              <a:rPr lang="pt-BR" altLang="pt-BR" sz="3600"/>
              <a:t>ou </a:t>
            </a:r>
            <a:r>
              <a:rPr lang="pt-BR" altLang="pt-BR" sz="3600" b="1"/>
              <a:t>negativo</a:t>
            </a:r>
            <a:r>
              <a:rPr lang="pt-BR" altLang="pt-BR" sz="3600"/>
              <a:t>. </a:t>
            </a:r>
          </a:p>
        </p:txBody>
      </p:sp>
      <p:sp>
        <p:nvSpPr>
          <p:cNvPr id="22531" name="Espaço Reservado para Número de Slide 1">
            <a:extLst>
              <a:ext uri="{FF2B5EF4-FFF2-40B4-BE49-F238E27FC236}">
                <a16:creationId xmlns:a16="http://schemas.microsoft.com/office/drawing/2014/main" id="{1543522E-86D9-74F8-2874-AFD84A9B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09D4AB-0500-4A14-8BFA-A284547ECE7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pt-BR" altLang="pt-BR" sz="1400"/>
          </a:p>
        </p:txBody>
      </p:sp>
      <p:sp>
        <p:nvSpPr>
          <p:cNvPr id="22532" name="Text Box 1028">
            <a:extLst>
              <a:ext uri="{FF2B5EF4-FFF2-40B4-BE49-F238E27FC236}">
                <a16:creationId xmlns:a16="http://schemas.microsoft.com/office/drawing/2014/main" id="{429B37D1-36E8-1C50-3494-8128211B1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16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>
            <a:extLst>
              <a:ext uri="{FF2B5EF4-FFF2-40B4-BE49-F238E27FC236}">
                <a16:creationId xmlns:a16="http://schemas.microsoft.com/office/drawing/2014/main" id="{2D46AA37-7604-03D0-2817-2646E6DBB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85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t">
              <a:buFont typeface="Wingdings" panose="05000000000000000000" pitchFamily="2" charset="2"/>
              <a:buNone/>
            </a:pPr>
            <a:r>
              <a:rPr lang="pt-BR" altLang="pt-BR" sz="3600" dirty="0"/>
              <a:t>Escreva um algoritmo que tenha como entrada i nome, a altura e o sexo de uma pessoa. No final mostre o nome e o  calculo do seu peso ideal, utilizando as seguintes fórmulas:</a:t>
            </a:r>
          </a:p>
          <a:p>
            <a:pPr fontAlgn="t">
              <a:buFont typeface="Wingdings" panose="05000000000000000000" pitchFamily="2" charset="2"/>
              <a:buNone/>
            </a:pPr>
            <a:r>
              <a:rPr lang="pt-BR" altLang="pt-BR" sz="3600" dirty="0"/>
              <a:t>    Para homens: (72.7*h) – 58 </a:t>
            </a:r>
          </a:p>
          <a:p>
            <a:pPr fontAlgn="t">
              <a:buFont typeface="Wingdings" panose="05000000000000000000" pitchFamily="2" charset="2"/>
              <a:buNone/>
            </a:pPr>
            <a:r>
              <a:rPr lang="pt-BR" altLang="pt-BR" sz="3600" dirty="0"/>
              <a:t>    Para mulheres: (62.1*h) – 44.7 </a:t>
            </a:r>
          </a:p>
          <a:p>
            <a:pPr fontAlgn="t">
              <a:buFont typeface="Wingdings" panose="05000000000000000000" pitchFamily="2" charset="2"/>
              <a:buNone/>
            </a:pPr>
            <a:r>
              <a:rPr lang="pt-BR" altLang="pt-BR" sz="3600" dirty="0"/>
              <a:t>    Onde h equivale a altura da pessoa.</a:t>
            </a:r>
          </a:p>
        </p:txBody>
      </p:sp>
      <p:sp>
        <p:nvSpPr>
          <p:cNvPr id="23555" name="Espaço Reservado para Número de Slide 1">
            <a:extLst>
              <a:ext uri="{FF2B5EF4-FFF2-40B4-BE49-F238E27FC236}">
                <a16:creationId xmlns:a16="http://schemas.microsoft.com/office/drawing/2014/main" id="{38B98E1C-EF55-07E2-0FAB-3EA8DD78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D3662A-21C9-4DE1-8E54-AF21E5C6242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pt-BR" altLang="pt-BR" sz="1400"/>
          </a:p>
        </p:txBody>
      </p:sp>
      <p:sp>
        <p:nvSpPr>
          <p:cNvPr id="23556" name="Text Box 1028">
            <a:extLst>
              <a:ext uri="{FF2B5EF4-FFF2-40B4-BE49-F238E27FC236}">
                <a16:creationId xmlns:a16="http://schemas.microsoft.com/office/drawing/2014/main" id="{7E2F3455-B208-C2E8-2ADD-AA61A25C3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17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>
            <a:extLst>
              <a:ext uri="{FF2B5EF4-FFF2-40B4-BE49-F238E27FC236}">
                <a16:creationId xmlns:a16="http://schemas.microsoft.com/office/drawing/2014/main" id="{D9FDE83C-9AD2-22B4-46A5-97EAF5B95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Escrever um algoritmo que leia o nome de um aluno e as notas das três provas que ele obteve no semestre. No final informar o nome do aluno, as suas notas, a sua média (aritmética) e a sutuação, sendo: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           &lt; 3 – REPROVADO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           &gt; 3 e &lt; 7 - RECUPERAÇÃO                  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           &gt;= 7  - APOVADO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</a:p>
        </p:txBody>
      </p:sp>
      <p:sp>
        <p:nvSpPr>
          <p:cNvPr id="24579" name="Espaço Reservado para Número de Slide 1">
            <a:extLst>
              <a:ext uri="{FF2B5EF4-FFF2-40B4-BE49-F238E27FC236}">
                <a16:creationId xmlns:a16="http://schemas.microsoft.com/office/drawing/2014/main" id="{0A81A12A-FEAD-023C-1FF4-BFA4E348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B3D5B3-8F98-4DD5-8A8E-F4663685133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pt-BR" altLang="pt-BR" sz="1400"/>
          </a:p>
        </p:txBody>
      </p:sp>
      <p:sp>
        <p:nvSpPr>
          <p:cNvPr id="24580" name="Text Box 1028">
            <a:extLst>
              <a:ext uri="{FF2B5EF4-FFF2-40B4-BE49-F238E27FC236}">
                <a16:creationId xmlns:a16="http://schemas.microsoft.com/office/drawing/2014/main" id="{39852D39-E031-D9B0-1FD4-D6A5539DE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18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>
            <a:extLst>
              <a:ext uri="{FF2B5EF4-FFF2-40B4-BE49-F238E27FC236}">
                <a16:creationId xmlns:a16="http://schemas.microsoft.com/office/drawing/2014/main" id="{545910B6-B12C-EA41-2DE7-9B4271022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/>
              <a:t>Escrever um algoritmo para ler o nome e ano de nascimento de uma pessoa, calcular e mostrar sua idade, mostrando também, se ela já tem idade para votar (16 anos ou mais) e para conseguir a Carteira de Habilitação (18 anos ou mais).</a:t>
            </a:r>
          </a:p>
        </p:txBody>
      </p:sp>
      <p:sp>
        <p:nvSpPr>
          <p:cNvPr id="25603" name="Espaço Reservado para Número de Slide 1">
            <a:extLst>
              <a:ext uri="{FF2B5EF4-FFF2-40B4-BE49-F238E27FC236}">
                <a16:creationId xmlns:a16="http://schemas.microsoft.com/office/drawing/2014/main" id="{A914208F-B2F4-B7B9-B2F2-3A6421F3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08725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AD8BE4E-6951-4414-9B59-78560F6BC69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pt-BR" altLang="pt-BR" sz="1400"/>
          </a:p>
        </p:txBody>
      </p:sp>
      <p:sp>
        <p:nvSpPr>
          <p:cNvPr id="25604" name="Text Box 1028">
            <a:extLst>
              <a:ext uri="{FF2B5EF4-FFF2-40B4-BE49-F238E27FC236}">
                <a16:creationId xmlns:a16="http://schemas.microsoft.com/office/drawing/2014/main" id="{872E91F0-3D5B-35D1-A98F-EE672840F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19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>
            <a:extLst>
              <a:ext uri="{FF2B5EF4-FFF2-40B4-BE49-F238E27FC236}">
                <a16:creationId xmlns:a16="http://schemas.microsoft.com/office/drawing/2014/main" id="{080EB05E-2BA4-8C74-5DA1-7817186B3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/>
              <a:t>Escrever um algoritmo que leia o código de origem de um produto e mostre na tela a região de sua procedência conforme a tabela abaixo: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/>
              <a:t>    código 1 : Norte/Nordeste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/>
              <a:t>    código 2: Centro-Oeste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/>
              <a:t>    código 3: Sudeste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/>
              <a:t>    código 4: Sul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 i="1"/>
              <a:t>Observação: </a:t>
            </a:r>
            <a:r>
              <a:rPr lang="pt-BR" altLang="pt-BR" sz="3000"/>
              <a:t>Caso o código não seja nenhum dos especificados o produto deve ser mostrado como Importado.</a:t>
            </a:r>
          </a:p>
        </p:txBody>
      </p:sp>
      <p:sp>
        <p:nvSpPr>
          <p:cNvPr id="26627" name="Espaço Reservado para Número de Slide 1">
            <a:extLst>
              <a:ext uri="{FF2B5EF4-FFF2-40B4-BE49-F238E27FC236}">
                <a16:creationId xmlns:a16="http://schemas.microsoft.com/office/drawing/2014/main" id="{13B97D80-D19A-021C-5FAB-040BEB20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11F7E8-C9A9-4AEC-B7EB-EAC271B9513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pt-BR" altLang="pt-BR" sz="1400"/>
          </a:p>
        </p:txBody>
      </p:sp>
      <p:sp>
        <p:nvSpPr>
          <p:cNvPr id="26628" name="Text Box 1028">
            <a:extLst>
              <a:ext uri="{FF2B5EF4-FFF2-40B4-BE49-F238E27FC236}">
                <a16:creationId xmlns:a16="http://schemas.microsoft.com/office/drawing/2014/main" id="{7A563779-79F1-7A81-60D2-189D8262C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D7B921CE-0DEB-1D8B-00BE-C4D45704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>
                <a:latin typeface="Arial" panose="020B0604020202020204" pitchFamily="34" charset="0"/>
                <a:cs typeface="Arial" panose="020B0604020202020204" pitchFamily="34" charset="0"/>
              </a:rPr>
              <a:t>Escrever um algoritmo que leia um valor numérico inteiro e mostr o dia da semana por extenso (1=Domino, 2=Segunda-Feira, ...).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>
                <a:latin typeface="Arial" panose="020B0604020202020204" pitchFamily="34" charset="0"/>
                <a:cs typeface="Arial" panose="020B0604020202020204" pitchFamily="34" charset="0"/>
              </a:rPr>
              <a:t>OBS: Utilizar o comando se composto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>
                <a:latin typeface="Arial" panose="020B0604020202020204" pitchFamily="34" charset="0"/>
                <a:cs typeface="Arial" panose="020B0604020202020204" pitchFamily="34" charset="0"/>
              </a:rPr>
              <a:t>          (encadeado)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>
                <a:latin typeface="Arial" panose="020B0604020202020204" pitchFamily="34" charset="0"/>
                <a:cs typeface="Arial" panose="020B0604020202020204" pitchFamily="34" charset="0"/>
              </a:rPr>
              <a:t>         Se o valor for diferente de 1 a 7, emitir a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000">
                <a:latin typeface="Arial" panose="020B0604020202020204" pitchFamily="34" charset="0"/>
                <a:cs typeface="Arial" panose="020B0604020202020204" pitchFamily="34" charset="0"/>
              </a:rPr>
              <a:t>         mensagem VALOR INVÁLIDO.</a:t>
            </a:r>
          </a:p>
        </p:txBody>
      </p:sp>
      <p:sp>
        <p:nvSpPr>
          <p:cNvPr id="27651" name="Espaço Reservado para Número de Slide 1">
            <a:extLst>
              <a:ext uri="{FF2B5EF4-FFF2-40B4-BE49-F238E27FC236}">
                <a16:creationId xmlns:a16="http://schemas.microsoft.com/office/drawing/2014/main" id="{A6A276CE-E448-04B9-8B2E-84C6110F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B3CAEC-51E9-4EF3-810B-D9FD1D8D0C2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pt-BR" altLang="pt-BR" sz="1400"/>
          </a:p>
        </p:txBody>
      </p:sp>
      <p:sp>
        <p:nvSpPr>
          <p:cNvPr id="27652" name="Text Box 1028">
            <a:extLst>
              <a:ext uri="{FF2B5EF4-FFF2-40B4-BE49-F238E27FC236}">
                <a16:creationId xmlns:a16="http://schemas.microsoft.com/office/drawing/2014/main" id="{D15E33FF-241D-E792-8D78-A8099A775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21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A6E3A33-DBAC-A8BA-7781-B99950E35620}"/>
              </a:ext>
            </a:extLst>
          </p:cNvPr>
          <p:cNvSpPr/>
          <p:nvPr/>
        </p:nvSpPr>
        <p:spPr bwMode="auto">
          <a:xfrm>
            <a:off x="1116013" y="4437063"/>
            <a:ext cx="4248150" cy="22320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pt-BR"/>
          </a:p>
        </p:txBody>
      </p:sp>
      <p:sp>
        <p:nvSpPr>
          <p:cNvPr id="28675" name="Text Box 4">
            <a:extLst>
              <a:ext uri="{FF2B5EF4-FFF2-40B4-BE49-F238E27FC236}">
                <a16:creationId xmlns:a16="http://schemas.microsoft.com/office/drawing/2014/main" id="{0CC3077B-AFBE-90DA-56BC-6DB644921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637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Um posto de combustível vende: álcool, diesel,  gasolina e gás, com o preço conforme tabela abaixo. Faça um algoritmo que leia o tipo de combustível comprado (a, d, g ou x) e a quantidade em litros. Mostrar, no final, o valor em reais a ser pago pelo combustível. Se o usuário digitar uma letra diferente o algoritmo deve mostrar que o tipo é INVÁLIDO.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         Combustível      Preço por litro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          A - Alcool              1.799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          D - Diesel             1.549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          G - Gasolina         2.659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          X - Gás                 1.399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28676" name="Espaço Reservado para Número de Slide 1">
            <a:extLst>
              <a:ext uri="{FF2B5EF4-FFF2-40B4-BE49-F238E27FC236}">
                <a16:creationId xmlns:a16="http://schemas.microsoft.com/office/drawing/2014/main" id="{64B86570-C8B9-BF02-8D8B-0780D134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1092C9-1F0C-46C3-8FDF-1FB95E07AFE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pt-BR" altLang="pt-BR" sz="1400"/>
          </a:p>
        </p:txBody>
      </p:sp>
      <p:sp>
        <p:nvSpPr>
          <p:cNvPr id="28677" name="Text Box 1028">
            <a:extLst>
              <a:ext uri="{FF2B5EF4-FFF2-40B4-BE49-F238E27FC236}">
                <a16:creationId xmlns:a16="http://schemas.microsoft.com/office/drawing/2014/main" id="{D1CEC972-ECD7-311A-AD30-7B24A20AE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22</a:t>
            </a:r>
          </a:p>
        </p:txBody>
      </p:sp>
      <p:cxnSp>
        <p:nvCxnSpPr>
          <p:cNvPr id="28678" name="Conector reto 4">
            <a:extLst>
              <a:ext uri="{FF2B5EF4-FFF2-40B4-BE49-F238E27FC236}">
                <a16:creationId xmlns:a16="http://schemas.microsoft.com/office/drawing/2014/main" id="{B1C74EB7-6A86-AB29-340C-CE0EFE34544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16013" y="4941888"/>
            <a:ext cx="4248150" cy="71437"/>
          </a:xfrm>
          <a:prstGeom prst="line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79" name="Conector reto 7">
            <a:extLst>
              <a:ext uri="{FF2B5EF4-FFF2-40B4-BE49-F238E27FC236}">
                <a16:creationId xmlns:a16="http://schemas.microsoft.com/office/drawing/2014/main" id="{C37FEA4A-9BB0-CBF3-057D-FA9452B433A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40088" y="4437063"/>
            <a:ext cx="0" cy="2232025"/>
          </a:xfrm>
          <a:prstGeom prst="line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>
            <a:extLst>
              <a:ext uri="{FF2B5EF4-FFF2-40B4-BE49-F238E27FC236}">
                <a16:creationId xmlns:a16="http://schemas.microsoft.com/office/drawing/2014/main" id="{A4F39786-1FC6-17BB-AF29-1F9D4957B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>
                <a:latin typeface="Arial" panose="020B0604020202020204" pitchFamily="34" charset="0"/>
                <a:cs typeface="Arial" panose="020B0604020202020204" pitchFamily="34" charset="0"/>
              </a:rPr>
              <a:t>Escrever um algoritmo que leia três números inteiros e exiba-os em ordem decrescente (do maior para o menor)..</a:t>
            </a:r>
          </a:p>
        </p:txBody>
      </p:sp>
      <p:sp>
        <p:nvSpPr>
          <p:cNvPr id="29699" name="Espaço Reservado para Número de Slide 1">
            <a:extLst>
              <a:ext uri="{FF2B5EF4-FFF2-40B4-BE49-F238E27FC236}">
                <a16:creationId xmlns:a16="http://schemas.microsoft.com/office/drawing/2014/main" id="{7A331255-8ECA-D14C-F042-93E05EED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A43D78-E323-4084-9BBA-CCBBB250E1E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pt-BR" altLang="pt-BR" sz="1400"/>
          </a:p>
        </p:txBody>
      </p:sp>
      <p:sp>
        <p:nvSpPr>
          <p:cNvPr id="29700" name="Text Box 1028">
            <a:extLst>
              <a:ext uri="{FF2B5EF4-FFF2-40B4-BE49-F238E27FC236}">
                <a16:creationId xmlns:a16="http://schemas.microsoft.com/office/drawing/2014/main" id="{BD3D7B65-237E-DD03-A685-13F4918EF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23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C1583D4-D72A-F5CF-5C32-E49AAE284DEA}"/>
              </a:ext>
            </a:extLst>
          </p:cNvPr>
          <p:cNvSpPr/>
          <p:nvPr/>
        </p:nvSpPr>
        <p:spPr bwMode="auto">
          <a:xfrm>
            <a:off x="5940425" y="4005263"/>
            <a:ext cx="2879725" cy="1584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pt-BR"/>
          </a:p>
        </p:txBody>
      </p:sp>
      <p:sp>
        <p:nvSpPr>
          <p:cNvPr id="30723" name="Text Box 4">
            <a:extLst>
              <a:ext uri="{FF2B5EF4-FFF2-40B4-BE49-F238E27FC236}">
                <a16:creationId xmlns:a16="http://schemas.microsoft.com/office/drawing/2014/main" id="{4B6943AC-EC5C-7386-10B8-7245430E7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Escrever um algoritmo para ler um peso na Terra, e o nome de um planeta, e mostrar o valor deste mesmo peso neste planeta segundo a gravidade vista na tabela abaixo. Se não for um planeta da tabela abaixo mostrar a mensagem PLANETA INCORRETO.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Planeta           gravidade relativa g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Mercúrio                        0,37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Vênus                            0,88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Marte                             0,38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Júpiter                           2,64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Saturno                         1,15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Urano                            1,17                     </a:t>
            </a:r>
          </a:p>
        </p:txBody>
      </p:sp>
      <p:sp>
        <p:nvSpPr>
          <p:cNvPr id="30724" name="Espaço Reservado para Número de Slide 1">
            <a:extLst>
              <a:ext uri="{FF2B5EF4-FFF2-40B4-BE49-F238E27FC236}">
                <a16:creationId xmlns:a16="http://schemas.microsoft.com/office/drawing/2014/main" id="{B9935EDA-8FF0-8DEF-3FAE-17A6C99F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8B9CE5-3562-4C6F-B779-F45934DB72E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pt-BR" altLang="pt-BR" sz="1400"/>
          </a:p>
        </p:txBody>
      </p:sp>
      <p:sp>
        <p:nvSpPr>
          <p:cNvPr id="30725" name="Text Box 1028">
            <a:extLst>
              <a:ext uri="{FF2B5EF4-FFF2-40B4-BE49-F238E27FC236}">
                <a16:creationId xmlns:a16="http://schemas.microsoft.com/office/drawing/2014/main" id="{4C75CF61-4E25-3593-5F80-8A283B26C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24</a:t>
            </a:r>
          </a:p>
        </p:txBody>
      </p:sp>
      <p:sp>
        <p:nvSpPr>
          <p:cNvPr id="30726" name="CaixaDeTexto 1">
            <a:extLst>
              <a:ext uri="{FF2B5EF4-FFF2-40B4-BE49-F238E27FC236}">
                <a16:creationId xmlns:a16="http://schemas.microsoft.com/office/drawing/2014/main" id="{99D3C654-7602-21DC-508C-D0DFD1C12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4005263"/>
            <a:ext cx="318293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Para calcular o peso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no planeta use a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fórmula: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>
                <a:latin typeface="Arial" panose="020B0604020202020204" pitchFamily="34" charset="0"/>
                <a:cs typeface="Arial" panose="020B0604020202020204" pitchFamily="34" charset="0"/>
              </a:rPr>
              <a:t>Pi = PTerra /10*gi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>
            <a:extLst>
              <a:ext uri="{FF2B5EF4-FFF2-40B4-BE49-F238E27FC236}">
                <a16:creationId xmlns:a16="http://schemas.microsoft.com/office/drawing/2014/main" id="{E9CA7A9F-3DE8-1E08-0C70-5289AE497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>
                <a:latin typeface="Arial" panose="020B0604020202020204" pitchFamily="34" charset="0"/>
                <a:cs typeface="Arial" panose="020B0604020202020204" pitchFamily="34" charset="0"/>
              </a:rPr>
              <a:t>Fazer um programa para ler um número inteiro e  mostrar se o nesmo é múltiplo de 2, 3, 5 individualmente e se é múltiplo de 2 e 3, ou 3 e 5. Mostrar, também, mensagem quando o número não atingir nenhum das condições acima.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1747" name="Espaço Reservado para Número de Slide 1">
            <a:extLst>
              <a:ext uri="{FF2B5EF4-FFF2-40B4-BE49-F238E27FC236}">
                <a16:creationId xmlns:a16="http://schemas.microsoft.com/office/drawing/2014/main" id="{B13FDA90-70C1-2BB1-F6E2-A7B65CE29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EEDDA8-4C1E-4375-B6EF-1341A7A21BE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pt-BR" altLang="pt-BR" sz="1400"/>
          </a:p>
        </p:txBody>
      </p:sp>
      <p:sp>
        <p:nvSpPr>
          <p:cNvPr id="31748" name="Text Box 1028">
            <a:extLst>
              <a:ext uri="{FF2B5EF4-FFF2-40B4-BE49-F238E27FC236}">
                <a16:creationId xmlns:a16="http://schemas.microsoft.com/office/drawing/2014/main" id="{EFD216B4-B250-999C-4C4E-082ECFF97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>
            <a:extLst>
              <a:ext uri="{FF2B5EF4-FFF2-40B4-BE49-F238E27FC236}">
                <a16:creationId xmlns:a16="http://schemas.microsoft.com/office/drawing/2014/main" id="{B833CC3B-26E0-8048-C902-DFDB55C47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035175"/>
            <a:ext cx="8820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t>Escrever um algorutmo que leia três valoes inteiros (a, b. c) e mostre o tipo de triângulo que estes valores formam. Não esquecer que para ser um triângulo cada lado deve ser menor do qoe a soma dos outros dois. E o tipo do triângulo será: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t>        Três lados desiguais = ESCALENO,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t>        Três lados iguais = EQILÁTERO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>
                <a:latin typeface="Arial" panose="020B0604020202020204" pitchFamily="34" charset="0"/>
                <a:cs typeface="Arial" panose="020B0604020202020204" pitchFamily="34" charset="0"/>
              </a:rPr>
              <a:t>         Dois lafos iguais = ISÓCELES.</a:t>
            </a:r>
          </a:p>
        </p:txBody>
      </p:sp>
      <p:sp>
        <p:nvSpPr>
          <p:cNvPr id="32771" name="Espaço Reservado para Número de Slide 1">
            <a:extLst>
              <a:ext uri="{FF2B5EF4-FFF2-40B4-BE49-F238E27FC236}">
                <a16:creationId xmlns:a16="http://schemas.microsoft.com/office/drawing/2014/main" id="{F220A358-4594-CBAF-A049-2AC31890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C31527-3F52-4FAD-BB53-60ECB74BEB7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pt-BR" altLang="pt-BR" sz="1400"/>
          </a:p>
        </p:txBody>
      </p:sp>
      <p:sp>
        <p:nvSpPr>
          <p:cNvPr id="32772" name="Text Box 1028">
            <a:extLst>
              <a:ext uri="{FF2B5EF4-FFF2-40B4-BE49-F238E27FC236}">
                <a16:creationId xmlns:a16="http://schemas.microsoft.com/office/drawing/2014/main" id="{F46771C9-33BC-F4D5-F95B-F81692F3B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</a:t>
            </a:r>
            <a:r>
              <a:rPr lang="pt-BR" altLang="pt-BR" sz="3600" dirty="0">
                <a:latin typeface="Arial Black" panose="020B0A04020102020204" pitchFamily="34" charset="0"/>
              </a:rPr>
              <a:t>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Número de Slide 1">
            <a:extLst>
              <a:ext uri="{FF2B5EF4-FFF2-40B4-BE49-F238E27FC236}">
                <a16:creationId xmlns:a16="http://schemas.microsoft.com/office/drawing/2014/main" id="{8801793F-986D-EBB5-154B-51BB92E3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0167A7-FE68-48AC-B5AB-BC96DC62D66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pt-BR" altLang="pt-BR" sz="1400"/>
          </a:p>
        </p:txBody>
      </p:sp>
      <p:sp>
        <p:nvSpPr>
          <p:cNvPr id="33795" name="Text Box 1028">
            <a:extLst>
              <a:ext uri="{FF2B5EF4-FFF2-40B4-BE49-F238E27FC236}">
                <a16:creationId xmlns:a16="http://schemas.microsoft.com/office/drawing/2014/main" id="{926BFD9E-934E-8D90-BB84-934E1D6C2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pic>
        <p:nvPicPr>
          <p:cNvPr id="33796" name="Picture 2" descr="FIM - Creative Digital Studio">
            <a:extLst>
              <a:ext uri="{FF2B5EF4-FFF2-40B4-BE49-F238E27FC236}">
                <a16:creationId xmlns:a16="http://schemas.microsoft.com/office/drawing/2014/main" id="{62E7A6E1-675A-8A26-056D-207310607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276475"/>
            <a:ext cx="5184775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677435081057B40A489DF4F858BB6F6" ma:contentTypeVersion="3" ma:contentTypeDescription="Crie um novo documento." ma:contentTypeScope="" ma:versionID="3d24ba63a063443182cb9be0098d81a9">
  <xsd:schema xmlns:xsd="http://www.w3.org/2001/XMLSchema" xmlns:xs="http://www.w3.org/2001/XMLSchema" xmlns:p="http://schemas.microsoft.com/office/2006/metadata/properties" xmlns:ns2="c763d9d6-67d4-4f43-b9a9-cbfbd948e2d1" targetNamespace="http://schemas.microsoft.com/office/2006/metadata/properties" ma:root="true" ma:fieldsID="2f727c3dd44bbea65ab8478cd985a77d" ns2:_="">
    <xsd:import namespace="c763d9d6-67d4-4f43-b9a9-cbfbd948e2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3d9d6-67d4-4f43-b9a9-cbfbd948e2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19BA81-7D93-4FA7-B347-83BCF5E7CB2D}"/>
</file>

<file path=customXml/itemProps2.xml><?xml version="1.0" encoding="utf-8"?>
<ds:datastoreItem xmlns:ds="http://schemas.openxmlformats.org/officeDocument/2006/customXml" ds:itemID="{C4CCC6E3-2A9B-4559-AC1E-12F3490EFF4B}"/>
</file>

<file path=customXml/itemProps3.xml><?xml version="1.0" encoding="utf-8"?>
<ds:datastoreItem xmlns:ds="http://schemas.openxmlformats.org/officeDocument/2006/customXml" ds:itemID="{DB11FDDD-404A-4B66-AAC5-BB968A77BE34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40892</TotalTime>
  <Words>2263</Words>
  <Application>Microsoft Office PowerPoint</Application>
  <PresentationFormat>Apresentação na tela (4:3)</PresentationFormat>
  <Paragraphs>375</Paragraphs>
  <Slides>46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3" baseType="lpstr">
      <vt:lpstr>Arial</vt:lpstr>
      <vt:lpstr>Arial Black</vt:lpstr>
      <vt:lpstr>BookmanITC Lt BT</vt:lpstr>
      <vt:lpstr>Calibri</vt:lpstr>
      <vt:lpstr>Tahoma</vt:lpstr>
      <vt:lpstr>Wingdings</vt:lpstr>
      <vt:lpstr>Geometrico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MARCOS JR</cp:lastModifiedBy>
  <cp:revision>159</cp:revision>
  <dcterms:created xsi:type="dcterms:W3CDTF">2008-02-25T13:34:03Z</dcterms:created>
  <dcterms:modified xsi:type="dcterms:W3CDTF">2026-08-26T19:43:07Z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0x0101005677435081057B40A489DF4F858BB6F6</vt:lpwstr>
  </property>
</Properties>
</file>