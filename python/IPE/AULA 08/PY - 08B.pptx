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  <p:sldMasterId id="2147484261" r:id="rId5"/>
  </p:sldMasterIdLst>
  <p:sldIdLst>
    <p:sldId id="284" r:id="rId6"/>
    <p:sldId id="283" r:id="rId7"/>
    <p:sldId id="285" r:id="rId8"/>
    <p:sldId id="286" r:id="rId9"/>
    <p:sldId id="287" r:id="rId10"/>
    <p:sldId id="289" r:id="rId11"/>
    <p:sldId id="295" r:id="rId12"/>
    <p:sldId id="288" r:id="rId13"/>
    <p:sldId id="290" r:id="rId14"/>
    <p:sldId id="291" r:id="rId15"/>
    <p:sldId id="292" r:id="rId16"/>
    <p:sldId id="293" r:id="rId17"/>
    <p:sldId id="294" r:id="rId18"/>
    <p:sldId id="296" r:id="rId19"/>
    <p:sldId id="297" r:id="rId20"/>
    <p:sldId id="298" r:id="rId21"/>
    <p:sldId id="299" r:id="rId22"/>
    <p:sldId id="300" r:id="rId23"/>
    <p:sldId id="301" r:id="rId24"/>
    <p:sldId id="302" r:id="rId25"/>
    <p:sldId id="303" r:id="rId26"/>
    <p:sldId id="304" r:id="rId27"/>
    <p:sldId id="305" r:id="rId28"/>
    <p:sldId id="306" r:id="rId29"/>
    <p:sldId id="307" r:id="rId30"/>
    <p:sldId id="309" r:id="rId31"/>
    <p:sldId id="308" r:id="rId32"/>
    <p:sldId id="310" r:id="rId33"/>
    <p:sldId id="311" r:id="rId34"/>
    <p:sldId id="312" r:id="rId35"/>
    <p:sldId id="314" r:id="rId36"/>
    <p:sldId id="313" r:id="rId37"/>
    <p:sldId id="315" r:id="rId38"/>
    <p:sldId id="318" r:id="rId39"/>
    <p:sldId id="316" r:id="rId40"/>
    <p:sldId id="317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7D5C35-479E-49A9-949F-33B187FC9DE1}" v="88" dt="2022-10-09T22:49:56.519"/>
    <p1510:client id="{E2C15D46-8413-522D-B1FA-00D253880825}" v="1763" dt="2022-10-10T05:36:27.7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presProps" Target="pres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viewProps" Target="view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microsoft.com/office/2015/10/relationships/revisionInfo" Target="revisionInfo.xml"/><Relationship Id="rId20" Type="http://schemas.openxmlformats.org/officeDocument/2006/relationships/slide" Target="slides/slide15.xml"/><Relationship Id="rId41" Type="http://schemas.openxmlformats.org/officeDocument/2006/relationships/slide" Target="slides/slide36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00C3AA9-ED75-C5E7-D9CD-8E27350E8D95}"/>
              </a:ext>
            </a:extLst>
          </p:cNvPr>
          <p:cNvGrpSpPr>
            <a:grpSpLocks/>
          </p:cNvGrpSpPr>
          <p:nvPr/>
        </p:nvGrpSpPr>
        <p:grpSpPr bwMode="auto">
          <a:xfrm>
            <a:off x="1" y="2438401"/>
            <a:ext cx="12012084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0D76C368-92FA-8374-2380-A6A5F8BF17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A0337D93-7547-DEF8-E863-27FFDFC876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pt-BR" altLang="pt-BR" sz="2400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D9745C12-7314-7EA4-3DE9-F8F9BF35A9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pt-BR" altLang="pt-BR" sz="2400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412CDB95-18F0-CCED-7012-123D7BFC79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FE51E7A-A9D3-75E7-0AE0-7D2D181A24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pt-BR" altLang="pt-BR" sz="240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BC01756-E254-5F06-5DD1-E4F16AED79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pt-BR" altLang="pt-BR" sz="2400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1ED0B429-6E3F-6923-8AE2-C6957AB0F6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defRPr/>
              </a:pPr>
              <a:endParaRPr lang="pt-BR" altLang="pt-BR" sz="2400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66F137C8-AC2A-9297-544E-6A559007BF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defRPr/>
              </a:pPr>
              <a:endParaRPr lang="pt-BR" altLang="pt-BR" sz="2400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4F205810-CE7F-F10D-A997-1E24EF088E1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defRPr/>
              </a:pPr>
              <a:endParaRPr lang="pt-BR" altLang="pt-BR" sz="2400"/>
            </a:p>
          </p:txBody>
        </p:sp>
      </p:grpSp>
      <p:sp>
        <p:nvSpPr>
          <p:cNvPr id="410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320800" y="18288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410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E1B64769-8FD3-F639-E0CA-22B3928874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13208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8914110-F16F-8F7F-123D-BAAA436C722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572000" y="6248400"/>
            <a:ext cx="38608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2BB5216E-4F98-3BB8-A551-6268E27AAD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91440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0F1A5B98-C518-41C6-9F5F-5DB1B5FC5F72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4473237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00C3AA9-ED75-C5E7-D9CD-8E27350E8D95}"/>
              </a:ext>
            </a:extLst>
          </p:cNvPr>
          <p:cNvGrpSpPr>
            <a:grpSpLocks/>
          </p:cNvGrpSpPr>
          <p:nvPr/>
        </p:nvGrpSpPr>
        <p:grpSpPr bwMode="auto">
          <a:xfrm>
            <a:off x="1" y="2438401"/>
            <a:ext cx="12012084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0D76C368-92FA-8374-2380-A6A5F8BF17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A0337D93-7547-DEF8-E863-27FFDFC876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pt-BR" altLang="pt-BR" sz="2400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D9745C12-7314-7EA4-3DE9-F8F9BF35A9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pt-BR" altLang="pt-BR" sz="2400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412CDB95-18F0-CCED-7012-123D7BFC79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FE51E7A-A9D3-75E7-0AE0-7D2D181A24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pt-BR" altLang="pt-BR" sz="240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BC01756-E254-5F06-5DD1-E4F16AED79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pt-BR" altLang="pt-BR" sz="2400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1ED0B429-6E3F-6923-8AE2-C6957AB0F6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defRPr/>
              </a:pPr>
              <a:endParaRPr lang="pt-BR" altLang="pt-BR" sz="2400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66F137C8-AC2A-9297-544E-6A559007BF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defRPr/>
              </a:pPr>
              <a:endParaRPr lang="pt-BR" altLang="pt-BR" sz="2400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4F205810-CE7F-F10D-A997-1E24EF088E1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defRPr/>
              </a:pPr>
              <a:endParaRPr lang="pt-BR" altLang="pt-BR" sz="2400"/>
            </a:p>
          </p:txBody>
        </p:sp>
      </p:grpSp>
      <p:sp>
        <p:nvSpPr>
          <p:cNvPr id="410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320800" y="18288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410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E1B64769-8FD3-F639-E0CA-22B3928874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13208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8914110-F16F-8F7F-123D-BAAA436C722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572000" y="6248400"/>
            <a:ext cx="38608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2BB5216E-4F98-3BB8-A551-6268E27AAD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91440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0F1A5B98-C518-41C6-9F5F-5DB1B5FC5F72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4473237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1035">
            <a:extLst>
              <a:ext uri="{FF2B5EF4-FFF2-40B4-BE49-F238E27FC236}">
                <a16:creationId xmlns:a16="http://schemas.microsoft.com/office/drawing/2014/main" id="{354B78C2-0DEF-492D-B37D-D4D2F320F57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1036">
            <a:extLst>
              <a:ext uri="{FF2B5EF4-FFF2-40B4-BE49-F238E27FC236}">
                <a16:creationId xmlns:a16="http://schemas.microsoft.com/office/drawing/2014/main" id="{AA4B434C-1FDC-A341-1DC5-76057CD248C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037">
            <a:extLst>
              <a:ext uri="{FF2B5EF4-FFF2-40B4-BE49-F238E27FC236}">
                <a16:creationId xmlns:a16="http://schemas.microsoft.com/office/drawing/2014/main" id="{56DDA8D7-360E-2C47-A0CD-7A9C30A6F7D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A6B5B67-19EE-4E40-886A-5D566A1E8307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7396624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1035">
            <a:extLst>
              <a:ext uri="{FF2B5EF4-FFF2-40B4-BE49-F238E27FC236}">
                <a16:creationId xmlns:a16="http://schemas.microsoft.com/office/drawing/2014/main" id="{177B665E-A469-7DC4-DB98-9E482DE971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1036">
            <a:extLst>
              <a:ext uri="{FF2B5EF4-FFF2-40B4-BE49-F238E27FC236}">
                <a16:creationId xmlns:a16="http://schemas.microsoft.com/office/drawing/2014/main" id="{15CE8F44-43DF-F2D4-5625-9F5C7D1BC51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037">
            <a:extLst>
              <a:ext uri="{FF2B5EF4-FFF2-40B4-BE49-F238E27FC236}">
                <a16:creationId xmlns:a16="http://schemas.microsoft.com/office/drawing/2014/main" id="{2097B52D-17A1-AE6B-8946-B48C8E738C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530778-2794-4837-A271-4FAEB1A136A1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208104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1035">
            <a:extLst>
              <a:ext uri="{FF2B5EF4-FFF2-40B4-BE49-F238E27FC236}">
                <a16:creationId xmlns:a16="http://schemas.microsoft.com/office/drawing/2014/main" id="{4566E401-BDEA-F8B5-081A-214E0767C37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036">
            <a:extLst>
              <a:ext uri="{FF2B5EF4-FFF2-40B4-BE49-F238E27FC236}">
                <a16:creationId xmlns:a16="http://schemas.microsoft.com/office/drawing/2014/main" id="{037B8DB7-7A27-717A-C93B-07D38552B2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1037">
            <a:extLst>
              <a:ext uri="{FF2B5EF4-FFF2-40B4-BE49-F238E27FC236}">
                <a16:creationId xmlns:a16="http://schemas.microsoft.com/office/drawing/2014/main" id="{F1364291-3C6A-441F-15CD-BF0C7D7D3F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74C29D-B763-48A0-BBF2-A6E0169C4B9B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7676188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1035">
            <a:extLst>
              <a:ext uri="{FF2B5EF4-FFF2-40B4-BE49-F238E27FC236}">
                <a16:creationId xmlns:a16="http://schemas.microsoft.com/office/drawing/2014/main" id="{D91CCAA1-6329-DF29-E1C3-CBCE7C27F6E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1036">
            <a:extLst>
              <a:ext uri="{FF2B5EF4-FFF2-40B4-BE49-F238E27FC236}">
                <a16:creationId xmlns:a16="http://schemas.microsoft.com/office/drawing/2014/main" id="{7045A508-03CB-3E38-69DE-8D2E1D57DE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1037">
            <a:extLst>
              <a:ext uri="{FF2B5EF4-FFF2-40B4-BE49-F238E27FC236}">
                <a16:creationId xmlns:a16="http://schemas.microsoft.com/office/drawing/2014/main" id="{3780FBCF-6E7B-F108-12C7-E203D586550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D4FFDA8-249A-4909-BA29-7449736E9EC9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4222153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1035">
            <a:extLst>
              <a:ext uri="{FF2B5EF4-FFF2-40B4-BE49-F238E27FC236}">
                <a16:creationId xmlns:a16="http://schemas.microsoft.com/office/drawing/2014/main" id="{8620BABA-B848-67B1-7F5F-E583D3A7269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1036">
            <a:extLst>
              <a:ext uri="{FF2B5EF4-FFF2-40B4-BE49-F238E27FC236}">
                <a16:creationId xmlns:a16="http://schemas.microsoft.com/office/drawing/2014/main" id="{052D2097-35B3-968C-94DA-8099B64828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1037">
            <a:extLst>
              <a:ext uri="{FF2B5EF4-FFF2-40B4-BE49-F238E27FC236}">
                <a16:creationId xmlns:a16="http://schemas.microsoft.com/office/drawing/2014/main" id="{604A88CC-48AA-F920-4CD6-708BDF918C9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6AD5CC-F917-459F-887D-66A3566B7B75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70704509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35">
            <a:extLst>
              <a:ext uri="{FF2B5EF4-FFF2-40B4-BE49-F238E27FC236}">
                <a16:creationId xmlns:a16="http://schemas.microsoft.com/office/drawing/2014/main" id="{AEC15CFF-AC84-C142-1EC6-09E1B8BC40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1036">
            <a:extLst>
              <a:ext uri="{FF2B5EF4-FFF2-40B4-BE49-F238E27FC236}">
                <a16:creationId xmlns:a16="http://schemas.microsoft.com/office/drawing/2014/main" id="{D7A37BF5-EBE8-8B08-3108-D8919B6FE43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1037">
            <a:extLst>
              <a:ext uri="{FF2B5EF4-FFF2-40B4-BE49-F238E27FC236}">
                <a16:creationId xmlns:a16="http://schemas.microsoft.com/office/drawing/2014/main" id="{55D8CD5F-4E6C-6C49-2BD9-18BDAFEFA1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1605ECF-3B70-4787-8FA9-36D20C4A9CC5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7591680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1035">
            <a:extLst>
              <a:ext uri="{FF2B5EF4-FFF2-40B4-BE49-F238E27FC236}">
                <a16:creationId xmlns:a16="http://schemas.microsoft.com/office/drawing/2014/main" id="{BE517521-D56E-E19F-BDD1-CB520AEFFF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036">
            <a:extLst>
              <a:ext uri="{FF2B5EF4-FFF2-40B4-BE49-F238E27FC236}">
                <a16:creationId xmlns:a16="http://schemas.microsoft.com/office/drawing/2014/main" id="{66F29F87-C49E-FB12-06EB-1FDFFE7CB2B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1037">
            <a:extLst>
              <a:ext uri="{FF2B5EF4-FFF2-40B4-BE49-F238E27FC236}">
                <a16:creationId xmlns:a16="http://schemas.microsoft.com/office/drawing/2014/main" id="{2E4D352C-326E-EDB5-DE64-ED3C2E2497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6DD721-4C2A-4625-AC75-0A5769CF1495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8890476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1035">
            <a:extLst>
              <a:ext uri="{FF2B5EF4-FFF2-40B4-BE49-F238E27FC236}">
                <a16:creationId xmlns:a16="http://schemas.microsoft.com/office/drawing/2014/main" id="{6B957B05-48B6-5F8F-AC41-286147C6E8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036">
            <a:extLst>
              <a:ext uri="{FF2B5EF4-FFF2-40B4-BE49-F238E27FC236}">
                <a16:creationId xmlns:a16="http://schemas.microsoft.com/office/drawing/2014/main" id="{D60A1987-22CD-5A9B-D935-B8DE7701A3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1037">
            <a:extLst>
              <a:ext uri="{FF2B5EF4-FFF2-40B4-BE49-F238E27FC236}">
                <a16:creationId xmlns:a16="http://schemas.microsoft.com/office/drawing/2014/main" id="{8D850CB2-6B15-2BB3-D5E7-E28EE8E61C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4AD4644-E61C-4A9A-B376-EA0D1BD7A6DD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77862743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1035">
            <a:extLst>
              <a:ext uri="{FF2B5EF4-FFF2-40B4-BE49-F238E27FC236}">
                <a16:creationId xmlns:a16="http://schemas.microsoft.com/office/drawing/2014/main" id="{449BC580-526B-4EB4-5DEC-F741CE51D53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1036">
            <a:extLst>
              <a:ext uri="{FF2B5EF4-FFF2-40B4-BE49-F238E27FC236}">
                <a16:creationId xmlns:a16="http://schemas.microsoft.com/office/drawing/2014/main" id="{7FFAE042-2487-61D9-21BA-74F0E7854EB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037">
            <a:extLst>
              <a:ext uri="{FF2B5EF4-FFF2-40B4-BE49-F238E27FC236}">
                <a16:creationId xmlns:a16="http://schemas.microsoft.com/office/drawing/2014/main" id="{EE7B1C99-0035-B8FD-586F-6D06C7D24E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FD53901-7025-45EB-8E9A-5993E8FEECA6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8089984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9338733" y="617539"/>
            <a:ext cx="2601384" cy="551497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534584" y="617539"/>
            <a:ext cx="7600949" cy="551497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1035">
            <a:extLst>
              <a:ext uri="{FF2B5EF4-FFF2-40B4-BE49-F238E27FC236}">
                <a16:creationId xmlns:a16="http://schemas.microsoft.com/office/drawing/2014/main" id="{D0A185AB-90C4-D39E-985E-DEDA1E22CE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1036">
            <a:extLst>
              <a:ext uri="{FF2B5EF4-FFF2-40B4-BE49-F238E27FC236}">
                <a16:creationId xmlns:a16="http://schemas.microsoft.com/office/drawing/2014/main" id="{C899EC1C-561A-2CC4-6177-B17C8A4197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037">
            <a:extLst>
              <a:ext uri="{FF2B5EF4-FFF2-40B4-BE49-F238E27FC236}">
                <a16:creationId xmlns:a16="http://schemas.microsoft.com/office/drawing/2014/main" id="{50F6DDF7-A92F-A98C-DBDD-5EAD7394F55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8DC4B0-4A1D-4794-8965-54BB44190441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865192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artisticGlowEdges/>
                    </a14:imgEffect>
                    <a14:imgEffect>
                      <a14:colorTemperature colorTemp="11143"/>
                    </a14:imgEffect>
                    <a14:imgEffect>
                      <a14:saturation sat="393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1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026">
            <a:extLst>
              <a:ext uri="{FF2B5EF4-FFF2-40B4-BE49-F238E27FC236}">
                <a16:creationId xmlns:a16="http://schemas.microsoft.com/office/drawing/2014/main" id="{FBA89211-03BB-4E74-9B07-AFC50817ED2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56684" y="1098551"/>
            <a:ext cx="58420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pt-BR" altLang="pt-BR" sz="2400"/>
          </a:p>
        </p:txBody>
      </p:sp>
      <p:sp>
        <p:nvSpPr>
          <p:cNvPr id="1027" name="Rectangle 1027">
            <a:extLst>
              <a:ext uri="{FF2B5EF4-FFF2-40B4-BE49-F238E27FC236}">
                <a16:creationId xmlns:a16="http://schemas.microsoft.com/office/drawing/2014/main" id="{EAF5671D-4A41-4D55-A3B2-4704DC2C436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066801" y="1098551"/>
            <a:ext cx="438151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pt-BR" altLang="pt-BR" sz="2400"/>
          </a:p>
        </p:txBody>
      </p:sp>
      <p:sp>
        <p:nvSpPr>
          <p:cNvPr id="1028" name="Rectangle 1028">
            <a:extLst>
              <a:ext uri="{FF2B5EF4-FFF2-40B4-BE49-F238E27FC236}">
                <a16:creationId xmlns:a16="http://schemas.microsoft.com/office/drawing/2014/main" id="{CD7F6770-B1BF-45A3-B846-E90864BDC42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21785" y="1520826"/>
            <a:ext cx="563033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pt-BR" altLang="pt-BR" sz="2400"/>
          </a:p>
        </p:txBody>
      </p:sp>
      <p:sp>
        <p:nvSpPr>
          <p:cNvPr id="1029" name="Rectangle 1029">
            <a:extLst>
              <a:ext uri="{FF2B5EF4-FFF2-40B4-BE49-F238E27FC236}">
                <a16:creationId xmlns:a16="http://schemas.microsoft.com/office/drawing/2014/main" id="{912F4071-C77C-4711-B6CC-8318D87A708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14967" y="1520826"/>
            <a:ext cx="491067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pt-BR" altLang="pt-BR" sz="2400"/>
          </a:p>
        </p:txBody>
      </p:sp>
      <p:sp>
        <p:nvSpPr>
          <p:cNvPr id="1030" name="Rectangle 1030">
            <a:extLst>
              <a:ext uri="{FF2B5EF4-FFF2-40B4-BE49-F238E27FC236}">
                <a16:creationId xmlns:a16="http://schemas.microsoft.com/office/drawing/2014/main" id="{760538BD-1CD1-49BA-B62A-63B07791CFB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69333" y="1447801"/>
            <a:ext cx="747184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pt-BR" altLang="pt-BR" sz="2400"/>
          </a:p>
        </p:txBody>
      </p:sp>
      <p:sp>
        <p:nvSpPr>
          <p:cNvPr id="1031" name="Rectangle 1031">
            <a:extLst>
              <a:ext uri="{FF2B5EF4-FFF2-40B4-BE49-F238E27FC236}">
                <a16:creationId xmlns:a16="http://schemas.microsoft.com/office/drawing/2014/main" id="{1CBAAF11-5C7D-4922-9E5F-560ABDF75E93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16000" y="990601"/>
            <a:ext cx="42333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pt-BR" altLang="pt-BR" sz="2400"/>
          </a:p>
        </p:txBody>
      </p:sp>
      <p:sp>
        <p:nvSpPr>
          <p:cNvPr id="1032" name="Rectangle 1032">
            <a:extLst>
              <a:ext uri="{FF2B5EF4-FFF2-40B4-BE49-F238E27FC236}">
                <a16:creationId xmlns:a16="http://schemas.microsoft.com/office/drawing/2014/main" id="{D8C651CA-584C-4942-AF35-8CE874B9C6F3}"/>
              </a:ext>
            </a:extLst>
          </p:cNvPr>
          <p:cNvSpPr>
            <a:spLocks noChangeArrowheads="1"/>
          </p:cNvSpPr>
          <p:nvPr/>
        </p:nvSpPr>
        <p:spPr bwMode="gray">
          <a:xfrm>
            <a:off x="590551" y="1781175"/>
            <a:ext cx="10968567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pt-BR" altLang="pt-BR" sz="2400"/>
          </a:p>
        </p:txBody>
      </p:sp>
      <p:sp>
        <p:nvSpPr>
          <p:cNvPr id="1033" name="Rectangle 1033">
            <a:extLst>
              <a:ext uri="{FF2B5EF4-FFF2-40B4-BE49-F238E27FC236}">
                <a16:creationId xmlns:a16="http://schemas.microsoft.com/office/drawing/2014/main" id="{66E23D53-5C37-13B9-29E5-BFA4679DB7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534585" y="617538"/>
            <a:ext cx="10390716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34" name="Rectangle 1034">
            <a:extLst>
              <a:ext uri="{FF2B5EF4-FFF2-40B4-BE49-F238E27FC236}">
                <a16:creationId xmlns:a16="http://schemas.microsoft.com/office/drawing/2014/main" id="{56885116-A4EF-14FC-85FF-2EAC1674C6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576917" y="2017713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3083" name="Rectangle 1035">
            <a:extLst>
              <a:ext uri="{FF2B5EF4-FFF2-40B4-BE49-F238E27FC236}">
                <a16:creationId xmlns:a16="http://schemas.microsoft.com/office/drawing/2014/main" id="{641DDB03-A9CD-4287-BFBC-C9A3A09B5E9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219200" y="63246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84" name="Rectangle 1036">
            <a:extLst>
              <a:ext uri="{FF2B5EF4-FFF2-40B4-BE49-F238E27FC236}">
                <a16:creationId xmlns:a16="http://schemas.microsoft.com/office/drawing/2014/main" id="{A509AD49-59A7-49E7-AF16-D0C4AE34052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470400" y="63246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85" name="Rectangle 1037">
            <a:extLst>
              <a:ext uri="{FF2B5EF4-FFF2-40B4-BE49-F238E27FC236}">
                <a16:creationId xmlns:a16="http://schemas.microsoft.com/office/drawing/2014/main" id="{942C8B03-B793-4436-9A4D-CECC1CEAF86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42400" y="63246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5DA7313F-91C5-4581-92FA-0EF1A9A7EE3D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62" r:id="rId1"/>
    <p:sldLayoutId id="2147484260" r:id="rId2"/>
    <p:sldLayoutId id="2147484250" r:id="rId3"/>
    <p:sldLayoutId id="2147484251" r:id="rId4"/>
    <p:sldLayoutId id="2147484252" r:id="rId5"/>
    <p:sldLayoutId id="2147484253" r:id="rId6"/>
    <p:sldLayoutId id="2147484254" r:id="rId7"/>
    <p:sldLayoutId id="2147484255" r:id="rId8"/>
    <p:sldLayoutId id="2147484256" r:id="rId9"/>
    <p:sldLayoutId id="2147484257" r:id="rId10"/>
    <p:sldLayoutId id="2147484258" r:id="rId11"/>
    <p:sldLayoutId id="2147484259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3">
            <a:extLst>
              <a:ext uri="{FF2B5EF4-FFF2-40B4-BE49-F238E27FC236}">
                <a16:creationId xmlns:a16="http://schemas.microsoft.com/office/drawing/2014/main" id="{D6D29B45-5FF4-724C-8CFA-AC20414959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6381751"/>
            <a:ext cx="57277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400" b="1">
                <a:latin typeface="Arial" panose="020B0604020202020204" pitchFamily="34" charset="0"/>
              </a:rPr>
              <a:t>Prof. Marcos Antonio e Marcos Junior</a:t>
            </a:r>
          </a:p>
        </p:txBody>
      </p:sp>
      <p:sp>
        <p:nvSpPr>
          <p:cNvPr id="4099" name="Text Box 2">
            <a:extLst>
              <a:ext uri="{FF2B5EF4-FFF2-40B4-BE49-F238E27FC236}">
                <a16:creationId xmlns:a16="http://schemas.microsoft.com/office/drawing/2014/main" id="{B0A6C96D-CB90-7469-6549-986932351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0513" y="1989139"/>
            <a:ext cx="9144000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800" b="1" dirty="0">
                <a:latin typeface="Arial Black"/>
              </a:rPr>
              <a:t>LINGUAGEM DE PROGRAMAÇÃO ORIENTADA A OBJETOS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800" b="1" dirty="0">
                <a:latin typeface="Arial Black"/>
              </a:rPr>
              <a:t>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4800" b="1" dirty="0">
              <a:latin typeface="Arial Black" panose="020B0A04020102020204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800" b="1" smtClean="0">
                <a:latin typeface="Arial Black"/>
              </a:rPr>
              <a:t>08B</a:t>
            </a:r>
            <a:endParaRPr lang="pt-BR" altLang="pt-BR" sz="48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0472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Espaço Reservado para Número de Slide 1">
            <a:extLst>
              <a:ext uri="{FF2B5EF4-FFF2-40B4-BE49-F238E27FC236}">
                <a16:creationId xmlns:a16="http://schemas.microsoft.com/office/drawing/2014/main" id="{C74C9442-C707-52EE-44EB-E52A6B552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B852F96-B632-4881-AD59-147EF17CC074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pt-BR" altLang="pt-BR" sz="140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84BAD56-F65A-AE7B-6EF7-938A9AC08277}"/>
              </a:ext>
            </a:extLst>
          </p:cNvPr>
          <p:cNvSpPr txBox="1">
            <a:spLocks noChangeArrowheads="1"/>
          </p:cNvSpPr>
          <p:nvPr/>
        </p:nvSpPr>
        <p:spPr>
          <a:xfrm>
            <a:off x="1770064" y="2133600"/>
            <a:ext cx="8897937" cy="3887788"/>
          </a:xfrm>
          <a:prstGeom prst="rect">
            <a:avLst/>
          </a:prstGeom>
        </p:spPr>
        <p:txBody>
          <a:bodyPr lIns="92075" tIns="46038" rIns="92075" bIns="46038" anchor="t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spcBef>
                <a:spcPts val="0"/>
              </a:spcBef>
              <a:buNone/>
              <a:defRPr/>
            </a:pPr>
            <a:endParaRPr lang="pt-BR" altLang="pt-BR" sz="4600" b="1" kern="0" dirty="0">
              <a:latin typeface="Arial Black" panose="020B0A04020102020204" pitchFamily="34" charset="0"/>
            </a:endParaRPr>
          </a:p>
          <a:p>
            <a:pPr marL="0" indent="0" algn="ctr">
              <a:spcBef>
                <a:spcPts val="0"/>
              </a:spcBef>
              <a:buNone/>
              <a:defRPr/>
            </a:pPr>
            <a:r>
              <a:rPr lang="pt-BR" altLang="pt-BR" sz="4600" b="1" kern="0" dirty="0">
                <a:latin typeface="Arial Black"/>
              </a:rPr>
              <a:t>STRINGS</a:t>
            </a:r>
          </a:p>
        </p:txBody>
      </p:sp>
    </p:spTree>
    <p:extLst>
      <p:ext uri="{BB962C8B-B14F-4D97-AF65-F5344CB8AC3E}">
        <p14:creationId xmlns:p14="http://schemas.microsoft.com/office/powerpoint/2010/main" val="3849394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ço Reservado para Número de Slide 1">
            <a:extLst>
              <a:ext uri="{FF2B5EF4-FFF2-40B4-BE49-F238E27FC236}">
                <a16:creationId xmlns:a16="http://schemas.microsoft.com/office/drawing/2014/main" id="{846FC07F-CBC4-0358-81FD-5B9C93232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5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2D7088D8-A4D7-4903-8B13-19ACD6824B27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pt-BR" altLang="pt-BR" sz="1400"/>
          </a:p>
        </p:txBody>
      </p:sp>
      <p:sp>
        <p:nvSpPr>
          <p:cNvPr id="7171" name="Text Box 2">
            <a:extLst>
              <a:ext uri="{FF2B5EF4-FFF2-40B4-BE49-F238E27FC236}">
                <a16:creationId xmlns:a16="http://schemas.microsoft.com/office/drawing/2014/main" id="{B6C17CBE-4E41-4E16-74F0-856972B47F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7488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 dirty="0">
                <a:latin typeface="Arial"/>
                <a:cs typeface="Arial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 dirty="0" err="1">
                <a:latin typeface="Arial"/>
                <a:cs typeface="Arial"/>
              </a:rPr>
              <a:t>Strings</a:t>
            </a:r>
            <a:endParaRPr lang="pt-BR" altLang="pt-BR" sz="4200" b="1" dirty="0" err="1">
              <a:latin typeface="Arial" panose="020B0604020202020204" pitchFamily="34" charset="0"/>
              <a:cs typeface="Arial"/>
            </a:endParaRP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827178E-6D40-D08D-39C1-7011F46AC6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664" y="2238376"/>
            <a:ext cx="11462542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>
              <a:spcBef>
                <a:spcPct val="0"/>
              </a:spcBef>
              <a:spcAft>
                <a:spcPts val="600"/>
              </a:spcAft>
              <a:buNone/>
            </a:pPr>
            <a:r>
              <a:rPr lang="pt-BR" b="1" dirty="0">
                <a:solidFill>
                  <a:schemeClr val="bg2"/>
                </a:solidFill>
                <a:latin typeface="Arial"/>
                <a:ea typeface="Tahoma"/>
                <a:cs typeface="Tahoma"/>
              </a:rPr>
              <a:t>Um string (=tipo str) é uma sequência de caracteres.</a:t>
            </a:r>
            <a:endParaRPr lang="en-US" b="1">
              <a:solidFill>
                <a:schemeClr val="bg2"/>
              </a:solidFill>
              <a:latin typeface="Arial"/>
              <a:ea typeface="Tahoma"/>
              <a:cs typeface="Tahoma"/>
            </a:endParaRPr>
          </a:p>
          <a:p>
            <a:pPr algn="just">
              <a:spcBef>
                <a:spcPct val="0"/>
              </a:spcBef>
              <a:spcAft>
                <a:spcPts val="600"/>
              </a:spcAft>
              <a:buNone/>
            </a:pPr>
            <a:r>
              <a:rPr lang="pt-BR" b="1" dirty="0">
                <a:solidFill>
                  <a:schemeClr val="bg2"/>
                </a:solidFill>
                <a:latin typeface="Arial"/>
                <a:ea typeface="Tahoma"/>
                <a:cs typeface="Tahoma"/>
              </a:rPr>
              <a:t>Um string é simplesmente um grupo de caracteres entre aspas.  </a:t>
            </a:r>
            <a:endParaRPr lang="en-US" b="1">
              <a:solidFill>
                <a:schemeClr val="bg2"/>
              </a:solidFill>
              <a:latin typeface="Arial"/>
              <a:ea typeface="Tahoma"/>
              <a:cs typeface="Tahoma"/>
            </a:endParaRPr>
          </a:p>
          <a:p>
            <a:pPr algn="just">
              <a:spcBef>
                <a:spcPct val="0"/>
              </a:spcBef>
              <a:spcAft>
                <a:spcPts val="600"/>
              </a:spcAft>
              <a:buNone/>
            </a:pPr>
            <a:r>
              <a:rPr lang="pt-BR" b="1" dirty="0">
                <a:solidFill>
                  <a:schemeClr val="bg2"/>
                </a:solidFill>
                <a:latin typeface="Arial"/>
                <a:ea typeface="Tahoma"/>
                <a:cs typeface="Tahoma"/>
              </a:rPr>
              <a:t>Strings podem ser definidos como coleções de sequencias de caracteres. Isto significa que assumimos que os caracteres individuais que compõem a cadeia estão em uma determinada ordem, da esquerda para a direita.</a:t>
            </a:r>
          </a:p>
          <a:p>
            <a:pPr>
              <a:buFont typeface="Wingdings" panose="05000000000000000000" pitchFamily="2" charset="2"/>
              <a:buNone/>
            </a:pPr>
            <a:endParaRPr lang="pt-BR" altLang="pt-BR" b="1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4975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ço Reservado para Número de Slide 1">
            <a:extLst>
              <a:ext uri="{FF2B5EF4-FFF2-40B4-BE49-F238E27FC236}">
                <a16:creationId xmlns:a16="http://schemas.microsoft.com/office/drawing/2014/main" id="{846FC07F-CBC4-0358-81FD-5B9C93232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5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2D7088D8-A4D7-4903-8B13-19ACD6824B27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pt-BR" altLang="pt-BR" sz="1400"/>
          </a:p>
        </p:txBody>
      </p:sp>
      <p:sp>
        <p:nvSpPr>
          <p:cNvPr id="7171" name="Text Box 2">
            <a:extLst>
              <a:ext uri="{FF2B5EF4-FFF2-40B4-BE49-F238E27FC236}">
                <a16:creationId xmlns:a16="http://schemas.microsoft.com/office/drawing/2014/main" id="{B6C17CBE-4E41-4E16-74F0-856972B47F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7488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 dirty="0">
                <a:latin typeface="Arial"/>
                <a:cs typeface="Arial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 dirty="0" err="1">
                <a:latin typeface="Arial"/>
                <a:cs typeface="Arial"/>
              </a:rPr>
              <a:t>Strings</a:t>
            </a:r>
            <a:endParaRPr lang="pt-BR" altLang="pt-BR" sz="4200" b="1" dirty="0" err="1">
              <a:latin typeface="Arial" panose="020B0604020202020204" pitchFamily="34" charset="0"/>
              <a:cs typeface="Arial"/>
            </a:endParaRP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827178E-6D40-D08D-39C1-7011F46AC6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664" y="2238376"/>
            <a:ext cx="11462542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None/>
            </a:pPr>
            <a:r>
              <a:rPr lang="pt-BR" b="1" dirty="0">
                <a:latin typeface="Arial"/>
                <a:ea typeface="Tahoma"/>
                <a:cs typeface="Tahoma"/>
              </a:rPr>
              <a:t>O operador de indexação (o python usa colchetes para incluir o índice) seleciona um único caractere de um string. Os caracteres são acessados por sua posição ou valor do índice. </a:t>
            </a:r>
            <a:endParaRPr lang="en-US" b="1" dirty="0">
              <a:latin typeface="Arial"/>
              <a:ea typeface="Tahoma"/>
              <a:cs typeface="Tahoma"/>
            </a:endParaRPr>
          </a:p>
          <a:p>
            <a:pPr algn="just">
              <a:spcBef>
                <a:spcPct val="0"/>
              </a:spcBef>
              <a:spcAft>
                <a:spcPts val="600"/>
              </a:spcAft>
              <a:buNone/>
            </a:pPr>
            <a:endParaRPr lang="pt-BR" b="1" dirty="0">
              <a:solidFill>
                <a:schemeClr val="bg2"/>
              </a:solidFill>
              <a:latin typeface="Arial"/>
              <a:ea typeface="Tahoma"/>
              <a:cs typeface="Tahoma"/>
            </a:endParaRPr>
          </a:p>
          <a:p>
            <a:pPr>
              <a:buFont typeface="Wingdings" panose="05000000000000000000" pitchFamily="2" charset="2"/>
              <a:buNone/>
            </a:pPr>
            <a:endParaRPr lang="pt-BR" altLang="pt-BR" b="1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Imagem 2" descr="Tela de computador com relógio&#10;&#10;Descrição gerada automaticamente">
            <a:extLst>
              <a:ext uri="{FF2B5EF4-FFF2-40B4-BE49-F238E27FC236}">
                <a16:creationId xmlns:a16="http://schemas.microsoft.com/office/drawing/2014/main" id="{C38ECE18-145D-F219-514B-8591D6DAD3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556" y="4575362"/>
            <a:ext cx="8601074" cy="1791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119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ço Reservado para Número de Slide 1">
            <a:extLst>
              <a:ext uri="{FF2B5EF4-FFF2-40B4-BE49-F238E27FC236}">
                <a16:creationId xmlns:a16="http://schemas.microsoft.com/office/drawing/2014/main" id="{846FC07F-CBC4-0358-81FD-5B9C93232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5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2D7088D8-A4D7-4903-8B13-19ACD6824B27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pt-BR" altLang="pt-BR" sz="1400"/>
          </a:p>
        </p:txBody>
      </p:sp>
      <p:sp>
        <p:nvSpPr>
          <p:cNvPr id="7171" name="Text Box 2">
            <a:extLst>
              <a:ext uri="{FF2B5EF4-FFF2-40B4-BE49-F238E27FC236}">
                <a16:creationId xmlns:a16="http://schemas.microsoft.com/office/drawing/2014/main" id="{B6C17CBE-4E41-4E16-74F0-856972B47F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7488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 dirty="0">
                <a:latin typeface="Arial"/>
                <a:cs typeface="Arial"/>
              </a:rPr>
              <a:t>LINGUAGEM DE PROG. PYTHON</a:t>
            </a:r>
          </a:p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pt-BR" altLang="pt-BR" sz="4200" b="1" dirty="0" err="1">
                <a:latin typeface="Arial"/>
                <a:cs typeface="Arial"/>
              </a:rPr>
              <a:t>Strings</a:t>
            </a:r>
            <a:r>
              <a:rPr lang="pt-BR" altLang="pt-BR" sz="4200" b="1" dirty="0">
                <a:latin typeface="Arial"/>
                <a:cs typeface="Arial"/>
              </a:rPr>
              <a:t> – Operador de Indexação</a:t>
            </a:r>
            <a:endParaRPr lang="pt-BR" altLang="pt-BR" sz="4200" b="1" dirty="0" err="1">
              <a:latin typeface="Arial" panose="020B0604020202020204" pitchFamily="34" charset="0"/>
              <a:cs typeface="Arial"/>
            </a:endParaRP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827178E-6D40-D08D-39C1-7011F46AC6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664" y="2238376"/>
            <a:ext cx="11462542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None/>
            </a:pPr>
            <a:r>
              <a:rPr lang="pt-BR" b="1" dirty="0">
                <a:solidFill>
                  <a:schemeClr val="tx2">
                    <a:lumMod val="75000"/>
                  </a:schemeClr>
                </a:solidFill>
                <a:latin typeface="Arial"/>
                <a:ea typeface="Tahoma"/>
                <a:cs typeface="Tahoma"/>
              </a:rPr>
              <a:t>Exemplo</a:t>
            </a:r>
            <a:r>
              <a:rPr lang="pt-BR" b="1" cap="all" dirty="0">
                <a:solidFill>
                  <a:schemeClr val="tx2">
                    <a:lumMod val="75000"/>
                  </a:schemeClr>
                </a:solidFill>
                <a:latin typeface="Arial"/>
                <a:ea typeface="Tahoma"/>
                <a:cs typeface="Tahoma"/>
              </a:rPr>
              <a:t>:</a:t>
            </a:r>
            <a:endParaRPr lang="pt-BR" b="1" dirty="0">
              <a:solidFill>
                <a:schemeClr val="tx2">
                  <a:lumMod val="75000"/>
                </a:schemeClr>
              </a:solidFill>
              <a:latin typeface="Arial"/>
              <a:cs typeface="Arial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endParaRPr lang="pt-BR" b="1" cap="all" dirty="0">
              <a:solidFill>
                <a:schemeClr val="tx2">
                  <a:lumMod val="75000"/>
                </a:schemeClr>
              </a:solidFill>
              <a:latin typeface="Arial"/>
              <a:ea typeface="Tahoma"/>
              <a:cs typeface="Tahoma"/>
            </a:endParaRPr>
          </a:p>
          <a:p>
            <a:pPr>
              <a:buNone/>
            </a:pPr>
            <a:r>
              <a:rPr lang="pt-BR" sz="2800" b="1" cap="all" dirty="0">
                <a:latin typeface="Arial"/>
                <a:ea typeface="Tahoma"/>
                <a:cs typeface="Tahoma"/>
              </a:rPr>
              <a:t>ESCOLA = "Carlos Gomes"</a:t>
            </a:r>
            <a:endParaRPr lang="pt-BR" sz="2800" b="1">
              <a:latin typeface="Arial"/>
              <a:cs typeface="Arial"/>
            </a:endParaRPr>
          </a:p>
          <a:p>
            <a:pPr>
              <a:buNone/>
            </a:pPr>
            <a:r>
              <a:rPr lang="pt-BR" sz="2800" b="1" dirty="0">
                <a:latin typeface="Arial"/>
                <a:ea typeface="Tahoma"/>
                <a:cs typeface="Tahoma"/>
              </a:rPr>
              <a:t>print</a:t>
            </a:r>
            <a:r>
              <a:rPr lang="pt-BR" sz="2800" b="1" cap="all" dirty="0">
                <a:latin typeface="Arial"/>
                <a:ea typeface="Tahoma"/>
                <a:cs typeface="Tahoma"/>
              </a:rPr>
              <a:t>(ESCOLA)</a:t>
            </a:r>
            <a:endParaRPr lang="pt-BR" sz="2800" b="1">
              <a:latin typeface="Arial"/>
              <a:cs typeface="Arial"/>
            </a:endParaRPr>
          </a:p>
          <a:p>
            <a:pPr>
              <a:buNone/>
            </a:pPr>
            <a:r>
              <a:rPr lang="pt-BR" sz="2800" b="1" cap="all" dirty="0">
                <a:latin typeface="Arial"/>
                <a:ea typeface="Tahoma"/>
                <a:cs typeface="Tahoma"/>
              </a:rPr>
              <a:t>POSITIVO = ESCOLA[2]</a:t>
            </a:r>
            <a:endParaRPr lang="pt-BR" sz="2800" b="1">
              <a:latin typeface="Arial"/>
              <a:cs typeface="Arial"/>
            </a:endParaRPr>
          </a:p>
          <a:p>
            <a:pPr>
              <a:buNone/>
            </a:pPr>
            <a:r>
              <a:rPr lang="pt-BR" sz="2800" b="1" dirty="0">
                <a:latin typeface="Arial"/>
                <a:ea typeface="Tahoma"/>
                <a:cs typeface="Tahoma"/>
              </a:rPr>
              <a:t>print</a:t>
            </a:r>
            <a:r>
              <a:rPr lang="pt-BR" sz="2800" b="1" cap="all" dirty="0">
                <a:latin typeface="Arial"/>
                <a:ea typeface="Tahoma"/>
                <a:cs typeface="Tahoma"/>
              </a:rPr>
              <a:t>(POSITIVO)</a:t>
            </a:r>
            <a:endParaRPr lang="pt-BR" sz="2800" b="1">
              <a:latin typeface="Arial"/>
              <a:cs typeface="Arial"/>
            </a:endParaRPr>
          </a:p>
          <a:p>
            <a:pPr>
              <a:buNone/>
            </a:pPr>
            <a:r>
              <a:rPr lang="pt-BR" sz="2800" b="1" cap="all" dirty="0">
                <a:latin typeface="Arial"/>
                <a:ea typeface="Tahoma"/>
                <a:cs typeface="Tahoma"/>
              </a:rPr>
              <a:t>NEGATIVO = ESCOLA[-3]</a:t>
            </a:r>
            <a:endParaRPr lang="pt-BR" sz="2800" b="1">
              <a:latin typeface="Arial"/>
              <a:cs typeface="Arial"/>
            </a:endParaRPr>
          </a:p>
          <a:p>
            <a:pPr>
              <a:buNone/>
            </a:pPr>
            <a:r>
              <a:rPr lang="pt-BR" sz="2800" b="1" dirty="0">
                <a:latin typeface="Arial"/>
                <a:ea typeface="Tahoma"/>
                <a:cs typeface="Tahoma"/>
              </a:rPr>
              <a:t>print</a:t>
            </a:r>
            <a:r>
              <a:rPr lang="pt-BR" sz="2800" b="1" cap="all" dirty="0">
                <a:latin typeface="Arial"/>
                <a:ea typeface="Tahoma"/>
                <a:cs typeface="Tahoma"/>
              </a:rPr>
              <a:t>(NEGATIVO)</a:t>
            </a:r>
            <a:endParaRPr lang="pt-BR" sz="2800" b="1">
              <a:latin typeface="Arial"/>
              <a:cs typeface="Arial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endParaRPr lang="pt-BR" b="1" cap="all" dirty="0">
              <a:solidFill>
                <a:schemeClr val="tx2">
                  <a:lumMod val="75000"/>
                </a:schemeClr>
              </a:solidFill>
              <a:latin typeface="Book Antiqua"/>
              <a:ea typeface="Tahoma"/>
              <a:cs typeface="Tahoma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pt-BR" b="1" dirty="0">
              <a:solidFill>
                <a:srgbClr val="000000"/>
              </a:solidFill>
              <a:latin typeface="Arial" panose="020B0604020202020204" pitchFamily="34" charset="0"/>
              <a:ea typeface="Tahoma"/>
              <a:cs typeface="Tahoma"/>
            </a:endParaRPr>
          </a:p>
          <a:p>
            <a:pPr algn="just">
              <a:spcBef>
                <a:spcPct val="0"/>
              </a:spcBef>
              <a:spcAft>
                <a:spcPts val="600"/>
              </a:spcAft>
              <a:buNone/>
            </a:pPr>
            <a:endParaRPr lang="pt-BR" b="1" dirty="0">
              <a:solidFill>
                <a:schemeClr val="bg2"/>
              </a:solidFill>
              <a:latin typeface="Arial" panose="020B0604020202020204" pitchFamily="34" charset="0"/>
              <a:ea typeface="Tahoma"/>
              <a:cs typeface="Tahoma"/>
            </a:endParaRPr>
          </a:p>
          <a:p>
            <a:pPr>
              <a:buNone/>
            </a:pPr>
            <a:endParaRPr lang="pt-BR" altLang="pt-BR" b="1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7B9EC90-A916-3FC0-7D6C-464514E13A56}"/>
              </a:ext>
            </a:extLst>
          </p:cNvPr>
          <p:cNvSpPr/>
          <p:nvPr/>
        </p:nvSpPr>
        <p:spPr bwMode="auto">
          <a:xfrm>
            <a:off x="6734175" y="2817018"/>
            <a:ext cx="3700461" cy="2938461"/>
          </a:xfrm>
          <a:prstGeom prst="roundRect">
            <a:avLst/>
          </a:prstGeom>
          <a:solidFill>
            <a:schemeClr val="accent5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pt-BR" sz="3200" b="1" dirty="0">
                <a:latin typeface="Arial"/>
                <a:ea typeface="Tahoma"/>
                <a:cs typeface="Tahoma"/>
              </a:rPr>
              <a:t>CARLOS GOMES</a:t>
            </a:r>
            <a:endParaRPr lang="pt-BR" sz="3200" b="1">
              <a:latin typeface="Arial"/>
              <a:ea typeface="Tahoma" pitchFamily="34" charset="0"/>
              <a:cs typeface="Tahoma" pitchFamily="34" charset="0"/>
            </a:endParaRPr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pt-BR" sz="3200" b="1" dirty="0">
              <a:latin typeface="Arial"/>
              <a:ea typeface="Tahoma"/>
              <a:cs typeface="Tahoma"/>
            </a:endParaRPr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r>
              <a:rPr lang="pt-BR" sz="3200" b="1" dirty="0">
                <a:latin typeface="Arial"/>
                <a:ea typeface="Tahoma"/>
                <a:cs typeface="Tahoma"/>
              </a:rPr>
              <a:t>R</a:t>
            </a:r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pt-BR" sz="3200" b="1" dirty="0">
              <a:latin typeface="Arial"/>
              <a:ea typeface="Tahoma"/>
              <a:cs typeface="Tahoma"/>
            </a:endParaRPr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r>
              <a:rPr lang="pt-BR" sz="3200" b="1" dirty="0">
                <a:latin typeface="Arial"/>
                <a:ea typeface="Tahoma"/>
                <a:cs typeface="Tahoma"/>
              </a:rPr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1262037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ço Reservado para Número de Slide 1">
            <a:extLst>
              <a:ext uri="{FF2B5EF4-FFF2-40B4-BE49-F238E27FC236}">
                <a16:creationId xmlns:a16="http://schemas.microsoft.com/office/drawing/2014/main" id="{846FC07F-CBC4-0358-81FD-5B9C93232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5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2D7088D8-A4D7-4903-8B13-19ACD6824B27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pt-BR" altLang="pt-BR" sz="1400"/>
          </a:p>
        </p:txBody>
      </p:sp>
      <p:sp>
        <p:nvSpPr>
          <p:cNvPr id="7171" name="Text Box 2">
            <a:extLst>
              <a:ext uri="{FF2B5EF4-FFF2-40B4-BE49-F238E27FC236}">
                <a16:creationId xmlns:a16="http://schemas.microsoft.com/office/drawing/2014/main" id="{B6C17CBE-4E41-4E16-74F0-856972B47F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7488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 dirty="0">
                <a:latin typeface="Arial"/>
                <a:cs typeface="Arial"/>
              </a:rPr>
              <a:t>LINGUAGEM DE PROG. PYTHON</a:t>
            </a:r>
          </a:p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pt-BR" altLang="pt-BR" sz="4200" b="1" dirty="0" err="1">
                <a:latin typeface="Arial"/>
                <a:cs typeface="Arial"/>
              </a:rPr>
              <a:t>Strings</a:t>
            </a:r>
            <a:r>
              <a:rPr lang="pt-BR" altLang="pt-BR" sz="4200" b="1" dirty="0">
                <a:latin typeface="Arial"/>
                <a:cs typeface="Arial"/>
              </a:rPr>
              <a:t> – Operador de Indexação</a:t>
            </a:r>
            <a:endParaRPr lang="pt-BR" altLang="pt-BR" sz="4200" b="1" dirty="0" err="1">
              <a:latin typeface="Arial" panose="020B0604020202020204" pitchFamily="34" charset="0"/>
              <a:cs typeface="Arial"/>
            </a:endParaRP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827178E-6D40-D08D-39C1-7011F46AC6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664" y="2238376"/>
            <a:ext cx="11462542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None/>
            </a:pPr>
            <a:r>
              <a:rPr lang="pt-BR" sz="2800" b="1" dirty="0">
                <a:latin typeface="Arial"/>
                <a:ea typeface="Tahoma"/>
                <a:cs typeface="Tahoma"/>
              </a:rPr>
              <a:t>Um substring de um string é chamado de fatia (do inglês slice). Selecionar uma fatia é semelhante a selecionar um caractere.</a:t>
            </a:r>
            <a:endParaRPr lang="pt-BR" sz="2800" b="1" dirty="0">
              <a:latin typeface="Arial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None/>
            </a:pPr>
            <a:r>
              <a:rPr lang="pt-BR" sz="2800" b="1" dirty="0">
                <a:latin typeface="Arial"/>
                <a:ea typeface="Tahoma"/>
                <a:cs typeface="Tahoma"/>
              </a:rPr>
              <a:t>O operador de fatia [n:m] retorna a parte do string a partir do n-ésimo caractere até o m-ésimo caractere, incluindo o primeiro mas excluindo o último. Em outras palavras, comece com o caractere no índice n e vá até, mas não inclua, o caractere no índice m. </a:t>
            </a:r>
            <a:endParaRPr lang="pt-BR" sz="2800" b="1">
              <a:latin typeface="Arial"/>
              <a:ea typeface="Tahoma"/>
              <a:cs typeface="Tahoma"/>
            </a:endParaRPr>
          </a:p>
          <a:p>
            <a:pPr>
              <a:buNone/>
            </a:pPr>
            <a:endParaRPr lang="pt-BR" sz="2800" b="1" dirty="0">
              <a:latin typeface="Book Antiqua"/>
              <a:ea typeface="Tahoma"/>
              <a:cs typeface="Tahoma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endParaRPr lang="pt-BR" sz="2800" b="1" dirty="0">
              <a:latin typeface="Arial"/>
              <a:ea typeface="Tahoma"/>
              <a:cs typeface="Tahoma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endParaRPr lang="en-US" sz="2800" b="1" cap="all" dirty="0">
              <a:latin typeface="Book Antiqua"/>
              <a:ea typeface="Tahoma"/>
              <a:cs typeface="Tahoma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endParaRPr lang="pt-BR" sz="2800" b="1" cap="all" dirty="0">
              <a:solidFill>
                <a:srgbClr val="000000"/>
              </a:solidFill>
              <a:latin typeface="Arial"/>
              <a:ea typeface="Tahoma"/>
              <a:cs typeface="Tahoma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pt-BR" b="1" cap="all" dirty="0">
              <a:solidFill>
                <a:srgbClr val="262673"/>
              </a:solidFill>
              <a:latin typeface="Book Antiqua"/>
              <a:ea typeface="Tahoma"/>
              <a:cs typeface="Tahoma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endParaRPr lang="pt-BR" b="1" dirty="0">
              <a:solidFill>
                <a:srgbClr val="000000"/>
              </a:solidFill>
              <a:latin typeface="Arial" panose="020B0604020202020204" pitchFamily="34" charset="0"/>
              <a:ea typeface="Tahoma"/>
              <a:cs typeface="Tahoma"/>
            </a:endParaRPr>
          </a:p>
          <a:p>
            <a:pPr algn="just">
              <a:spcBef>
                <a:spcPct val="0"/>
              </a:spcBef>
              <a:spcAft>
                <a:spcPts val="600"/>
              </a:spcAft>
              <a:buNone/>
            </a:pPr>
            <a:endParaRPr lang="pt-BR" b="1" dirty="0">
              <a:solidFill>
                <a:schemeClr val="bg2"/>
              </a:solidFill>
              <a:latin typeface="Arial" panose="020B0604020202020204" pitchFamily="34" charset="0"/>
              <a:ea typeface="Tahoma"/>
              <a:cs typeface="Tahoma"/>
            </a:endParaRPr>
          </a:p>
          <a:p>
            <a:pPr>
              <a:buNone/>
            </a:pPr>
            <a:endParaRPr lang="pt-BR" altLang="pt-BR" b="1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5786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ço Reservado para Número de Slide 1">
            <a:extLst>
              <a:ext uri="{FF2B5EF4-FFF2-40B4-BE49-F238E27FC236}">
                <a16:creationId xmlns:a16="http://schemas.microsoft.com/office/drawing/2014/main" id="{846FC07F-CBC4-0358-81FD-5B9C93232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5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2D7088D8-A4D7-4903-8B13-19ACD6824B27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pt-BR" altLang="pt-BR" sz="1400"/>
          </a:p>
        </p:txBody>
      </p:sp>
      <p:sp>
        <p:nvSpPr>
          <p:cNvPr id="7171" name="Text Box 2">
            <a:extLst>
              <a:ext uri="{FF2B5EF4-FFF2-40B4-BE49-F238E27FC236}">
                <a16:creationId xmlns:a16="http://schemas.microsoft.com/office/drawing/2014/main" id="{B6C17CBE-4E41-4E16-74F0-856972B47F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7488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 dirty="0">
                <a:latin typeface="Arial"/>
                <a:cs typeface="Arial"/>
              </a:rPr>
              <a:t>LINGUAGEM DE PROG. PYTHON</a:t>
            </a:r>
          </a:p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pt-BR" altLang="pt-BR" sz="4200" b="1" dirty="0" err="1">
                <a:latin typeface="Arial"/>
                <a:cs typeface="Arial"/>
              </a:rPr>
              <a:t>Strings</a:t>
            </a:r>
            <a:r>
              <a:rPr lang="pt-BR" altLang="pt-BR" sz="4200" b="1" dirty="0">
                <a:latin typeface="Arial"/>
                <a:cs typeface="Arial"/>
              </a:rPr>
              <a:t> – Operador de Indexação</a:t>
            </a:r>
            <a:endParaRPr lang="pt-BR" altLang="pt-BR" sz="4200" b="1" dirty="0" err="1">
              <a:latin typeface="Arial" panose="020B0604020202020204" pitchFamily="34" charset="0"/>
              <a:cs typeface="Arial"/>
            </a:endParaRP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827178E-6D40-D08D-39C1-7011F46AC6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664" y="2238376"/>
            <a:ext cx="11462542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None/>
            </a:pPr>
            <a:r>
              <a:rPr lang="pt-BR" sz="2800" b="1" dirty="0">
                <a:latin typeface="Arial"/>
                <a:ea typeface="Tahoma"/>
                <a:cs typeface="Tahoma"/>
              </a:rPr>
              <a:t>CÓDIGO - OBJETIVO </a:t>
            </a:r>
            <a:endParaRPr lang="pt-BR" sz="2800" b="1">
              <a:latin typeface="Arial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endParaRPr lang="pt-BR" sz="2800" b="1" dirty="0">
              <a:latin typeface="Arial"/>
              <a:ea typeface="Tahoma"/>
              <a:cs typeface="Tahoma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r>
              <a:rPr lang="pt-BR" sz="2800" b="1" dirty="0" err="1">
                <a:latin typeface="Arial"/>
                <a:ea typeface="Tahoma"/>
                <a:cs typeface="Tahoma"/>
              </a:rPr>
              <a:t>String</a:t>
            </a:r>
            <a:r>
              <a:rPr lang="pt-BR" sz="2800" b="1" dirty="0">
                <a:latin typeface="Arial"/>
                <a:ea typeface="Tahoma"/>
                <a:cs typeface="Tahoma"/>
              </a:rPr>
              <a:t>[ i ] - Seleciona o elemento de índice i da </a:t>
            </a:r>
            <a:r>
              <a:rPr lang="pt-BR" sz="2800" b="1" dirty="0" err="1">
                <a:latin typeface="Arial"/>
                <a:ea typeface="Tahoma"/>
                <a:cs typeface="Tahoma"/>
              </a:rPr>
              <a:t>string</a:t>
            </a:r>
            <a:r>
              <a:rPr lang="pt-BR" sz="2800" b="1" dirty="0">
                <a:latin typeface="Arial"/>
                <a:ea typeface="Tahoma"/>
                <a:cs typeface="Tahoma"/>
              </a:rPr>
              <a:t>.</a:t>
            </a: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r>
              <a:rPr lang="pt-BR" sz="2800" b="1" dirty="0" err="1">
                <a:latin typeface="Arial"/>
                <a:ea typeface="Tahoma"/>
                <a:cs typeface="Tahoma"/>
              </a:rPr>
              <a:t>String</a:t>
            </a:r>
            <a:r>
              <a:rPr lang="pt-BR" sz="2800" b="1" dirty="0">
                <a:latin typeface="Arial"/>
                <a:ea typeface="Tahoma"/>
                <a:cs typeface="Tahoma"/>
              </a:rPr>
              <a:t>[ i : j ] -  Seleciona os elementos da </a:t>
            </a:r>
            <a:r>
              <a:rPr lang="pt-BR" sz="2800" b="1" dirty="0" err="1">
                <a:latin typeface="Arial"/>
                <a:ea typeface="Tahoma"/>
                <a:cs typeface="Tahoma"/>
              </a:rPr>
              <a:t>string</a:t>
            </a:r>
            <a:r>
              <a:rPr lang="pt-BR" sz="2800" b="1" dirty="0">
                <a:latin typeface="Arial"/>
                <a:ea typeface="Tahoma"/>
                <a:cs typeface="Tahoma"/>
              </a:rPr>
              <a:t> cujos índices    </a:t>
            </a:r>
            <a:endParaRPr lang="pt-BR">
              <a:ea typeface="Tahoma"/>
              <a:cs typeface="Tahoma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r>
              <a:rPr lang="pt-BR" sz="2800" b="1" dirty="0">
                <a:latin typeface="Arial"/>
                <a:ea typeface="Tahoma"/>
                <a:cs typeface="Tahoma"/>
              </a:rPr>
              <a:t>                      estão compreendidos entre i e j-1.</a:t>
            </a:r>
            <a:endParaRPr lang="pt-BR" dirty="0">
              <a:ea typeface="Tahoma"/>
              <a:cs typeface="Tahoma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r>
              <a:rPr lang="pt-BR" sz="2800" b="1" dirty="0">
                <a:latin typeface="Arial"/>
                <a:ea typeface="Tahoma"/>
                <a:cs typeface="Tahoma"/>
              </a:rPr>
              <a:t>Lista [ : j ] - Seleciona os elementos da </a:t>
            </a:r>
            <a:r>
              <a:rPr lang="pt-BR" sz="2800" b="1" dirty="0" err="1">
                <a:latin typeface="Arial"/>
                <a:ea typeface="Tahoma"/>
                <a:cs typeface="Tahoma"/>
              </a:rPr>
              <a:t>string</a:t>
            </a:r>
            <a:r>
              <a:rPr lang="pt-BR" sz="2800" b="1" dirty="0">
                <a:latin typeface="Arial"/>
                <a:ea typeface="Tahoma"/>
                <a:cs typeface="Tahoma"/>
              </a:rPr>
              <a:t> do início até o </a:t>
            </a: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r>
              <a:rPr lang="pt-BR" sz="2800" b="1" dirty="0">
                <a:latin typeface="Arial"/>
                <a:ea typeface="Tahoma"/>
                <a:cs typeface="Tahoma"/>
              </a:rPr>
              <a:t>                   elemento j-1. </a:t>
            </a:r>
            <a:endParaRPr lang="pt-BR"/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r>
              <a:rPr lang="pt-BR" sz="2800" b="1" dirty="0">
                <a:latin typeface="Arial"/>
                <a:ea typeface="Tahoma"/>
                <a:cs typeface="Tahoma"/>
              </a:rPr>
              <a:t>Lista [ i : ] - Seleciona os elementos da </a:t>
            </a:r>
            <a:r>
              <a:rPr lang="pt-BR" sz="2800" b="1" dirty="0" err="1">
                <a:latin typeface="Arial"/>
                <a:ea typeface="Tahoma"/>
                <a:cs typeface="Tahoma"/>
              </a:rPr>
              <a:t>string</a:t>
            </a:r>
            <a:r>
              <a:rPr lang="pt-BR" sz="2800" b="1" dirty="0">
                <a:latin typeface="Arial"/>
                <a:ea typeface="Tahoma"/>
                <a:cs typeface="Tahoma"/>
              </a:rPr>
              <a:t> do índice i até o </a:t>
            </a:r>
            <a:endParaRPr lang="pt-BR" dirty="0"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r>
              <a:rPr lang="pt-BR" sz="2800" b="1" dirty="0">
                <a:latin typeface="Arial"/>
                <a:ea typeface="Tahoma"/>
                <a:cs typeface="Tahoma"/>
              </a:rPr>
              <a:t>                    final da </a:t>
            </a:r>
            <a:r>
              <a:rPr lang="pt-BR" sz="2800" b="1" dirty="0" err="1">
                <a:latin typeface="Arial"/>
                <a:ea typeface="Tahoma"/>
                <a:cs typeface="Tahoma"/>
              </a:rPr>
              <a:t>string</a:t>
            </a:r>
            <a:r>
              <a:rPr lang="pt-BR" sz="2800" b="1" dirty="0">
                <a:latin typeface="Arial"/>
                <a:ea typeface="Tahoma"/>
                <a:cs typeface="Tahoma"/>
              </a:rPr>
              <a:t>.</a:t>
            </a:r>
            <a:endParaRPr lang="pt-BR" sz="2800" b="1" dirty="0">
              <a:latin typeface="Arial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r>
              <a:rPr lang="pt-BR" sz="2800" b="1" dirty="0">
                <a:latin typeface="Arial"/>
                <a:ea typeface="Tahoma"/>
                <a:cs typeface="Tahoma"/>
              </a:rPr>
              <a:t>Lista [ -i : ] - Seleciona os i últimos elementos da </a:t>
            </a:r>
            <a:r>
              <a:rPr lang="pt-BR" sz="2800" b="1" dirty="0" err="1">
                <a:latin typeface="Arial"/>
                <a:ea typeface="Tahoma"/>
                <a:cs typeface="Tahoma"/>
              </a:rPr>
              <a:t>string</a:t>
            </a:r>
            <a:r>
              <a:rPr lang="pt-BR" sz="2800" b="1" dirty="0">
                <a:latin typeface="Arial"/>
                <a:ea typeface="Tahoma"/>
                <a:cs typeface="Tahoma"/>
              </a:rPr>
              <a:t>. </a:t>
            </a:r>
            <a:endParaRPr lang="pt-BR" dirty="0">
              <a:ea typeface="Tahoma"/>
              <a:cs typeface="Tahoma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endParaRPr lang="en-US" sz="2800" b="1" cap="all" dirty="0">
              <a:latin typeface="Book Antiqua"/>
              <a:ea typeface="Tahoma"/>
              <a:cs typeface="Tahoma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endParaRPr lang="pt-BR" sz="2800" b="1" cap="all" dirty="0">
              <a:latin typeface="Arial"/>
              <a:ea typeface="Tahoma"/>
              <a:cs typeface="Tahoma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endParaRPr lang="pt-BR" b="1" cap="all" dirty="0">
              <a:solidFill>
                <a:schemeClr val="tx2">
                  <a:lumMod val="75000"/>
                </a:schemeClr>
              </a:solidFill>
              <a:latin typeface="Book Antiqua"/>
              <a:ea typeface="Tahoma"/>
              <a:cs typeface="Tahoma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pt-BR" b="1" dirty="0">
              <a:solidFill>
                <a:srgbClr val="000000"/>
              </a:solidFill>
              <a:latin typeface="Arial" panose="020B0604020202020204" pitchFamily="34" charset="0"/>
              <a:ea typeface="Tahoma"/>
              <a:cs typeface="Tahoma"/>
            </a:endParaRPr>
          </a:p>
          <a:p>
            <a:pPr algn="just">
              <a:spcBef>
                <a:spcPct val="0"/>
              </a:spcBef>
              <a:spcAft>
                <a:spcPts val="600"/>
              </a:spcAft>
              <a:buNone/>
            </a:pPr>
            <a:endParaRPr lang="pt-BR" b="1" dirty="0">
              <a:solidFill>
                <a:schemeClr val="bg2"/>
              </a:solidFill>
              <a:latin typeface="Arial" panose="020B0604020202020204" pitchFamily="34" charset="0"/>
              <a:ea typeface="Tahoma"/>
              <a:cs typeface="Tahoma"/>
            </a:endParaRPr>
          </a:p>
          <a:p>
            <a:pPr>
              <a:buNone/>
            </a:pPr>
            <a:endParaRPr lang="pt-BR" altLang="pt-BR" b="1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3124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ço Reservado para Número de Slide 1">
            <a:extLst>
              <a:ext uri="{FF2B5EF4-FFF2-40B4-BE49-F238E27FC236}">
                <a16:creationId xmlns:a16="http://schemas.microsoft.com/office/drawing/2014/main" id="{846FC07F-CBC4-0358-81FD-5B9C93232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5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2D7088D8-A4D7-4903-8B13-19ACD6824B27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pt-BR" altLang="pt-BR" sz="1400"/>
          </a:p>
        </p:txBody>
      </p:sp>
      <p:sp>
        <p:nvSpPr>
          <p:cNvPr id="7171" name="Text Box 2">
            <a:extLst>
              <a:ext uri="{FF2B5EF4-FFF2-40B4-BE49-F238E27FC236}">
                <a16:creationId xmlns:a16="http://schemas.microsoft.com/office/drawing/2014/main" id="{B6C17CBE-4E41-4E16-74F0-856972B47F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7488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 dirty="0">
                <a:latin typeface="Arial"/>
                <a:cs typeface="Arial"/>
              </a:rPr>
              <a:t>LINGUAGEM DE PROG. PYTHON</a:t>
            </a:r>
          </a:p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pt-BR" altLang="pt-BR" sz="4200" b="1" dirty="0" err="1">
                <a:latin typeface="Arial"/>
                <a:cs typeface="Arial"/>
              </a:rPr>
              <a:t>Strings</a:t>
            </a:r>
            <a:r>
              <a:rPr lang="pt-BR" altLang="pt-BR" sz="4200" b="1" dirty="0">
                <a:latin typeface="Arial"/>
                <a:cs typeface="Arial"/>
              </a:rPr>
              <a:t> – Operador de Indexação</a:t>
            </a:r>
            <a:endParaRPr lang="pt-BR" altLang="pt-BR" sz="4200" b="1" dirty="0" err="1">
              <a:latin typeface="Arial" panose="020B0604020202020204" pitchFamily="34" charset="0"/>
              <a:cs typeface="Arial"/>
            </a:endParaRP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827178E-6D40-D08D-39C1-7011F46AC6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664" y="2238376"/>
            <a:ext cx="11462542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None/>
            </a:pPr>
            <a:r>
              <a:rPr lang="pt-BR" sz="2800" b="1" dirty="0">
                <a:solidFill>
                  <a:srgbClr val="000000"/>
                </a:solidFill>
                <a:latin typeface="Arial"/>
                <a:ea typeface="Tahoma"/>
                <a:cs typeface="Tahoma"/>
              </a:rPr>
              <a:t>Pegar uma parte da </a:t>
            </a:r>
            <a:r>
              <a:rPr lang="pt-BR" sz="2800" b="1" dirty="0" err="1">
                <a:solidFill>
                  <a:srgbClr val="000000"/>
                </a:solidFill>
                <a:latin typeface="Arial"/>
                <a:ea typeface="Tahoma"/>
                <a:cs typeface="Tahoma"/>
              </a:rPr>
              <a:t>String</a:t>
            </a:r>
            <a:endParaRPr lang="pt-BR" sz="2800" b="1" dirty="0" err="1">
              <a:solidFill>
                <a:srgbClr val="000000"/>
              </a:solidFill>
              <a:latin typeface="Arial"/>
              <a:ea typeface="Tahoma"/>
              <a:cs typeface="Arial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endParaRPr lang="pt-BR" sz="2800" b="1" cap="all" dirty="0">
              <a:solidFill>
                <a:srgbClr val="000000"/>
              </a:solidFill>
              <a:latin typeface="Arial"/>
              <a:ea typeface="Tahoma"/>
              <a:cs typeface="Tahoma"/>
            </a:endParaRPr>
          </a:p>
          <a:p>
            <a:pPr>
              <a:buNone/>
            </a:pPr>
            <a:r>
              <a:rPr lang="en-US" sz="2800" b="1" cap="all" dirty="0">
                <a:latin typeface="Arial"/>
                <a:ea typeface="Tahoma"/>
                <a:cs typeface="Tahoma"/>
              </a:rPr>
              <a:t>NOME = "UNIVERSIDADE PAULISTA"</a:t>
            </a:r>
            <a:endParaRPr lang="en-US" sz="2800" b="1" dirty="0">
              <a:latin typeface="Arial"/>
              <a:cs typeface="Arial"/>
            </a:endParaRPr>
          </a:p>
          <a:p>
            <a:pPr>
              <a:buNone/>
            </a:pPr>
            <a:endParaRPr lang="en-US" sz="2800" b="1" dirty="0">
              <a:latin typeface="Arial"/>
              <a:cs typeface="Arial"/>
            </a:endParaRPr>
          </a:p>
          <a:p>
            <a:pPr>
              <a:buNone/>
            </a:pPr>
            <a:r>
              <a:rPr lang="en-US" sz="2800" b="1" cap="all" dirty="0">
                <a:latin typeface="Arial"/>
                <a:ea typeface="Tahoma"/>
                <a:cs typeface="Tahoma"/>
              </a:rPr>
              <a:t>SUB1 = NOME[2:6]</a:t>
            </a:r>
            <a:endParaRPr lang="en-US" sz="2800" b="1" dirty="0">
              <a:latin typeface="Arial"/>
              <a:cs typeface="Arial"/>
            </a:endParaRPr>
          </a:p>
          <a:p>
            <a:pPr>
              <a:buNone/>
            </a:pPr>
            <a:r>
              <a:rPr lang="en-US" sz="2800" b="1" cap="all" dirty="0">
                <a:latin typeface="Arial"/>
                <a:ea typeface="Tahoma"/>
                <a:cs typeface="Tahoma"/>
              </a:rPr>
              <a:t>print(SUB1)</a:t>
            </a:r>
            <a:endParaRPr lang="en-US" sz="2800" b="1" dirty="0">
              <a:latin typeface="Arial"/>
              <a:cs typeface="Arial"/>
            </a:endParaRPr>
          </a:p>
          <a:p>
            <a:pPr>
              <a:buNone/>
            </a:pPr>
            <a:r>
              <a:rPr lang="en-US" sz="2800" b="1" cap="all" dirty="0">
                <a:latin typeface="Arial"/>
                <a:ea typeface="Tahoma"/>
                <a:cs typeface="Tahoma"/>
              </a:rPr>
              <a:t>SUB2 = NOME[-5:-1]</a:t>
            </a:r>
            <a:endParaRPr lang="en-US" sz="2800" b="1" dirty="0">
              <a:latin typeface="Arial"/>
              <a:cs typeface="Arial"/>
            </a:endParaRPr>
          </a:p>
          <a:p>
            <a:pPr>
              <a:buNone/>
            </a:pPr>
            <a:r>
              <a:rPr lang="en-US" sz="2800" b="1" cap="all" dirty="0">
                <a:latin typeface="Arial"/>
                <a:ea typeface="Tahoma"/>
                <a:cs typeface="Tahoma"/>
              </a:rPr>
              <a:t>print(SUB2)</a:t>
            </a:r>
            <a:endParaRPr lang="en-US" sz="2800" b="1" dirty="0">
              <a:latin typeface="Arial"/>
              <a:cs typeface="Arial"/>
            </a:endParaRPr>
          </a:p>
          <a:p>
            <a:pPr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endParaRPr lang="en-US" sz="2800" b="1" cap="all" dirty="0">
              <a:latin typeface="Book Antiqua"/>
              <a:ea typeface="Tahoma"/>
              <a:cs typeface="Tahoma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endParaRPr lang="pt-BR" sz="2800" b="1" cap="all" dirty="0">
              <a:latin typeface="Arial"/>
              <a:ea typeface="Tahoma"/>
              <a:cs typeface="Tahoma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endParaRPr lang="pt-BR" b="1" cap="all" dirty="0">
              <a:solidFill>
                <a:schemeClr val="tx2">
                  <a:lumMod val="75000"/>
                </a:schemeClr>
              </a:solidFill>
              <a:latin typeface="Book Antiqua"/>
              <a:ea typeface="Tahoma"/>
              <a:cs typeface="Tahoma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pt-BR" b="1" dirty="0">
              <a:solidFill>
                <a:srgbClr val="000000"/>
              </a:solidFill>
              <a:latin typeface="Arial" panose="020B0604020202020204" pitchFamily="34" charset="0"/>
              <a:ea typeface="Tahoma"/>
              <a:cs typeface="Tahoma"/>
            </a:endParaRPr>
          </a:p>
          <a:p>
            <a:pPr algn="just">
              <a:spcBef>
                <a:spcPct val="0"/>
              </a:spcBef>
              <a:spcAft>
                <a:spcPts val="600"/>
              </a:spcAft>
              <a:buNone/>
            </a:pPr>
            <a:endParaRPr lang="pt-BR" b="1" dirty="0">
              <a:solidFill>
                <a:schemeClr val="bg2"/>
              </a:solidFill>
              <a:latin typeface="Arial" panose="020B0604020202020204" pitchFamily="34" charset="0"/>
              <a:ea typeface="Tahoma"/>
              <a:cs typeface="Tahoma"/>
            </a:endParaRPr>
          </a:p>
          <a:p>
            <a:pPr>
              <a:buNone/>
            </a:pPr>
            <a:endParaRPr lang="pt-BR" altLang="pt-BR" b="1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7B9EC90-A916-3FC0-7D6C-464514E13A56}"/>
              </a:ext>
            </a:extLst>
          </p:cNvPr>
          <p:cNvSpPr/>
          <p:nvPr/>
        </p:nvSpPr>
        <p:spPr bwMode="auto">
          <a:xfrm>
            <a:off x="7543800" y="2924174"/>
            <a:ext cx="3700461" cy="2938461"/>
          </a:xfrm>
          <a:prstGeom prst="roundRect">
            <a:avLst/>
          </a:prstGeom>
          <a:solidFill>
            <a:schemeClr val="accent5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pt-BR" sz="3200" b="1" dirty="0">
              <a:latin typeface="Arial"/>
              <a:ea typeface="Tahoma"/>
              <a:cs typeface="Tahoma"/>
            </a:endParaRPr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r>
              <a:rPr lang="pt-BR" sz="3200" b="1" dirty="0">
                <a:latin typeface="Arial"/>
                <a:ea typeface="Tahoma"/>
                <a:cs typeface="Tahoma"/>
              </a:rPr>
              <a:t>IVERSIDA</a:t>
            </a:r>
            <a:endParaRPr lang="pt-BR" dirty="0">
              <a:ea typeface="Tahoma"/>
              <a:cs typeface="Tahoma"/>
            </a:endParaRPr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pt-BR" sz="3200" b="1" dirty="0">
              <a:latin typeface="Arial"/>
              <a:ea typeface="Tahoma"/>
              <a:cs typeface="Tahoma"/>
            </a:endParaRPr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r>
              <a:rPr lang="pt-BR" sz="3200" b="1" dirty="0">
                <a:latin typeface="Arial"/>
                <a:ea typeface="Tahoma"/>
                <a:cs typeface="Tahoma"/>
              </a:rPr>
              <a:t>LIST</a:t>
            </a:r>
          </a:p>
        </p:txBody>
      </p:sp>
    </p:spTree>
    <p:extLst>
      <p:ext uri="{BB962C8B-B14F-4D97-AF65-F5344CB8AC3E}">
        <p14:creationId xmlns:p14="http://schemas.microsoft.com/office/powerpoint/2010/main" val="1902197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ço Reservado para Número de Slide 1">
            <a:extLst>
              <a:ext uri="{FF2B5EF4-FFF2-40B4-BE49-F238E27FC236}">
                <a16:creationId xmlns:a16="http://schemas.microsoft.com/office/drawing/2014/main" id="{846FC07F-CBC4-0358-81FD-5B9C93232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5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2D7088D8-A4D7-4903-8B13-19ACD6824B27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pt-BR" altLang="pt-BR" sz="1400"/>
          </a:p>
        </p:txBody>
      </p:sp>
      <p:sp>
        <p:nvSpPr>
          <p:cNvPr id="7171" name="Text Box 2">
            <a:extLst>
              <a:ext uri="{FF2B5EF4-FFF2-40B4-BE49-F238E27FC236}">
                <a16:creationId xmlns:a16="http://schemas.microsoft.com/office/drawing/2014/main" id="{B6C17CBE-4E41-4E16-74F0-856972B47F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7488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 dirty="0">
                <a:latin typeface="Arial"/>
                <a:cs typeface="Arial"/>
              </a:rPr>
              <a:t>LINGUAGEM DE PROG. PYTHON</a:t>
            </a:r>
          </a:p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pt-BR" altLang="pt-BR" sz="4200" b="1" dirty="0" err="1">
                <a:latin typeface="Arial"/>
                <a:cs typeface="Arial"/>
              </a:rPr>
              <a:t>Strings</a:t>
            </a:r>
            <a:r>
              <a:rPr lang="pt-BR" altLang="pt-BR" sz="4200" b="1" dirty="0">
                <a:latin typeface="Arial"/>
                <a:cs typeface="Arial"/>
              </a:rPr>
              <a:t> – Operador de Indexação</a:t>
            </a:r>
            <a:endParaRPr lang="pt-BR" altLang="pt-BR" sz="4200" b="1" dirty="0" err="1">
              <a:latin typeface="Arial" panose="020B0604020202020204" pitchFamily="34" charset="0"/>
              <a:cs typeface="Arial"/>
            </a:endParaRP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827178E-6D40-D08D-39C1-7011F46AC6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664" y="2238376"/>
            <a:ext cx="11462542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None/>
            </a:pPr>
            <a:r>
              <a:rPr lang="pt-BR" sz="2800" b="1" dirty="0">
                <a:solidFill>
                  <a:srgbClr val="000000"/>
                </a:solidFill>
                <a:latin typeface="Arial"/>
                <a:ea typeface="Tahoma"/>
                <a:cs typeface="Tahoma"/>
              </a:rPr>
              <a:t>Pegar uma parte da </a:t>
            </a:r>
            <a:r>
              <a:rPr lang="pt-BR" sz="2800" b="1" dirty="0" err="1">
                <a:solidFill>
                  <a:srgbClr val="000000"/>
                </a:solidFill>
                <a:latin typeface="Arial"/>
                <a:ea typeface="Tahoma"/>
                <a:cs typeface="Tahoma"/>
              </a:rPr>
              <a:t>String</a:t>
            </a:r>
            <a:endParaRPr lang="pt-BR" sz="2800" b="1" dirty="0" err="1">
              <a:solidFill>
                <a:srgbClr val="000000"/>
              </a:solidFill>
              <a:latin typeface="Arial"/>
              <a:ea typeface="Tahoma"/>
              <a:cs typeface="Arial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endParaRPr lang="pt-BR" sz="2800" b="1" cap="all" dirty="0">
              <a:solidFill>
                <a:srgbClr val="000000"/>
              </a:solidFill>
              <a:latin typeface="Arial"/>
              <a:ea typeface="Tahoma"/>
              <a:cs typeface="Tahoma"/>
            </a:endParaRPr>
          </a:p>
          <a:p>
            <a:pPr>
              <a:buNone/>
            </a:pPr>
            <a:r>
              <a:rPr lang="en-US" sz="2800" b="1" cap="all" dirty="0">
                <a:latin typeface="Arial"/>
                <a:ea typeface="Tahoma"/>
                <a:cs typeface="Tahoma"/>
              </a:rPr>
              <a:t>NOME = "UNIVERSIDADE PAULISTA"</a:t>
            </a:r>
            <a:endParaRPr lang="en-US" sz="2800" b="1">
              <a:latin typeface="Arial"/>
              <a:cs typeface="Arial"/>
            </a:endParaRPr>
          </a:p>
          <a:p>
            <a:pPr>
              <a:buNone/>
            </a:pPr>
            <a:r>
              <a:rPr lang="en-US" sz="2800" b="1" cap="all" dirty="0">
                <a:latin typeface="Arial"/>
                <a:ea typeface="Tahoma"/>
                <a:cs typeface="Tahoma"/>
              </a:rPr>
              <a:t>SUB1 = NOME[10:]</a:t>
            </a:r>
            <a:endParaRPr lang="en-US" sz="2800" b="1">
              <a:latin typeface="Arial"/>
              <a:cs typeface="Arial"/>
            </a:endParaRPr>
          </a:p>
          <a:p>
            <a:pPr>
              <a:buNone/>
            </a:pPr>
            <a:r>
              <a:rPr lang="en-US" sz="2800" b="1" cap="all" dirty="0">
                <a:latin typeface="Arial"/>
                <a:ea typeface="Tahoma"/>
                <a:cs typeface="Tahoma"/>
              </a:rPr>
              <a:t>print(SUB1)</a:t>
            </a:r>
            <a:endParaRPr lang="en-US" sz="2800" b="1">
              <a:latin typeface="Arial"/>
              <a:cs typeface="Arial"/>
            </a:endParaRPr>
          </a:p>
          <a:p>
            <a:pPr>
              <a:buNone/>
            </a:pPr>
            <a:r>
              <a:rPr lang="en-US" sz="2800" b="1" cap="all" dirty="0">
                <a:latin typeface="Arial"/>
                <a:ea typeface="Tahoma"/>
                <a:cs typeface="Tahoma"/>
              </a:rPr>
              <a:t>SUB2 = NOME[:10]</a:t>
            </a:r>
            <a:endParaRPr lang="en-US" sz="2800" b="1">
              <a:latin typeface="Arial"/>
              <a:cs typeface="Arial"/>
            </a:endParaRPr>
          </a:p>
          <a:p>
            <a:pPr>
              <a:buNone/>
            </a:pPr>
            <a:r>
              <a:rPr lang="en-US" sz="2800" b="1" cap="all" dirty="0">
                <a:latin typeface="Arial"/>
                <a:ea typeface="Tahoma"/>
                <a:cs typeface="Tahoma"/>
              </a:rPr>
              <a:t>print(SUB2)</a:t>
            </a:r>
            <a:endParaRPr lang="en-US" sz="2800" b="1">
              <a:latin typeface="Arial"/>
              <a:cs typeface="Arial"/>
            </a:endParaRPr>
          </a:p>
          <a:p>
            <a:pPr>
              <a:buNone/>
            </a:pPr>
            <a:r>
              <a:rPr lang="en-US" sz="2800" b="1" cap="all" dirty="0">
                <a:latin typeface="Arial"/>
                <a:ea typeface="Tahoma"/>
                <a:cs typeface="Tahoma"/>
              </a:rPr>
              <a:t>SUB3 = NOME[-5:]</a:t>
            </a:r>
            <a:endParaRPr lang="en-US" sz="2800" b="1">
              <a:latin typeface="Arial"/>
              <a:cs typeface="Arial"/>
            </a:endParaRPr>
          </a:p>
          <a:p>
            <a:pPr>
              <a:buNone/>
            </a:pPr>
            <a:r>
              <a:rPr lang="en-US" sz="2800" b="1" cap="all" dirty="0">
                <a:latin typeface="Arial"/>
                <a:ea typeface="Tahoma"/>
                <a:cs typeface="Tahoma"/>
              </a:rPr>
              <a:t>print(SUB3)</a:t>
            </a:r>
            <a:endParaRPr lang="en-US" sz="2800" b="1">
              <a:latin typeface="Arial"/>
              <a:cs typeface="Arial"/>
            </a:endParaRPr>
          </a:p>
          <a:p>
            <a:pPr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pPr>
              <a:buNone/>
            </a:pPr>
            <a:endParaRPr lang="en-US" sz="2800" b="1" cap="all" dirty="0">
              <a:latin typeface="Arial"/>
              <a:ea typeface="Tahoma"/>
              <a:cs typeface="Tahoma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endParaRPr lang="en-US" sz="2800" b="1" cap="all" dirty="0">
              <a:latin typeface="Book Antiqua"/>
              <a:ea typeface="Tahoma"/>
              <a:cs typeface="Tahoma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endParaRPr lang="pt-BR" sz="2800" b="1" cap="all" dirty="0">
              <a:latin typeface="Arial"/>
              <a:ea typeface="Tahoma"/>
              <a:cs typeface="Tahoma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endParaRPr lang="pt-BR" b="1" cap="all" dirty="0">
              <a:solidFill>
                <a:schemeClr val="tx2">
                  <a:lumMod val="75000"/>
                </a:schemeClr>
              </a:solidFill>
              <a:latin typeface="Book Antiqua"/>
              <a:ea typeface="Tahoma"/>
              <a:cs typeface="Tahoma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pt-BR" b="1" dirty="0">
              <a:solidFill>
                <a:srgbClr val="000000"/>
              </a:solidFill>
              <a:latin typeface="Arial" panose="020B0604020202020204" pitchFamily="34" charset="0"/>
              <a:ea typeface="Tahoma"/>
              <a:cs typeface="Tahoma"/>
            </a:endParaRPr>
          </a:p>
          <a:p>
            <a:pPr algn="just">
              <a:spcBef>
                <a:spcPct val="0"/>
              </a:spcBef>
              <a:spcAft>
                <a:spcPts val="600"/>
              </a:spcAft>
              <a:buNone/>
            </a:pPr>
            <a:endParaRPr lang="pt-BR" b="1" dirty="0">
              <a:solidFill>
                <a:schemeClr val="bg2"/>
              </a:solidFill>
              <a:latin typeface="Arial" panose="020B0604020202020204" pitchFamily="34" charset="0"/>
              <a:ea typeface="Tahoma"/>
              <a:cs typeface="Tahoma"/>
            </a:endParaRPr>
          </a:p>
          <a:p>
            <a:pPr>
              <a:buNone/>
            </a:pPr>
            <a:endParaRPr lang="pt-BR" altLang="pt-BR" b="1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7B9EC90-A916-3FC0-7D6C-464514E13A56}"/>
              </a:ext>
            </a:extLst>
          </p:cNvPr>
          <p:cNvSpPr/>
          <p:nvPr/>
        </p:nvSpPr>
        <p:spPr bwMode="auto">
          <a:xfrm>
            <a:off x="7258051" y="2424112"/>
            <a:ext cx="4736303" cy="4236240"/>
          </a:xfrm>
          <a:prstGeom prst="roundRect">
            <a:avLst/>
          </a:prstGeom>
          <a:solidFill>
            <a:schemeClr val="accent5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pt-BR" sz="3200" dirty="0">
              <a:ea typeface="+mn-lt"/>
              <a:cs typeface="+mn-lt"/>
            </a:endParaRPr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r>
              <a:rPr lang="pt-BR" sz="3600" b="1" dirty="0">
                <a:latin typeface="Arial"/>
                <a:ea typeface="+mn-lt"/>
                <a:cs typeface="+mn-lt"/>
              </a:rPr>
              <a:t>DE PAULISTA </a:t>
            </a:r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pt-BR" sz="3600" b="1" dirty="0">
              <a:latin typeface="Arial"/>
              <a:ea typeface="+mn-lt"/>
              <a:cs typeface="+mn-lt"/>
            </a:endParaRPr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r>
              <a:rPr lang="pt-BR" sz="3600" b="1" dirty="0">
                <a:latin typeface="Arial"/>
                <a:ea typeface="+mn-lt"/>
                <a:cs typeface="+mn-lt"/>
              </a:rPr>
              <a:t>UNIVERSIDA </a:t>
            </a:r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pt-BR" sz="3600" b="1" dirty="0">
              <a:latin typeface="Arial"/>
              <a:ea typeface="+mn-lt"/>
              <a:cs typeface="+mn-lt"/>
            </a:endParaRPr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r>
              <a:rPr lang="pt-BR" sz="3600" b="1" dirty="0">
                <a:latin typeface="Arial"/>
                <a:ea typeface="+mn-lt"/>
                <a:cs typeface="+mn-lt"/>
              </a:rPr>
              <a:t>LISTA</a:t>
            </a:r>
            <a:endParaRPr lang="pt-BR" sz="3600" b="1" dirty="0">
              <a:latin typeface="Arial"/>
              <a:ea typeface="Tahoma"/>
              <a:cs typeface="Tahoma"/>
            </a:endParaRPr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pt-BR" sz="3200" b="1" dirty="0">
              <a:latin typeface="Arial"/>
              <a:ea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4406251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ço Reservado para Número de Slide 1">
            <a:extLst>
              <a:ext uri="{FF2B5EF4-FFF2-40B4-BE49-F238E27FC236}">
                <a16:creationId xmlns:a16="http://schemas.microsoft.com/office/drawing/2014/main" id="{846FC07F-CBC4-0358-81FD-5B9C93232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5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2D7088D8-A4D7-4903-8B13-19ACD6824B27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pt-BR" altLang="pt-BR" sz="1400"/>
          </a:p>
        </p:txBody>
      </p:sp>
      <p:sp>
        <p:nvSpPr>
          <p:cNvPr id="7171" name="Text Box 2">
            <a:extLst>
              <a:ext uri="{FF2B5EF4-FFF2-40B4-BE49-F238E27FC236}">
                <a16:creationId xmlns:a16="http://schemas.microsoft.com/office/drawing/2014/main" id="{B6C17CBE-4E41-4E16-74F0-856972B47F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7488" y="141288"/>
            <a:ext cx="9144001" cy="1415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 dirty="0">
                <a:latin typeface="Arial"/>
                <a:cs typeface="Arial"/>
              </a:rPr>
              <a:t>LINGUAGEM DE PROG. PYTHON</a:t>
            </a:r>
          </a:p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pt-BR" altLang="pt-BR" sz="4200" b="1" dirty="0" err="1">
                <a:latin typeface="Arial"/>
                <a:cs typeface="Arial"/>
              </a:rPr>
              <a:t>Strings</a:t>
            </a:r>
            <a:r>
              <a:rPr lang="pt-BR" altLang="pt-BR" sz="4200" b="1" dirty="0">
                <a:latin typeface="Arial"/>
                <a:cs typeface="Arial"/>
              </a:rPr>
              <a:t> – Operações com </a:t>
            </a:r>
            <a:r>
              <a:rPr lang="pt-BR" altLang="pt-BR" sz="4200" b="1" dirty="0" err="1">
                <a:latin typeface="Arial"/>
                <a:cs typeface="Arial"/>
              </a:rPr>
              <a:t>string</a:t>
            </a:r>
            <a:endParaRPr lang="pt-BR" altLang="pt-BR" sz="4200" b="1" dirty="0" err="1">
              <a:latin typeface="Arial" panose="020B0604020202020204" pitchFamily="34" charset="0"/>
              <a:cs typeface="Arial"/>
            </a:endParaRP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827178E-6D40-D08D-39C1-7011F46AC6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946" y="2238376"/>
            <a:ext cx="11498260" cy="4622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None/>
            </a:pPr>
            <a:r>
              <a:rPr lang="pt-BR" b="1" dirty="0">
                <a:latin typeface="Arial"/>
                <a:ea typeface="Tahoma"/>
                <a:cs typeface="Tahoma"/>
              </a:rPr>
              <a:t>O operador + funciona com strings. No entanto, esse o operador + representa concatenação e não adição. Concatenação significa juntar os dois operandos unindo o fim de um com o começo do outro. </a:t>
            </a:r>
            <a:endParaRPr lang="pt-BR"/>
          </a:p>
          <a:p>
            <a:pPr>
              <a:buNone/>
            </a:pPr>
            <a:r>
              <a:rPr lang="pt-BR" b="1" dirty="0">
                <a:latin typeface="Arial"/>
                <a:ea typeface="Tahoma"/>
                <a:cs typeface="Tahoma"/>
              </a:rPr>
              <a:t>Exemplo: </a:t>
            </a:r>
            <a:endParaRPr lang="pt-BR" dirty="0"/>
          </a:p>
          <a:p>
            <a:pPr algn="just">
              <a:spcBef>
                <a:spcPct val="0"/>
              </a:spcBef>
              <a:buNone/>
            </a:pPr>
            <a:r>
              <a:rPr lang="pt-BR" b="1" cap="all" dirty="0">
                <a:solidFill>
                  <a:schemeClr val="tx2">
                    <a:lumMod val="75000"/>
                  </a:schemeClr>
                </a:solidFill>
                <a:latin typeface="Book Antiqua"/>
                <a:ea typeface="Tahoma"/>
                <a:cs typeface="Tahoma"/>
              </a:rPr>
              <a:t>                   </a:t>
            </a:r>
            <a:r>
              <a:rPr lang="pt-BR" b="1" cap="all" dirty="0">
                <a:latin typeface="Arial"/>
                <a:ea typeface="Tahoma"/>
                <a:cs typeface="Tahoma"/>
              </a:rPr>
              <a:t>FRUTA = "BANANA"</a:t>
            </a:r>
            <a:endParaRPr lang="en-US" b="1" dirty="0">
              <a:latin typeface="Arial"/>
              <a:ea typeface="Tahoma"/>
              <a:cs typeface="Tahoma"/>
            </a:endParaRPr>
          </a:p>
          <a:p>
            <a:pPr algn="just">
              <a:buNone/>
            </a:pPr>
            <a:r>
              <a:rPr lang="pt-BR" b="1" cap="all" dirty="0">
                <a:latin typeface="Arial"/>
                <a:ea typeface="Tahoma"/>
                <a:cs typeface="Tahoma"/>
              </a:rPr>
              <a:t>                 TIPO = "BOLO DE "</a:t>
            </a:r>
            <a:endParaRPr lang="en-US" b="1" dirty="0">
              <a:latin typeface="Arial"/>
              <a:cs typeface="Arial"/>
            </a:endParaRPr>
          </a:p>
          <a:p>
            <a:pPr algn="just">
              <a:buNone/>
            </a:pPr>
            <a:r>
              <a:rPr lang="pt-BR" b="1" cap="all" dirty="0">
                <a:latin typeface="Arial"/>
                <a:ea typeface="Tahoma"/>
                <a:cs typeface="Tahoma"/>
              </a:rPr>
              <a:t>                 </a:t>
            </a:r>
            <a:r>
              <a:rPr lang="pt-BR" b="1" dirty="0">
                <a:latin typeface="Arial"/>
                <a:ea typeface="Tahoma"/>
                <a:cs typeface="Tahoma"/>
              </a:rPr>
              <a:t>print</a:t>
            </a:r>
            <a:r>
              <a:rPr lang="pt-BR" b="1" cap="all" dirty="0">
                <a:latin typeface="Arial"/>
                <a:ea typeface="Tahoma"/>
                <a:cs typeface="Tahoma"/>
              </a:rPr>
              <a:t>(TIPO + FRUTA)</a:t>
            </a:r>
            <a:endParaRPr lang="pt-BR" b="1" dirty="0">
              <a:latin typeface="Arial"/>
              <a:cs typeface="Arial"/>
            </a:endParaRPr>
          </a:p>
          <a:p>
            <a:pPr algn="just"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pPr algn="just">
              <a:spcBef>
                <a:spcPct val="0"/>
              </a:spcBef>
              <a:buNone/>
            </a:pPr>
            <a:endParaRPr lang="pt-BR" b="1" cap="all" dirty="0">
              <a:solidFill>
                <a:schemeClr val="tx2">
                  <a:lumMod val="75000"/>
                </a:schemeClr>
              </a:solidFill>
              <a:latin typeface="Book Antiqua"/>
              <a:ea typeface="Tahoma"/>
              <a:cs typeface="Tahoma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endParaRPr lang="pt-BR" b="1" cap="all" dirty="0">
              <a:solidFill>
                <a:schemeClr val="tx2">
                  <a:lumMod val="75000"/>
                </a:schemeClr>
              </a:solidFill>
              <a:latin typeface="Book Antiqua"/>
              <a:ea typeface="Tahoma"/>
              <a:cs typeface="Tahoma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pt-BR" b="1" dirty="0">
              <a:solidFill>
                <a:srgbClr val="000000"/>
              </a:solidFill>
              <a:latin typeface="Arial" panose="020B0604020202020204" pitchFamily="34" charset="0"/>
              <a:ea typeface="Tahoma"/>
              <a:cs typeface="Tahoma"/>
            </a:endParaRPr>
          </a:p>
          <a:p>
            <a:pPr algn="just">
              <a:spcBef>
                <a:spcPct val="0"/>
              </a:spcBef>
              <a:spcAft>
                <a:spcPts val="600"/>
              </a:spcAft>
              <a:buNone/>
            </a:pPr>
            <a:endParaRPr lang="pt-BR" b="1" dirty="0">
              <a:solidFill>
                <a:schemeClr val="bg2"/>
              </a:solidFill>
              <a:latin typeface="Arial" panose="020B0604020202020204" pitchFamily="34" charset="0"/>
              <a:ea typeface="Tahoma"/>
              <a:cs typeface="Tahoma"/>
            </a:endParaRPr>
          </a:p>
          <a:p>
            <a:pPr>
              <a:buNone/>
            </a:pPr>
            <a:endParaRPr lang="pt-BR" altLang="pt-BR" b="1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7B9EC90-A916-3FC0-7D6C-464514E13A56}"/>
              </a:ext>
            </a:extLst>
          </p:cNvPr>
          <p:cNvSpPr/>
          <p:nvPr/>
        </p:nvSpPr>
        <p:spPr bwMode="auto">
          <a:xfrm>
            <a:off x="7186613" y="4495798"/>
            <a:ext cx="4355305" cy="1652587"/>
          </a:xfrm>
          <a:prstGeom prst="roundRect">
            <a:avLst/>
          </a:prstGeom>
          <a:solidFill>
            <a:schemeClr val="accent5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pt-BR" sz="3200" b="1" dirty="0">
              <a:latin typeface="Arial"/>
              <a:ea typeface="Tahoma"/>
              <a:cs typeface="Tahoma"/>
            </a:endParaRPr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r>
              <a:rPr lang="pt-BR" sz="3200" b="1" dirty="0">
                <a:latin typeface="Arial"/>
                <a:ea typeface="Tahoma"/>
                <a:cs typeface="Tahoma"/>
              </a:rPr>
              <a:t>BOLO DE BANANA</a:t>
            </a:r>
          </a:p>
        </p:txBody>
      </p:sp>
    </p:spTree>
    <p:extLst>
      <p:ext uri="{BB962C8B-B14F-4D97-AF65-F5344CB8AC3E}">
        <p14:creationId xmlns:p14="http://schemas.microsoft.com/office/powerpoint/2010/main" val="31733410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ço Reservado para Número de Slide 1">
            <a:extLst>
              <a:ext uri="{FF2B5EF4-FFF2-40B4-BE49-F238E27FC236}">
                <a16:creationId xmlns:a16="http://schemas.microsoft.com/office/drawing/2014/main" id="{846FC07F-CBC4-0358-81FD-5B9C93232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5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2D7088D8-A4D7-4903-8B13-19ACD6824B27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pt-BR" altLang="pt-BR" sz="1400"/>
          </a:p>
        </p:txBody>
      </p:sp>
      <p:sp>
        <p:nvSpPr>
          <p:cNvPr id="7171" name="Text Box 2">
            <a:extLst>
              <a:ext uri="{FF2B5EF4-FFF2-40B4-BE49-F238E27FC236}">
                <a16:creationId xmlns:a16="http://schemas.microsoft.com/office/drawing/2014/main" id="{B6C17CBE-4E41-4E16-74F0-856972B47F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7488" y="141288"/>
            <a:ext cx="9144001" cy="1415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 dirty="0">
                <a:latin typeface="Arial"/>
                <a:cs typeface="Arial"/>
              </a:rPr>
              <a:t>LINGUAGEM DE PROG. PYTHON</a:t>
            </a:r>
          </a:p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pt-BR" altLang="pt-BR" sz="4200" b="1" dirty="0" err="1">
                <a:latin typeface="Arial"/>
                <a:cs typeface="Arial"/>
              </a:rPr>
              <a:t>Strings</a:t>
            </a:r>
            <a:r>
              <a:rPr lang="pt-BR" altLang="pt-BR" sz="4200" b="1" dirty="0">
                <a:latin typeface="Arial"/>
                <a:cs typeface="Arial"/>
              </a:rPr>
              <a:t> – Operações com </a:t>
            </a:r>
            <a:r>
              <a:rPr lang="pt-BR" altLang="pt-BR" sz="4200" b="1" dirty="0" err="1">
                <a:latin typeface="Arial"/>
                <a:cs typeface="Arial"/>
              </a:rPr>
              <a:t>string</a:t>
            </a:r>
            <a:endParaRPr lang="pt-BR" altLang="pt-BR" sz="4200" b="1" dirty="0" err="1">
              <a:latin typeface="Arial" panose="020B0604020202020204" pitchFamily="34" charset="0"/>
              <a:cs typeface="Arial"/>
            </a:endParaRP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827178E-6D40-D08D-39C1-7011F46AC6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946" y="2238376"/>
            <a:ext cx="11498260" cy="4622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None/>
            </a:pPr>
            <a:r>
              <a:rPr lang="pt-BR" b="1" dirty="0">
                <a:latin typeface="Arial"/>
                <a:ea typeface="Tahoma"/>
                <a:cs typeface="Tahoma"/>
              </a:rPr>
              <a:t>O operador * também funciona com </a:t>
            </a:r>
            <a:r>
              <a:rPr lang="pt-BR" b="1" dirty="0" err="1">
                <a:latin typeface="Arial"/>
                <a:ea typeface="Tahoma"/>
                <a:cs typeface="Tahoma"/>
              </a:rPr>
              <a:t>strings</a:t>
            </a:r>
            <a:r>
              <a:rPr lang="pt-BR" b="1" dirty="0">
                <a:latin typeface="Arial"/>
                <a:ea typeface="Tahoma"/>
                <a:cs typeface="Tahoma"/>
              </a:rPr>
              <a:t>, ele realiza repetição. </a:t>
            </a:r>
            <a:endParaRPr lang="pt-BR" dirty="0">
              <a:ea typeface="Tahoma"/>
              <a:cs typeface="Tahoma"/>
            </a:endParaRPr>
          </a:p>
          <a:p>
            <a:pPr>
              <a:buNone/>
            </a:pPr>
            <a:r>
              <a:rPr lang="pt-BR" b="1" dirty="0">
                <a:latin typeface="Arial"/>
                <a:ea typeface="Tahoma"/>
                <a:cs typeface="Tahoma"/>
              </a:rPr>
              <a:t>Exemplo: </a:t>
            </a:r>
            <a:endParaRPr lang="pt-BR" dirty="0"/>
          </a:p>
          <a:p>
            <a:pPr algn="just">
              <a:buNone/>
            </a:pPr>
            <a:r>
              <a:rPr lang="pt-BR" b="1" cap="all" dirty="0">
                <a:solidFill>
                  <a:schemeClr val="tx2">
                    <a:lumMod val="75000"/>
                  </a:schemeClr>
                </a:solidFill>
                <a:latin typeface="Book Antiqua"/>
                <a:ea typeface="Tahoma"/>
                <a:cs typeface="Tahoma"/>
              </a:rPr>
              <a:t>              </a:t>
            </a:r>
            <a:r>
              <a:rPr lang="pt-BR" sz="2800" b="1" dirty="0">
                <a:solidFill>
                  <a:srgbClr val="000000"/>
                </a:solidFill>
                <a:latin typeface="Arial"/>
                <a:ea typeface="Tahoma"/>
                <a:cs typeface="Tahoma"/>
              </a:rPr>
              <a:t>print</a:t>
            </a:r>
            <a:r>
              <a:rPr lang="pt-BR" sz="2800" b="1" cap="all" dirty="0">
                <a:latin typeface="Arial"/>
                <a:ea typeface="Tahoma"/>
                <a:cs typeface="Tahoma"/>
              </a:rPr>
              <a:t>("Vai " * 4)</a:t>
            </a:r>
            <a:endParaRPr lang="en-US" sz="2800" b="1" dirty="0">
              <a:latin typeface="Arial"/>
              <a:ea typeface="Tahoma"/>
              <a:cs typeface="Tahoma"/>
            </a:endParaRPr>
          </a:p>
          <a:p>
            <a:pPr algn="just">
              <a:buNone/>
            </a:pPr>
            <a:r>
              <a:rPr lang="pt-BR" sz="2800" b="1" cap="all" dirty="0">
                <a:latin typeface="Arial"/>
                <a:ea typeface="Tahoma"/>
                <a:cs typeface="Tahoma"/>
              </a:rPr>
              <a:t>              PALAVRA = "</a:t>
            </a:r>
            <a:r>
              <a:rPr lang="pt-BR" sz="2800" b="1" cap="all" dirty="0" err="1">
                <a:latin typeface="Arial"/>
                <a:ea typeface="Tahoma"/>
                <a:cs typeface="Tahoma"/>
              </a:rPr>
              <a:t>Ae</a:t>
            </a:r>
            <a:r>
              <a:rPr lang="pt-BR" sz="2800" b="1" cap="all" dirty="0">
                <a:latin typeface="Arial"/>
                <a:ea typeface="Tahoma"/>
                <a:cs typeface="Tahoma"/>
              </a:rPr>
              <a:t>"</a:t>
            </a:r>
            <a:endParaRPr lang="en-US" sz="2800" b="1" dirty="0">
              <a:latin typeface="Arial"/>
              <a:cs typeface="Arial"/>
            </a:endParaRPr>
          </a:p>
          <a:p>
            <a:pPr algn="just">
              <a:buNone/>
            </a:pPr>
            <a:r>
              <a:rPr lang="pt-BR" sz="2800" b="1" cap="all" dirty="0">
                <a:latin typeface="Arial"/>
                <a:ea typeface="Tahoma"/>
                <a:cs typeface="Tahoma"/>
              </a:rPr>
              <a:t>              </a:t>
            </a:r>
            <a:r>
              <a:rPr lang="pt-BR" sz="2800" b="1" dirty="0">
                <a:latin typeface="Arial"/>
                <a:ea typeface="Tahoma"/>
                <a:cs typeface="Tahoma"/>
              </a:rPr>
              <a:t>print</a:t>
            </a:r>
            <a:r>
              <a:rPr lang="pt-BR" sz="2800" b="1" cap="all" dirty="0">
                <a:latin typeface="Arial"/>
                <a:ea typeface="Tahoma"/>
                <a:cs typeface="Tahoma"/>
              </a:rPr>
              <a:t>(PALAVRA * 3)</a:t>
            </a:r>
            <a:endParaRPr lang="pt-BR" sz="2800" b="1" dirty="0">
              <a:latin typeface="Arial"/>
              <a:cs typeface="Arial"/>
            </a:endParaRPr>
          </a:p>
          <a:p>
            <a:pPr algn="just">
              <a:buNone/>
            </a:pPr>
            <a:r>
              <a:rPr lang="pt-BR" sz="2800" b="1" cap="all" dirty="0">
                <a:latin typeface="Arial"/>
                <a:ea typeface="Tahoma"/>
                <a:cs typeface="Tahoma"/>
              </a:rPr>
              <a:t>              </a:t>
            </a:r>
            <a:r>
              <a:rPr lang="pt-BR" sz="2800" b="1" dirty="0">
                <a:latin typeface="Arial"/>
                <a:ea typeface="Tahoma"/>
                <a:cs typeface="Tahoma"/>
              </a:rPr>
              <a:t>print</a:t>
            </a:r>
            <a:r>
              <a:rPr lang="pt-BR" sz="2800" b="1" cap="all" dirty="0">
                <a:latin typeface="Arial"/>
                <a:ea typeface="Tahoma"/>
                <a:cs typeface="Tahoma"/>
              </a:rPr>
              <a:t>(PALAVRA + " Vai" * 3)</a:t>
            </a:r>
            <a:endParaRPr lang="pt-BR" sz="2800" b="1" dirty="0">
              <a:latin typeface="Arial"/>
              <a:cs typeface="Arial"/>
            </a:endParaRPr>
          </a:p>
          <a:p>
            <a:pPr algn="just">
              <a:buNone/>
            </a:pPr>
            <a:r>
              <a:rPr lang="pt-BR" sz="2800" b="1" cap="all" dirty="0">
                <a:latin typeface="Arial"/>
                <a:ea typeface="Tahoma"/>
                <a:cs typeface="Tahoma"/>
              </a:rPr>
              <a:t>              </a:t>
            </a:r>
            <a:r>
              <a:rPr lang="pt-BR" sz="2800" b="1" dirty="0">
                <a:latin typeface="Arial"/>
                <a:ea typeface="Tahoma"/>
                <a:cs typeface="Tahoma"/>
              </a:rPr>
              <a:t>print</a:t>
            </a:r>
            <a:r>
              <a:rPr lang="pt-BR" sz="2800" b="1" cap="all" dirty="0">
                <a:latin typeface="Arial"/>
                <a:ea typeface="Tahoma"/>
                <a:cs typeface="Tahoma"/>
              </a:rPr>
              <a:t>((PALAVRA + "Vai ") * 3)</a:t>
            </a:r>
            <a:endParaRPr lang="en-US" sz="2800" b="1" dirty="0">
              <a:latin typeface="Arial"/>
              <a:cs typeface="Arial"/>
            </a:endParaRPr>
          </a:p>
          <a:p>
            <a:pPr algn="just">
              <a:spcBef>
                <a:spcPct val="0"/>
              </a:spcBef>
              <a:buNone/>
            </a:pPr>
            <a:endParaRPr lang="pt-BR" b="1" cap="all" dirty="0">
              <a:solidFill>
                <a:schemeClr val="tx2">
                  <a:lumMod val="75000"/>
                </a:schemeClr>
              </a:solidFill>
              <a:latin typeface="Book Antiqua"/>
              <a:ea typeface="Tahoma"/>
              <a:cs typeface="Tahoma"/>
            </a:endParaRPr>
          </a:p>
          <a:p>
            <a:pPr algn="just">
              <a:spcBef>
                <a:spcPct val="0"/>
              </a:spcBef>
              <a:buNone/>
            </a:pPr>
            <a:endParaRPr lang="pt-BR" b="1" cap="all" dirty="0">
              <a:solidFill>
                <a:schemeClr val="tx2">
                  <a:lumMod val="75000"/>
                </a:schemeClr>
              </a:solidFill>
              <a:latin typeface="Book Antiqua"/>
              <a:ea typeface="Tahoma"/>
              <a:cs typeface="Tahoma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endParaRPr lang="pt-BR" b="1" cap="all" dirty="0">
              <a:solidFill>
                <a:schemeClr val="tx2">
                  <a:lumMod val="75000"/>
                </a:schemeClr>
              </a:solidFill>
              <a:latin typeface="Book Antiqua"/>
              <a:ea typeface="Tahoma"/>
              <a:cs typeface="Tahoma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pt-BR" b="1" dirty="0">
              <a:solidFill>
                <a:srgbClr val="000000"/>
              </a:solidFill>
              <a:latin typeface="Arial" panose="020B0604020202020204" pitchFamily="34" charset="0"/>
              <a:ea typeface="Tahoma"/>
              <a:cs typeface="Tahoma"/>
            </a:endParaRPr>
          </a:p>
          <a:p>
            <a:pPr algn="just">
              <a:spcBef>
                <a:spcPct val="0"/>
              </a:spcBef>
              <a:spcAft>
                <a:spcPts val="600"/>
              </a:spcAft>
              <a:buNone/>
            </a:pPr>
            <a:endParaRPr lang="pt-BR" b="1" dirty="0">
              <a:solidFill>
                <a:schemeClr val="bg2"/>
              </a:solidFill>
              <a:latin typeface="Arial" panose="020B0604020202020204" pitchFamily="34" charset="0"/>
              <a:ea typeface="Tahoma"/>
              <a:cs typeface="Tahoma"/>
            </a:endParaRPr>
          </a:p>
          <a:p>
            <a:pPr>
              <a:buNone/>
            </a:pPr>
            <a:endParaRPr lang="pt-BR" altLang="pt-BR" b="1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7B9EC90-A916-3FC0-7D6C-464514E13A56}"/>
              </a:ext>
            </a:extLst>
          </p:cNvPr>
          <p:cNvSpPr/>
          <p:nvPr/>
        </p:nvSpPr>
        <p:spPr bwMode="auto">
          <a:xfrm>
            <a:off x="7019925" y="2959892"/>
            <a:ext cx="5057774" cy="3819523"/>
          </a:xfrm>
          <a:prstGeom prst="roundRect">
            <a:avLst/>
          </a:prstGeom>
          <a:solidFill>
            <a:schemeClr val="accent5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r>
              <a:rPr lang="pt-BR" sz="3200" b="1" dirty="0">
                <a:latin typeface="Arial"/>
                <a:ea typeface="+mn-lt"/>
                <a:cs typeface="+mn-lt"/>
              </a:rPr>
              <a:t>Vai </a:t>
            </a:r>
            <a:r>
              <a:rPr lang="pt-BR" sz="3200" b="1" dirty="0" err="1">
                <a:latin typeface="Arial"/>
                <a:ea typeface="+mn-lt"/>
                <a:cs typeface="+mn-lt"/>
              </a:rPr>
              <a:t>Vai</a:t>
            </a:r>
            <a:r>
              <a:rPr lang="pt-BR" sz="3200" b="1" dirty="0">
                <a:latin typeface="Arial"/>
                <a:ea typeface="+mn-lt"/>
                <a:cs typeface="+mn-lt"/>
              </a:rPr>
              <a:t> </a:t>
            </a:r>
            <a:r>
              <a:rPr lang="pt-BR" sz="3200" b="1" dirty="0" err="1">
                <a:latin typeface="Arial"/>
                <a:ea typeface="+mn-lt"/>
                <a:cs typeface="+mn-lt"/>
              </a:rPr>
              <a:t>Vai</a:t>
            </a:r>
            <a:r>
              <a:rPr lang="pt-BR" sz="3200" b="1" dirty="0">
                <a:latin typeface="Arial"/>
                <a:ea typeface="+mn-lt"/>
                <a:cs typeface="+mn-lt"/>
              </a:rPr>
              <a:t> </a:t>
            </a:r>
            <a:r>
              <a:rPr lang="pt-BR" sz="3200" b="1" dirty="0" err="1">
                <a:latin typeface="Arial"/>
                <a:ea typeface="+mn-lt"/>
                <a:cs typeface="+mn-lt"/>
              </a:rPr>
              <a:t>Vai</a:t>
            </a:r>
            <a:endParaRPr lang="pt-BR" sz="3200" b="1" dirty="0">
              <a:latin typeface="Arial"/>
              <a:ea typeface="+mn-lt"/>
              <a:cs typeface="+mn-lt"/>
            </a:endParaRPr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pt-BR" sz="3200" b="1" dirty="0">
              <a:latin typeface="Arial"/>
              <a:ea typeface="+mn-lt"/>
              <a:cs typeface="+mn-lt"/>
            </a:endParaRPr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r>
              <a:rPr lang="pt-BR" sz="3200" b="1" dirty="0">
                <a:latin typeface="Arial"/>
                <a:ea typeface="+mn-lt"/>
                <a:cs typeface="+mn-lt"/>
              </a:rPr>
              <a:t> </a:t>
            </a:r>
            <a:r>
              <a:rPr lang="pt-BR" sz="3200" b="1" dirty="0" err="1">
                <a:latin typeface="Arial"/>
                <a:ea typeface="+mn-lt"/>
                <a:cs typeface="+mn-lt"/>
              </a:rPr>
              <a:t>AeAeAe</a:t>
            </a:r>
            <a:r>
              <a:rPr lang="pt-BR" sz="3200" b="1" dirty="0">
                <a:latin typeface="Arial"/>
                <a:ea typeface="+mn-lt"/>
                <a:cs typeface="+mn-lt"/>
              </a:rPr>
              <a:t> </a:t>
            </a:r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pt-BR" sz="3200" b="1" dirty="0">
              <a:latin typeface="Arial"/>
              <a:ea typeface="+mn-lt"/>
              <a:cs typeface="+mn-lt"/>
            </a:endParaRPr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r>
              <a:rPr lang="pt-BR" sz="3200" b="1" dirty="0" err="1">
                <a:latin typeface="Arial"/>
                <a:ea typeface="+mn-lt"/>
                <a:cs typeface="+mn-lt"/>
              </a:rPr>
              <a:t>Ae</a:t>
            </a:r>
            <a:r>
              <a:rPr lang="pt-BR" sz="3200" b="1" dirty="0">
                <a:latin typeface="Arial"/>
                <a:ea typeface="+mn-lt"/>
                <a:cs typeface="+mn-lt"/>
              </a:rPr>
              <a:t> Vai </a:t>
            </a:r>
            <a:r>
              <a:rPr lang="pt-BR" sz="3200" b="1" dirty="0" err="1">
                <a:latin typeface="Arial"/>
                <a:ea typeface="+mn-lt"/>
                <a:cs typeface="+mn-lt"/>
              </a:rPr>
              <a:t>Vai</a:t>
            </a:r>
            <a:r>
              <a:rPr lang="pt-BR" sz="3200" b="1" dirty="0">
                <a:latin typeface="Arial"/>
                <a:ea typeface="+mn-lt"/>
                <a:cs typeface="+mn-lt"/>
              </a:rPr>
              <a:t> </a:t>
            </a:r>
            <a:r>
              <a:rPr lang="pt-BR" sz="3200" b="1" dirty="0" err="1">
                <a:latin typeface="Arial"/>
                <a:ea typeface="+mn-lt"/>
                <a:cs typeface="+mn-lt"/>
              </a:rPr>
              <a:t>Vai</a:t>
            </a:r>
            <a:r>
              <a:rPr lang="pt-BR" sz="3200" b="1" dirty="0">
                <a:latin typeface="Arial"/>
                <a:ea typeface="+mn-lt"/>
                <a:cs typeface="+mn-lt"/>
              </a:rPr>
              <a:t> </a:t>
            </a:r>
            <a:endParaRPr lang="pt-BR" dirty="0">
              <a:latin typeface="Tahoma"/>
              <a:ea typeface="+mn-lt"/>
              <a:cs typeface="+mn-lt"/>
            </a:endParaRPr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pt-BR" sz="3200" b="1" dirty="0">
              <a:latin typeface="Arial"/>
              <a:ea typeface="+mn-lt"/>
              <a:cs typeface="+mn-lt"/>
            </a:endParaRPr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r>
              <a:rPr lang="pt-BR" sz="3200" b="1" dirty="0" err="1">
                <a:latin typeface="Arial"/>
                <a:ea typeface="+mn-lt"/>
                <a:cs typeface="+mn-lt"/>
              </a:rPr>
              <a:t>AeVai</a:t>
            </a:r>
            <a:r>
              <a:rPr lang="pt-BR" sz="3200" b="1" dirty="0">
                <a:latin typeface="Arial"/>
                <a:ea typeface="+mn-lt"/>
                <a:cs typeface="+mn-lt"/>
              </a:rPr>
              <a:t> </a:t>
            </a:r>
            <a:r>
              <a:rPr lang="pt-BR" sz="3200" b="1" dirty="0" err="1">
                <a:latin typeface="Arial"/>
                <a:ea typeface="+mn-lt"/>
                <a:cs typeface="+mn-lt"/>
              </a:rPr>
              <a:t>AeVai</a:t>
            </a:r>
            <a:r>
              <a:rPr lang="pt-BR" sz="3200" b="1" dirty="0">
                <a:latin typeface="Arial"/>
                <a:ea typeface="+mn-lt"/>
                <a:cs typeface="+mn-lt"/>
              </a:rPr>
              <a:t> </a:t>
            </a:r>
            <a:r>
              <a:rPr lang="pt-BR" sz="3200" b="1" dirty="0" err="1">
                <a:latin typeface="Arial"/>
                <a:ea typeface="+mn-lt"/>
                <a:cs typeface="+mn-lt"/>
              </a:rPr>
              <a:t>AeVai</a:t>
            </a:r>
            <a:r>
              <a:rPr lang="pt-BR" sz="3200" b="1" dirty="0">
                <a:latin typeface="Arial"/>
                <a:ea typeface="+mn-lt"/>
                <a:cs typeface="+mn-lt"/>
              </a:rPr>
              <a:t> </a:t>
            </a:r>
            <a:endParaRPr lang="pt-BR" sz="3200" b="1" dirty="0">
              <a:latin typeface="Arial"/>
              <a:ea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0598554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ço Reservado para Número de Slide 1">
            <a:extLst>
              <a:ext uri="{FF2B5EF4-FFF2-40B4-BE49-F238E27FC236}">
                <a16:creationId xmlns:a16="http://schemas.microsoft.com/office/drawing/2014/main" id="{846FC07F-CBC4-0358-81FD-5B9C93232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5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2D7088D8-A4D7-4903-8B13-19ACD6824B27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pt-BR" altLang="pt-BR" sz="1400"/>
          </a:p>
        </p:txBody>
      </p:sp>
      <p:sp>
        <p:nvSpPr>
          <p:cNvPr id="7171" name="Text Box 2">
            <a:extLst>
              <a:ext uri="{FF2B5EF4-FFF2-40B4-BE49-F238E27FC236}">
                <a16:creationId xmlns:a16="http://schemas.microsoft.com/office/drawing/2014/main" id="{B6C17CBE-4E41-4E16-74F0-856972B47F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7488" y="141288"/>
            <a:ext cx="9144001" cy="1415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 dirty="0">
                <a:latin typeface="Arial"/>
                <a:cs typeface="Arial"/>
              </a:rPr>
              <a:t>LINGUAGEM DE PROG. PYTHON</a:t>
            </a:r>
          </a:p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pt-BR" altLang="pt-BR" sz="4200" b="1" dirty="0" err="1">
                <a:latin typeface="Arial"/>
                <a:cs typeface="Arial"/>
              </a:rPr>
              <a:t>Strings</a:t>
            </a:r>
            <a:r>
              <a:rPr lang="pt-BR" altLang="pt-BR" sz="4200" b="1" dirty="0">
                <a:latin typeface="Arial"/>
                <a:cs typeface="Arial"/>
              </a:rPr>
              <a:t> – Tamanho da </a:t>
            </a:r>
            <a:r>
              <a:rPr lang="pt-BR" altLang="pt-BR" sz="4200" b="1" dirty="0" err="1">
                <a:latin typeface="Arial"/>
                <a:cs typeface="Arial"/>
              </a:rPr>
              <a:t>string</a:t>
            </a:r>
            <a:endParaRPr lang="pt-BR" altLang="pt-BR" sz="4200" b="1" dirty="0" err="1">
              <a:latin typeface="Arial" panose="020B0604020202020204" pitchFamily="34" charset="0"/>
              <a:cs typeface="Arial"/>
            </a:endParaRP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827178E-6D40-D08D-39C1-7011F46AC6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946" y="2238376"/>
            <a:ext cx="11498260" cy="4622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>
              <a:buNone/>
            </a:pPr>
            <a:r>
              <a:rPr lang="pt-BR" sz="2800" b="1" dirty="0">
                <a:latin typeface="Arial"/>
                <a:ea typeface="Tahoma"/>
                <a:cs typeface="Tahoma"/>
              </a:rPr>
              <a:t>A função len() pode ser utilizada para retornar a quantidade de caracteres utilizados numa determinada estrutura.</a:t>
            </a:r>
            <a:endParaRPr lang="pt-BR" sz="2800" dirty="0">
              <a:latin typeface="Arial"/>
              <a:ea typeface="Tahoma"/>
              <a:cs typeface="Tahoma"/>
            </a:endParaRPr>
          </a:p>
          <a:p>
            <a:pPr algn="just">
              <a:buNone/>
            </a:pPr>
            <a:endParaRPr lang="pt-BR" sz="2800" b="1" dirty="0">
              <a:latin typeface="Arial"/>
              <a:ea typeface="Tahoma"/>
              <a:cs typeface="Tahoma"/>
            </a:endParaRPr>
          </a:p>
          <a:p>
            <a:pPr algn="just">
              <a:buNone/>
            </a:pPr>
            <a:r>
              <a:rPr lang="pt-BR" sz="2800" b="1" dirty="0">
                <a:solidFill>
                  <a:srgbClr val="000000"/>
                </a:solidFill>
                <a:latin typeface="Arial"/>
                <a:ea typeface="Tahoma"/>
                <a:cs typeface="Tahoma"/>
              </a:rPr>
              <a:t>Exemplo:</a:t>
            </a:r>
          </a:p>
          <a:p>
            <a:pPr algn="just">
              <a:buNone/>
            </a:pPr>
            <a:endParaRPr lang="pt-BR" sz="2800" b="1" dirty="0">
              <a:solidFill>
                <a:srgbClr val="000000"/>
              </a:solidFill>
              <a:latin typeface="Arial"/>
              <a:ea typeface="Tahoma"/>
              <a:cs typeface="Tahoma"/>
            </a:endParaRPr>
          </a:p>
          <a:p>
            <a:pPr algn="just">
              <a:buNone/>
            </a:pPr>
            <a:r>
              <a:rPr lang="pt-BR" sz="2800" b="1" dirty="0">
                <a:latin typeface="Arial"/>
                <a:ea typeface="Tahoma"/>
                <a:cs typeface="Tahoma"/>
              </a:rPr>
              <a:t>PALAVRAS = "Lista de Caracteres"</a:t>
            </a:r>
            <a:endParaRPr lang="pt-BR" sz="2800" b="1">
              <a:latin typeface="Arial"/>
              <a:cs typeface="Arial"/>
            </a:endParaRPr>
          </a:p>
          <a:p>
            <a:pPr algn="just">
              <a:buNone/>
            </a:pPr>
            <a:r>
              <a:rPr lang="pt-BR" sz="2800" b="1" dirty="0">
                <a:latin typeface="Arial"/>
                <a:ea typeface="Tahoma"/>
                <a:cs typeface="Tahoma"/>
              </a:rPr>
              <a:t>print(</a:t>
            </a:r>
            <a:r>
              <a:rPr lang="pt-BR" sz="2800" b="1" dirty="0" err="1">
                <a:latin typeface="Arial"/>
                <a:ea typeface="Tahoma"/>
                <a:cs typeface="Tahoma"/>
              </a:rPr>
              <a:t>len</a:t>
            </a:r>
            <a:r>
              <a:rPr lang="pt-BR" sz="2800" b="1" dirty="0">
                <a:latin typeface="Arial"/>
                <a:ea typeface="Tahoma"/>
                <a:cs typeface="Tahoma"/>
              </a:rPr>
              <a:t>(PALAVRAS))</a:t>
            </a:r>
            <a:endParaRPr lang="pt-BR" sz="2800" b="1">
              <a:latin typeface="Arial"/>
              <a:cs typeface="Arial"/>
            </a:endParaRPr>
          </a:p>
          <a:p>
            <a:pPr algn="just"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pPr algn="just">
              <a:buNone/>
            </a:pPr>
            <a:endParaRPr lang="pt-BR" sz="2800" b="1" dirty="0">
              <a:solidFill>
                <a:srgbClr val="000000"/>
              </a:solidFill>
              <a:latin typeface="Arial"/>
              <a:ea typeface="Tahoma"/>
              <a:cs typeface="Tahoma"/>
            </a:endParaRPr>
          </a:p>
          <a:p>
            <a:pPr>
              <a:buNone/>
            </a:pPr>
            <a:endParaRPr lang="pt-BR" b="1" dirty="0">
              <a:solidFill>
                <a:srgbClr val="000000"/>
              </a:solidFill>
              <a:latin typeface="Arial"/>
              <a:ea typeface="Tahoma"/>
              <a:cs typeface="Tahoma"/>
            </a:endParaRPr>
          </a:p>
          <a:p>
            <a:pPr algn="just">
              <a:spcBef>
                <a:spcPct val="0"/>
              </a:spcBef>
              <a:buFont typeface="Wingdings" panose="05000000000000000000" pitchFamily="2" charset="2"/>
              <a:buNone/>
            </a:pPr>
            <a:endParaRPr lang="pt-BR" b="1" cap="all" dirty="0">
              <a:solidFill>
                <a:srgbClr val="262673"/>
              </a:solidFill>
              <a:latin typeface="Book Antiqua"/>
              <a:ea typeface="Tahoma"/>
              <a:cs typeface="Tahoma"/>
            </a:endParaRPr>
          </a:p>
          <a:p>
            <a:pPr algn="just">
              <a:spcBef>
                <a:spcPct val="0"/>
              </a:spcBef>
              <a:buNone/>
            </a:pPr>
            <a:endParaRPr lang="pt-BR" b="1" cap="all" dirty="0">
              <a:solidFill>
                <a:srgbClr val="262673"/>
              </a:solidFill>
              <a:latin typeface="Book Antiqua"/>
              <a:ea typeface="Tahoma"/>
              <a:cs typeface="Tahoma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endParaRPr lang="pt-BR" b="1" cap="all" dirty="0">
              <a:solidFill>
                <a:srgbClr val="262673"/>
              </a:solidFill>
              <a:latin typeface="Book Antiqua"/>
              <a:ea typeface="Tahoma"/>
              <a:cs typeface="Tahoma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endParaRPr lang="pt-BR" b="1" dirty="0">
              <a:solidFill>
                <a:srgbClr val="000000"/>
              </a:solidFill>
              <a:latin typeface="Arial" panose="020B0604020202020204" pitchFamily="34" charset="0"/>
              <a:ea typeface="Tahoma"/>
              <a:cs typeface="Tahoma"/>
            </a:endParaRPr>
          </a:p>
          <a:p>
            <a:pPr algn="just">
              <a:spcBef>
                <a:spcPct val="0"/>
              </a:spcBef>
              <a:spcAft>
                <a:spcPts val="600"/>
              </a:spcAft>
              <a:buNone/>
            </a:pPr>
            <a:endParaRPr lang="pt-BR" b="1" dirty="0">
              <a:solidFill>
                <a:schemeClr val="bg2"/>
              </a:solidFill>
              <a:latin typeface="Arial" panose="020B0604020202020204" pitchFamily="34" charset="0"/>
              <a:ea typeface="Tahoma"/>
              <a:cs typeface="Tahoma"/>
            </a:endParaRPr>
          </a:p>
          <a:p>
            <a:pPr>
              <a:buNone/>
            </a:pPr>
            <a:endParaRPr lang="pt-BR" altLang="pt-BR" b="1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7B9EC90-A916-3FC0-7D6C-464514E13A56}"/>
              </a:ext>
            </a:extLst>
          </p:cNvPr>
          <p:cNvSpPr/>
          <p:nvPr/>
        </p:nvSpPr>
        <p:spPr bwMode="auto">
          <a:xfrm>
            <a:off x="8508206" y="4174329"/>
            <a:ext cx="3057525" cy="1926429"/>
          </a:xfrm>
          <a:prstGeom prst="roundRect">
            <a:avLst/>
          </a:prstGeom>
          <a:solidFill>
            <a:schemeClr val="accent5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pt-BR" sz="3200" b="1" dirty="0">
              <a:latin typeface="Arial"/>
              <a:ea typeface="Tahoma"/>
              <a:cs typeface="Tahoma"/>
            </a:endParaRPr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r>
              <a:rPr lang="pt-BR" sz="3200" b="1" dirty="0">
                <a:latin typeface="Arial"/>
                <a:ea typeface="Tahoma"/>
                <a:cs typeface="Tahoma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7499964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ço Reservado para Número de Slide 1">
            <a:extLst>
              <a:ext uri="{FF2B5EF4-FFF2-40B4-BE49-F238E27FC236}">
                <a16:creationId xmlns:a16="http://schemas.microsoft.com/office/drawing/2014/main" id="{846FC07F-CBC4-0358-81FD-5B9C93232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5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2D7088D8-A4D7-4903-8B13-19ACD6824B27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pt-BR" altLang="pt-BR" sz="1400"/>
          </a:p>
        </p:txBody>
      </p:sp>
      <p:sp>
        <p:nvSpPr>
          <p:cNvPr id="7171" name="Text Box 2">
            <a:extLst>
              <a:ext uri="{FF2B5EF4-FFF2-40B4-BE49-F238E27FC236}">
                <a16:creationId xmlns:a16="http://schemas.microsoft.com/office/drawing/2014/main" id="{B6C17CBE-4E41-4E16-74F0-856972B47F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7488" y="141288"/>
            <a:ext cx="9144001" cy="1415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 dirty="0">
                <a:latin typeface="Arial"/>
                <a:cs typeface="Arial"/>
              </a:rPr>
              <a:t>LINGUAGEM DE PROG. PYTHON</a:t>
            </a:r>
          </a:p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pt-BR" altLang="pt-BR" sz="4200" b="1" dirty="0" err="1">
                <a:latin typeface="Arial"/>
                <a:cs typeface="Arial"/>
              </a:rPr>
              <a:t>Strings</a:t>
            </a:r>
            <a:r>
              <a:rPr lang="pt-BR" altLang="pt-BR" sz="4200" b="1" dirty="0">
                <a:latin typeface="Arial"/>
                <a:cs typeface="Arial"/>
              </a:rPr>
              <a:t> – Efeitos da </a:t>
            </a:r>
            <a:r>
              <a:rPr lang="pt-BR" altLang="pt-BR" sz="4200" b="1" dirty="0" err="1">
                <a:latin typeface="Arial"/>
                <a:cs typeface="Arial"/>
              </a:rPr>
              <a:t>string</a:t>
            </a:r>
            <a:endParaRPr lang="pt-BR" altLang="pt-BR" sz="4200" b="1" dirty="0" err="1">
              <a:latin typeface="Arial" panose="020B0604020202020204" pitchFamily="34" charset="0"/>
              <a:cs typeface="Arial"/>
            </a:endParaRP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827178E-6D40-D08D-39C1-7011F46AC6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946" y="2238376"/>
            <a:ext cx="11498260" cy="4622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>
              <a:buNone/>
            </a:pPr>
            <a:r>
              <a:rPr lang="pt-BR" sz="2800" b="1" dirty="0">
                <a:latin typeface="Arial"/>
                <a:ea typeface="Tahoma"/>
                <a:cs typeface="Tahoma"/>
              </a:rPr>
              <a:t>NOME = "Universidade Paulista"</a:t>
            </a:r>
            <a:endParaRPr lang="pt-BR" sz="2800" b="1">
              <a:latin typeface="Arial"/>
              <a:cs typeface="Arial"/>
            </a:endParaRPr>
          </a:p>
          <a:p>
            <a:pPr algn="just">
              <a:buNone/>
            </a:pPr>
            <a:r>
              <a:rPr lang="pt-BR" sz="2800" b="1" dirty="0">
                <a:latin typeface="Arial"/>
                <a:ea typeface="Tahoma"/>
                <a:cs typeface="Tahoma"/>
              </a:rPr>
              <a:t>MAIUSCULA = </a:t>
            </a:r>
            <a:r>
              <a:rPr lang="pt-BR" sz="2800" b="1" dirty="0" err="1">
                <a:latin typeface="Arial"/>
                <a:ea typeface="Tahoma"/>
                <a:cs typeface="Tahoma"/>
              </a:rPr>
              <a:t>NOME.upper</a:t>
            </a:r>
            <a:r>
              <a:rPr lang="pt-BR" sz="2800" b="1" dirty="0">
                <a:latin typeface="Arial"/>
                <a:ea typeface="Tahoma"/>
                <a:cs typeface="Tahoma"/>
              </a:rPr>
              <a:t>()</a:t>
            </a:r>
            <a:endParaRPr lang="pt-BR" sz="2800" b="1">
              <a:latin typeface="Arial"/>
              <a:cs typeface="Arial"/>
            </a:endParaRPr>
          </a:p>
          <a:p>
            <a:pPr algn="just">
              <a:buNone/>
            </a:pPr>
            <a:r>
              <a:rPr lang="pt-BR" sz="2800" b="1" dirty="0">
                <a:latin typeface="Arial"/>
                <a:ea typeface="Tahoma"/>
                <a:cs typeface="Tahoma"/>
              </a:rPr>
              <a:t>MINUSCULA = </a:t>
            </a:r>
            <a:r>
              <a:rPr lang="pt-BR" sz="2800" b="1" dirty="0" err="1">
                <a:latin typeface="Arial"/>
                <a:ea typeface="Tahoma"/>
                <a:cs typeface="Tahoma"/>
              </a:rPr>
              <a:t>NOME.lower</a:t>
            </a:r>
            <a:r>
              <a:rPr lang="pt-BR" sz="2800" b="1" dirty="0">
                <a:latin typeface="Arial"/>
                <a:ea typeface="Tahoma"/>
                <a:cs typeface="Tahoma"/>
              </a:rPr>
              <a:t>()</a:t>
            </a:r>
            <a:endParaRPr lang="pt-BR" sz="2800" b="1">
              <a:latin typeface="Arial"/>
              <a:cs typeface="Arial"/>
            </a:endParaRPr>
          </a:p>
          <a:p>
            <a:pPr algn="just">
              <a:buNone/>
            </a:pPr>
            <a:r>
              <a:rPr lang="pt-BR" sz="2800" b="1" dirty="0">
                <a:latin typeface="Arial"/>
                <a:ea typeface="Tahoma"/>
                <a:cs typeface="Tahoma"/>
              </a:rPr>
              <a:t>PRILETRA = </a:t>
            </a:r>
            <a:r>
              <a:rPr lang="pt-BR" sz="2800" b="1" dirty="0" err="1">
                <a:latin typeface="Arial"/>
                <a:ea typeface="Tahoma"/>
                <a:cs typeface="Tahoma"/>
              </a:rPr>
              <a:t>NOME.capitalize</a:t>
            </a:r>
            <a:r>
              <a:rPr lang="pt-BR" sz="2800" b="1" dirty="0">
                <a:latin typeface="Arial"/>
                <a:ea typeface="Tahoma"/>
                <a:cs typeface="Tahoma"/>
              </a:rPr>
              <a:t>()</a:t>
            </a:r>
            <a:endParaRPr lang="pt-BR" sz="2800" b="1" dirty="0">
              <a:latin typeface="Arial"/>
              <a:cs typeface="Arial"/>
            </a:endParaRPr>
          </a:p>
          <a:p>
            <a:pPr algn="just">
              <a:buNone/>
            </a:pPr>
            <a:r>
              <a:rPr lang="pt-BR" sz="2800" b="1" dirty="0">
                <a:latin typeface="Arial"/>
                <a:ea typeface="Tahoma"/>
                <a:cs typeface="Tahoma"/>
              </a:rPr>
              <a:t>print(MAIUSCULA)</a:t>
            </a:r>
            <a:endParaRPr lang="pt-BR" sz="2800" b="1">
              <a:latin typeface="Arial"/>
              <a:cs typeface="Arial"/>
            </a:endParaRPr>
          </a:p>
          <a:p>
            <a:pPr algn="just">
              <a:buNone/>
            </a:pPr>
            <a:r>
              <a:rPr lang="pt-BR" sz="2800" b="1" dirty="0">
                <a:latin typeface="Arial"/>
                <a:ea typeface="Tahoma"/>
                <a:cs typeface="Tahoma"/>
              </a:rPr>
              <a:t>print(MINUSCULA)</a:t>
            </a:r>
            <a:endParaRPr lang="pt-BR" sz="2800" b="1">
              <a:latin typeface="Arial"/>
              <a:cs typeface="Arial"/>
            </a:endParaRPr>
          </a:p>
          <a:p>
            <a:pPr algn="just">
              <a:buNone/>
            </a:pPr>
            <a:r>
              <a:rPr lang="pt-BR" sz="2800" b="1" dirty="0">
                <a:latin typeface="Arial"/>
                <a:ea typeface="Tahoma"/>
                <a:cs typeface="Tahoma"/>
              </a:rPr>
              <a:t>print(PRIETRA)</a:t>
            </a:r>
            <a:endParaRPr lang="pt-BR" sz="2800" b="1" dirty="0">
              <a:latin typeface="Arial"/>
              <a:cs typeface="Arial"/>
            </a:endParaRPr>
          </a:p>
          <a:p>
            <a:pPr algn="just">
              <a:buNone/>
            </a:pPr>
            <a:endParaRPr lang="pt-BR" sz="2800" b="1" dirty="0">
              <a:latin typeface="Arial"/>
              <a:ea typeface="Tahoma"/>
              <a:cs typeface="Tahoma"/>
            </a:endParaRPr>
          </a:p>
          <a:p>
            <a:pPr algn="just">
              <a:buNone/>
            </a:pPr>
            <a:endParaRPr lang="pt-BR" sz="2800" b="1" dirty="0">
              <a:solidFill>
                <a:srgbClr val="000000"/>
              </a:solidFill>
              <a:latin typeface="Arial"/>
              <a:ea typeface="Tahoma"/>
              <a:cs typeface="Tahoma"/>
            </a:endParaRPr>
          </a:p>
          <a:p>
            <a:pPr>
              <a:buNone/>
            </a:pPr>
            <a:endParaRPr lang="pt-BR" b="1" dirty="0">
              <a:solidFill>
                <a:srgbClr val="000000"/>
              </a:solidFill>
              <a:latin typeface="Arial"/>
              <a:ea typeface="Tahoma"/>
              <a:cs typeface="Tahoma"/>
            </a:endParaRPr>
          </a:p>
          <a:p>
            <a:pPr algn="just">
              <a:spcBef>
                <a:spcPct val="0"/>
              </a:spcBef>
              <a:buFont typeface="Wingdings" panose="05000000000000000000" pitchFamily="2" charset="2"/>
              <a:buNone/>
            </a:pPr>
            <a:endParaRPr lang="pt-BR" b="1" cap="all" dirty="0">
              <a:solidFill>
                <a:srgbClr val="262673"/>
              </a:solidFill>
              <a:latin typeface="Book Antiqua"/>
              <a:ea typeface="Tahoma"/>
              <a:cs typeface="Tahoma"/>
            </a:endParaRPr>
          </a:p>
          <a:p>
            <a:pPr algn="just">
              <a:spcBef>
                <a:spcPct val="0"/>
              </a:spcBef>
              <a:buNone/>
            </a:pPr>
            <a:endParaRPr lang="pt-BR" b="1" cap="all" dirty="0">
              <a:solidFill>
                <a:srgbClr val="262673"/>
              </a:solidFill>
              <a:latin typeface="Book Antiqua"/>
              <a:ea typeface="Tahoma"/>
              <a:cs typeface="Tahoma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endParaRPr lang="pt-BR" b="1" cap="all" dirty="0">
              <a:solidFill>
                <a:srgbClr val="262673"/>
              </a:solidFill>
              <a:latin typeface="Book Antiqua"/>
              <a:ea typeface="Tahoma"/>
              <a:cs typeface="Tahoma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endParaRPr lang="pt-BR" b="1" dirty="0">
              <a:solidFill>
                <a:srgbClr val="000000"/>
              </a:solidFill>
              <a:latin typeface="Arial" panose="020B0604020202020204" pitchFamily="34" charset="0"/>
              <a:ea typeface="Tahoma"/>
              <a:cs typeface="Tahoma"/>
            </a:endParaRPr>
          </a:p>
          <a:p>
            <a:pPr algn="just">
              <a:spcBef>
                <a:spcPct val="0"/>
              </a:spcBef>
              <a:spcAft>
                <a:spcPts val="600"/>
              </a:spcAft>
              <a:buNone/>
            </a:pPr>
            <a:endParaRPr lang="pt-BR" b="1" dirty="0">
              <a:solidFill>
                <a:schemeClr val="bg2"/>
              </a:solidFill>
              <a:latin typeface="Arial" panose="020B0604020202020204" pitchFamily="34" charset="0"/>
              <a:ea typeface="Tahoma"/>
              <a:cs typeface="Tahoma"/>
            </a:endParaRPr>
          </a:p>
          <a:p>
            <a:pPr>
              <a:buNone/>
            </a:pPr>
            <a:endParaRPr lang="pt-BR" altLang="pt-BR" b="1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7B9EC90-A916-3FC0-7D6C-464514E13A56}"/>
              </a:ext>
            </a:extLst>
          </p:cNvPr>
          <p:cNvSpPr/>
          <p:nvPr/>
        </p:nvSpPr>
        <p:spPr bwMode="auto">
          <a:xfrm>
            <a:off x="6222209" y="2721767"/>
            <a:ext cx="5879303" cy="3759991"/>
          </a:xfrm>
          <a:prstGeom prst="roundRect">
            <a:avLst/>
          </a:prstGeom>
          <a:solidFill>
            <a:schemeClr val="accent5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pt-BR" sz="3200" b="1" dirty="0">
              <a:latin typeface="Arial"/>
              <a:ea typeface="Tahoma"/>
              <a:cs typeface="Tahoma"/>
            </a:endParaRPr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r>
              <a:rPr lang="pt-BR" sz="3200" b="1" dirty="0">
                <a:latin typeface="Arial"/>
                <a:ea typeface="+mn-lt"/>
                <a:cs typeface="+mn-lt"/>
              </a:rPr>
              <a:t>UNIVERSIDADE PAULISTA </a:t>
            </a:r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pt-BR" sz="3200" b="1" dirty="0">
              <a:latin typeface="Arial"/>
              <a:ea typeface="+mn-lt"/>
              <a:cs typeface="+mn-lt"/>
            </a:endParaRPr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r>
              <a:rPr lang="pt-BR" sz="3200" b="1" dirty="0">
                <a:latin typeface="Arial"/>
                <a:ea typeface="+mn-lt"/>
                <a:cs typeface="+mn-lt"/>
              </a:rPr>
              <a:t>universidade paulista </a:t>
            </a:r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pt-BR" sz="3200" b="1" dirty="0">
              <a:latin typeface="Arial"/>
              <a:ea typeface="+mn-lt"/>
              <a:cs typeface="+mn-lt"/>
            </a:endParaRPr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r>
              <a:rPr lang="pt-BR" sz="3200" b="1" dirty="0">
                <a:latin typeface="Arial"/>
                <a:ea typeface="+mn-lt"/>
                <a:cs typeface="+mn-lt"/>
              </a:rPr>
              <a:t>Universidade paulista</a:t>
            </a:r>
            <a:endParaRPr lang="pt-BR" sz="3200" b="1" dirty="0">
              <a:latin typeface="Arial"/>
              <a:ea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8568470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ço Reservado para Número de Slide 1">
            <a:extLst>
              <a:ext uri="{FF2B5EF4-FFF2-40B4-BE49-F238E27FC236}">
                <a16:creationId xmlns:a16="http://schemas.microsoft.com/office/drawing/2014/main" id="{846FC07F-CBC4-0358-81FD-5B9C93232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5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2D7088D8-A4D7-4903-8B13-19ACD6824B27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pt-BR" altLang="pt-BR" sz="1400"/>
          </a:p>
        </p:txBody>
      </p:sp>
      <p:sp>
        <p:nvSpPr>
          <p:cNvPr id="7171" name="Text Box 2">
            <a:extLst>
              <a:ext uri="{FF2B5EF4-FFF2-40B4-BE49-F238E27FC236}">
                <a16:creationId xmlns:a16="http://schemas.microsoft.com/office/drawing/2014/main" id="{B6C17CBE-4E41-4E16-74F0-856972B47F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7488" y="141288"/>
            <a:ext cx="9144001" cy="1415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 dirty="0">
                <a:latin typeface="Arial"/>
                <a:cs typeface="Arial"/>
              </a:rPr>
              <a:t>LINGUAGEM DE PROG. PYTHON</a:t>
            </a:r>
          </a:p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pt-BR" altLang="pt-BR" sz="4200" b="1" dirty="0" err="1">
                <a:latin typeface="Arial"/>
                <a:cs typeface="Arial"/>
              </a:rPr>
              <a:t>Strings</a:t>
            </a:r>
            <a:r>
              <a:rPr lang="pt-BR" altLang="pt-BR" sz="4200" b="1" dirty="0">
                <a:latin typeface="Arial"/>
                <a:cs typeface="Arial"/>
              </a:rPr>
              <a:t> – Comparação</a:t>
            </a:r>
            <a:endParaRPr lang="pt-BR" altLang="pt-BR" sz="4200" b="1" dirty="0">
              <a:latin typeface="Arial" panose="020B0604020202020204" pitchFamily="34" charset="0"/>
              <a:cs typeface="Arial"/>
            </a:endParaRP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827178E-6D40-D08D-39C1-7011F46AC6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946" y="2238376"/>
            <a:ext cx="11498260" cy="4622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None/>
            </a:pPr>
            <a:r>
              <a:rPr lang="pt-BR" sz="2800" b="1" dirty="0">
                <a:latin typeface="Arial"/>
                <a:ea typeface="Tahoma"/>
                <a:cs typeface="Tahoma"/>
              </a:rPr>
              <a:t>Os operadores de comparação também funcionam com strings. Para ver se dois strings são iguais, basta escrever uma expressão booleana usando o operador de igualdade.</a:t>
            </a:r>
          </a:p>
          <a:p>
            <a:pPr>
              <a:buNone/>
            </a:pPr>
            <a:r>
              <a:rPr lang="pt-BR" sz="2800" b="1" dirty="0">
                <a:latin typeface="Arial"/>
                <a:ea typeface="Tahoma"/>
                <a:cs typeface="Tahoma"/>
              </a:rPr>
              <a:t>Exemplo:</a:t>
            </a:r>
          </a:p>
          <a:p>
            <a:pPr algn="just">
              <a:buNone/>
            </a:pPr>
            <a:r>
              <a:rPr lang="pt-BR" sz="2800" b="1" dirty="0">
                <a:latin typeface="Arial"/>
                <a:ea typeface="Tahoma"/>
                <a:cs typeface="Tahoma"/>
              </a:rPr>
              <a:t>               PALAVRA = input("Digite o nome de uma fruta amarela: ")</a:t>
            </a:r>
            <a:endParaRPr lang="pt-BR" sz="2800" b="1" dirty="0">
              <a:latin typeface="Arial"/>
              <a:cs typeface="Arial"/>
            </a:endParaRPr>
          </a:p>
          <a:p>
            <a:pPr algn="just">
              <a:buNone/>
            </a:pPr>
            <a:r>
              <a:rPr lang="pt-BR" sz="2800" b="1" dirty="0">
                <a:latin typeface="Arial"/>
                <a:ea typeface="Tahoma"/>
                <a:cs typeface="Tahoma"/>
              </a:rPr>
              <a:t>               </a:t>
            </a:r>
            <a:r>
              <a:rPr lang="pt-BR" sz="2800" b="1" dirty="0" err="1">
                <a:latin typeface="Arial"/>
                <a:ea typeface="Tahoma"/>
                <a:cs typeface="Tahoma"/>
              </a:rPr>
              <a:t>if</a:t>
            </a:r>
            <a:r>
              <a:rPr lang="pt-BR" sz="2800" b="1" dirty="0">
                <a:latin typeface="Arial"/>
                <a:ea typeface="Tahoma"/>
                <a:cs typeface="Tahoma"/>
              </a:rPr>
              <a:t> PALAVRA == "BANANA":</a:t>
            </a:r>
            <a:endParaRPr lang="pt-BR" sz="2800" b="1" dirty="0">
              <a:latin typeface="Arial"/>
              <a:cs typeface="Arial"/>
            </a:endParaRPr>
          </a:p>
          <a:p>
            <a:pPr algn="just">
              <a:buNone/>
            </a:pPr>
            <a:r>
              <a:rPr lang="pt-BR" sz="2800" b="1" dirty="0">
                <a:latin typeface="Arial"/>
                <a:ea typeface="Tahoma"/>
                <a:cs typeface="Tahoma"/>
              </a:rPr>
              <a:t>                   print("Yes, Nós temos bananas!")</a:t>
            </a:r>
            <a:endParaRPr lang="pt-BR" sz="2800" b="1" dirty="0">
              <a:latin typeface="Arial"/>
              <a:cs typeface="Arial"/>
            </a:endParaRPr>
          </a:p>
          <a:p>
            <a:pPr algn="just">
              <a:buNone/>
            </a:pPr>
            <a:r>
              <a:rPr lang="pt-BR" sz="2800" b="1" dirty="0">
                <a:latin typeface="Arial"/>
                <a:ea typeface="Tahoma"/>
                <a:cs typeface="Tahoma"/>
              </a:rPr>
              <a:t>               </a:t>
            </a:r>
            <a:r>
              <a:rPr lang="pt-BR" sz="2800" b="1" dirty="0" err="1">
                <a:latin typeface="Arial"/>
                <a:ea typeface="Tahoma"/>
                <a:cs typeface="Tahoma"/>
              </a:rPr>
              <a:t>else</a:t>
            </a:r>
            <a:r>
              <a:rPr lang="pt-BR" sz="2800" b="1" dirty="0">
                <a:latin typeface="Arial"/>
                <a:ea typeface="Tahoma"/>
                <a:cs typeface="Tahoma"/>
              </a:rPr>
              <a:t>:</a:t>
            </a:r>
            <a:endParaRPr lang="pt-BR" sz="2800" b="1">
              <a:latin typeface="Arial"/>
              <a:cs typeface="Arial"/>
            </a:endParaRPr>
          </a:p>
          <a:p>
            <a:pPr algn="just">
              <a:buNone/>
            </a:pPr>
            <a:r>
              <a:rPr lang="pt-BR" sz="2800" b="1" dirty="0">
                <a:latin typeface="Arial"/>
                <a:ea typeface="Tahoma"/>
                <a:cs typeface="Tahoma"/>
              </a:rPr>
              <a:t>                   print("Desculpe mas não temos bananas!")</a:t>
            </a:r>
            <a:endParaRPr lang="pt-BR" sz="2800" b="1" dirty="0">
              <a:latin typeface="Arial"/>
              <a:cs typeface="Arial"/>
            </a:endParaRPr>
          </a:p>
          <a:p>
            <a:pPr algn="just">
              <a:buNone/>
            </a:pPr>
            <a:endParaRPr lang="pt-BR" sz="2800" b="1" dirty="0">
              <a:solidFill>
                <a:srgbClr val="000000"/>
              </a:solidFill>
              <a:latin typeface="Arial"/>
              <a:ea typeface="Tahoma"/>
              <a:cs typeface="Tahoma"/>
            </a:endParaRPr>
          </a:p>
          <a:p>
            <a:pPr>
              <a:buNone/>
            </a:pPr>
            <a:endParaRPr lang="pt-BR" b="1" dirty="0">
              <a:solidFill>
                <a:srgbClr val="000000"/>
              </a:solidFill>
              <a:latin typeface="Arial"/>
              <a:ea typeface="Tahoma"/>
              <a:cs typeface="Tahoma"/>
            </a:endParaRPr>
          </a:p>
          <a:p>
            <a:pPr algn="just">
              <a:spcBef>
                <a:spcPct val="0"/>
              </a:spcBef>
              <a:buFont typeface="Wingdings" panose="05000000000000000000" pitchFamily="2" charset="2"/>
              <a:buNone/>
            </a:pPr>
            <a:endParaRPr lang="pt-BR" b="1" cap="all" dirty="0">
              <a:solidFill>
                <a:srgbClr val="262673"/>
              </a:solidFill>
              <a:latin typeface="Book Antiqua"/>
              <a:ea typeface="Tahoma"/>
              <a:cs typeface="Tahoma"/>
            </a:endParaRPr>
          </a:p>
          <a:p>
            <a:pPr algn="just">
              <a:spcBef>
                <a:spcPct val="0"/>
              </a:spcBef>
              <a:buNone/>
            </a:pPr>
            <a:endParaRPr lang="pt-BR" b="1" cap="all" dirty="0">
              <a:solidFill>
                <a:srgbClr val="262673"/>
              </a:solidFill>
              <a:latin typeface="Book Antiqua"/>
              <a:ea typeface="Tahoma"/>
              <a:cs typeface="Tahoma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endParaRPr lang="pt-BR" b="1" cap="all" dirty="0">
              <a:solidFill>
                <a:srgbClr val="262673"/>
              </a:solidFill>
              <a:latin typeface="Book Antiqua"/>
              <a:ea typeface="Tahoma"/>
              <a:cs typeface="Tahoma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endParaRPr lang="pt-BR" b="1" dirty="0">
              <a:solidFill>
                <a:srgbClr val="000000"/>
              </a:solidFill>
              <a:latin typeface="Arial" panose="020B0604020202020204" pitchFamily="34" charset="0"/>
              <a:ea typeface="Tahoma"/>
              <a:cs typeface="Tahoma"/>
            </a:endParaRPr>
          </a:p>
          <a:p>
            <a:pPr algn="just">
              <a:spcBef>
                <a:spcPct val="0"/>
              </a:spcBef>
              <a:spcAft>
                <a:spcPts val="600"/>
              </a:spcAft>
              <a:buNone/>
            </a:pPr>
            <a:endParaRPr lang="pt-BR" b="1" dirty="0">
              <a:solidFill>
                <a:schemeClr val="bg2"/>
              </a:solidFill>
              <a:latin typeface="Arial" panose="020B0604020202020204" pitchFamily="34" charset="0"/>
              <a:ea typeface="Tahoma"/>
              <a:cs typeface="Tahoma"/>
            </a:endParaRPr>
          </a:p>
          <a:p>
            <a:pPr>
              <a:buNone/>
            </a:pPr>
            <a:endParaRPr lang="pt-BR" altLang="pt-BR" b="1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51308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ço Reservado para Número de Slide 1">
            <a:extLst>
              <a:ext uri="{FF2B5EF4-FFF2-40B4-BE49-F238E27FC236}">
                <a16:creationId xmlns:a16="http://schemas.microsoft.com/office/drawing/2014/main" id="{846FC07F-CBC4-0358-81FD-5B9C93232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5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2D7088D8-A4D7-4903-8B13-19ACD6824B27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pt-BR" altLang="pt-BR" sz="1400"/>
          </a:p>
        </p:txBody>
      </p:sp>
      <p:sp>
        <p:nvSpPr>
          <p:cNvPr id="7171" name="Text Box 2">
            <a:extLst>
              <a:ext uri="{FF2B5EF4-FFF2-40B4-BE49-F238E27FC236}">
                <a16:creationId xmlns:a16="http://schemas.microsoft.com/office/drawing/2014/main" id="{B6C17CBE-4E41-4E16-74F0-856972B47F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7488" y="141288"/>
            <a:ext cx="9144001" cy="1415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 dirty="0">
                <a:latin typeface="Arial"/>
                <a:cs typeface="Arial"/>
              </a:rPr>
              <a:t>LINGUAGEM DE PROG. PYTHON</a:t>
            </a:r>
          </a:p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pt-BR" altLang="pt-BR" sz="4200" b="1" dirty="0" err="1">
                <a:latin typeface="Arial"/>
                <a:cs typeface="Arial"/>
              </a:rPr>
              <a:t>Strings</a:t>
            </a:r>
            <a:r>
              <a:rPr lang="pt-BR" altLang="pt-BR" sz="4200" b="1" dirty="0">
                <a:latin typeface="Arial"/>
                <a:cs typeface="Arial"/>
              </a:rPr>
              <a:t> – Comparação</a:t>
            </a:r>
            <a:endParaRPr lang="pt-BR" altLang="pt-BR" sz="4200" b="1" dirty="0">
              <a:latin typeface="Arial" panose="020B0604020202020204" pitchFamily="34" charset="0"/>
              <a:cs typeface="Arial"/>
            </a:endParaRP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827178E-6D40-D08D-39C1-7011F46AC6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946" y="2238376"/>
            <a:ext cx="11498260" cy="4622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None/>
            </a:pPr>
            <a:r>
              <a:rPr lang="pt-BR" sz="2800" b="1" dirty="0">
                <a:latin typeface="Arial"/>
                <a:ea typeface="Tahoma"/>
                <a:cs typeface="Tahoma"/>
              </a:rPr>
              <a:t>PALAVRA = input("Digite o nome de um animal: ")</a:t>
            </a:r>
            <a:endParaRPr lang="pt-BR" sz="2800" b="1">
              <a:latin typeface="Arial"/>
              <a:cs typeface="Arial"/>
            </a:endParaRPr>
          </a:p>
          <a:p>
            <a:pPr>
              <a:buNone/>
            </a:pPr>
            <a:endParaRPr lang="en-US" dirty="0">
              <a:latin typeface="Tahoma"/>
            </a:endParaRPr>
          </a:p>
          <a:p>
            <a:pPr>
              <a:buNone/>
            </a:pPr>
            <a:r>
              <a:rPr lang="pt-BR" sz="2800" b="1" dirty="0" err="1">
                <a:latin typeface="Arial"/>
                <a:ea typeface="Tahoma"/>
                <a:cs typeface="Tahoma"/>
              </a:rPr>
              <a:t>if</a:t>
            </a:r>
            <a:r>
              <a:rPr lang="pt-BR" sz="2800" b="1" dirty="0">
                <a:latin typeface="Arial"/>
                <a:ea typeface="Tahoma"/>
                <a:cs typeface="Tahoma"/>
              </a:rPr>
              <a:t> PALAVRA &lt; "BALEIA":</a:t>
            </a:r>
            <a:endParaRPr lang="pt-BR" sz="2800" b="1">
              <a:latin typeface="Arial"/>
              <a:cs typeface="Arial"/>
            </a:endParaRPr>
          </a:p>
          <a:p>
            <a:pPr>
              <a:buNone/>
            </a:pPr>
            <a:r>
              <a:rPr lang="pt-BR" sz="2800" b="1" dirty="0">
                <a:latin typeface="Arial"/>
                <a:ea typeface="Tahoma"/>
                <a:cs typeface="Tahoma"/>
              </a:rPr>
              <a:t>     print(PALAVRA + " no dicionário vem antes de baleia")</a:t>
            </a:r>
            <a:endParaRPr lang="pt-BR" sz="2800" b="1" dirty="0">
              <a:latin typeface="Arial"/>
              <a:cs typeface="Arial"/>
            </a:endParaRPr>
          </a:p>
          <a:p>
            <a:pPr>
              <a:buNone/>
            </a:pPr>
            <a:r>
              <a:rPr lang="pt-BR" sz="2800" b="1" dirty="0" err="1">
                <a:latin typeface="Arial"/>
                <a:ea typeface="Tahoma"/>
                <a:cs typeface="Tahoma"/>
              </a:rPr>
              <a:t>elif</a:t>
            </a:r>
            <a:r>
              <a:rPr lang="pt-BR" sz="2800" b="1" dirty="0">
                <a:latin typeface="Arial"/>
                <a:ea typeface="Tahoma"/>
                <a:cs typeface="Tahoma"/>
              </a:rPr>
              <a:t> PALAVRA &gt; "BALEIA":</a:t>
            </a:r>
            <a:endParaRPr lang="pt-BR" sz="2800" b="1">
              <a:latin typeface="Arial"/>
              <a:cs typeface="Arial"/>
            </a:endParaRPr>
          </a:p>
          <a:p>
            <a:pPr>
              <a:buNone/>
            </a:pPr>
            <a:r>
              <a:rPr lang="pt-BR" sz="2800" b="1" dirty="0">
                <a:latin typeface="Arial"/>
                <a:ea typeface="Tahoma"/>
                <a:cs typeface="Tahoma"/>
              </a:rPr>
              <a:t>     print(PALAVRA + " no dicionário vem depois de baleia")</a:t>
            </a:r>
            <a:endParaRPr lang="pt-BR" sz="2800" b="1" dirty="0">
              <a:latin typeface="Arial"/>
              <a:cs typeface="Arial"/>
            </a:endParaRPr>
          </a:p>
          <a:p>
            <a:pPr>
              <a:buNone/>
            </a:pPr>
            <a:r>
              <a:rPr lang="pt-BR" sz="2800" b="1" dirty="0" err="1">
                <a:latin typeface="Arial"/>
                <a:ea typeface="Tahoma"/>
                <a:cs typeface="Tahoma"/>
              </a:rPr>
              <a:t>else</a:t>
            </a:r>
            <a:r>
              <a:rPr lang="pt-BR" sz="2800" b="1" dirty="0">
                <a:latin typeface="Arial"/>
                <a:ea typeface="Tahoma"/>
                <a:cs typeface="Tahoma"/>
              </a:rPr>
              <a:t>:</a:t>
            </a:r>
            <a:endParaRPr lang="pt-BR" sz="2800" b="1">
              <a:latin typeface="Arial"/>
              <a:cs typeface="Arial"/>
            </a:endParaRPr>
          </a:p>
          <a:p>
            <a:pPr>
              <a:buNone/>
            </a:pPr>
            <a:r>
              <a:rPr lang="pt-BR" sz="2800" b="1" dirty="0">
                <a:latin typeface="Arial"/>
                <a:ea typeface="Tahoma"/>
                <a:cs typeface="Tahoma"/>
              </a:rPr>
              <a:t>     print("É a própria baleia!")</a:t>
            </a:r>
            <a:endParaRPr lang="pt-BR" sz="2800" b="1" dirty="0">
              <a:latin typeface="Arial"/>
              <a:cs typeface="Arial"/>
            </a:endParaRPr>
          </a:p>
          <a:p>
            <a:pPr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pPr>
              <a:buNone/>
            </a:pPr>
            <a:endParaRPr lang="pt-BR" sz="2800" b="1" dirty="0">
              <a:solidFill>
                <a:srgbClr val="000000"/>
              </a:solidFill>
              <a:latin typeface="Arial"/>
              <a:ea typeface="Tahoma"/>
              <a:cs typeface="Tahoma"/>
            </a:endParaRPr>
          </a:p>
          <a:p>
            <a:pPr>
              <a:buNone/>
            </a:pPr>
            <a:endParaRPr lang="pt-BR" b="1" dirty="0">
              <a:solidFill>
                <a:srgbClr val="000000"/>
              </a:solidFill>
              <a:latin typeface="Arial"/>
              <a:ea typeface="Tahoma"/>
              <a:cs typeface="Tahoma"/>
            </a:endParaRPr>
          </a:p>
          <a:p>
            <a:pPr algn="just">
              <a:spcBef>
                <a:spcPct val="0"/>
              </a:spcBef>
              <a:buFont typeface="Wingdings" panose="05000000000000000000" pitchFamily="2" charset="2"/>
              <a:buNone/>
            </a:pPr>
            <a:endParaRPr lang="pt-BR" b="1" cap="all" dirty="0">
              <a:solidFill>
                <a:srgbClr val="262673"/>
              </a:solidFill>
              <a:latin typeface="Book Antiqua"/>
              <a:ea typeface="Tahoma"/>
              <a:cs typeface="Tahoma"/>
            </a:endParaRPr>
          </a:p>
          <a:p>
            <a:pPr algn="just">
              <a:spcBef>
                <a:spcPct val="0"/>
              </a:spcBef>
              <a:buNone/>
            </a:pPr>
            <a:endParaRPr lang="pt-BR" b="1" cap="all" dirty="0">
              <a:solidFill>
                <a:srgbClr val="262673"/>
              </a:solidFill>
              <a:latin typeface="Book Antiqua"/>
              <a:ea typeface="Tahoma"/>
              <a:cs typeface="Tahoma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endParaRPr lang="pt-BR" b="1" cap="all" dirty="0">
              <a:solidFill>
                <a:srgbClr val="262673"/>
              </a:solidFill>
              <a:latin typeface="Book Antiqua"/>
              <a:ea typeface="Tahoma"/>
              <a:cs typeface="Tahoma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endParaRPr lang="pt-BR" b="1" dirty="0">
              <a:solidFill>
                <a:srgbClr val="000000"/>
              </a:solidFill>
              <a:latin typeface="Arial" panose="020B0604020202020204" pitchFamily="34" charset="0"/>
              <a:ea typeface="Tahoma"/>
              <a:cs typeface="Tahoma"/>
            </a:endParaRPr>
          </a:p>
          <a:p>
            <a:pPr algn="just">
              <a:spcBef>
                <a:spcPct val="0"/>
              </a:spcBef>
              <a:spcAft>
                <a:spcPts val="600"/>
              </a:spcAft>
              <a:buNone/>
            </a:pPr>
            <a:endParaRPr lang="pt-BR" b="1" dirty="0">
              <a:solidFill>
                <a:schemeClr val="bg2"/>
              </a:solidFill>
              <a:latin typeface="Arial" panose="020B0604020202020204" pitchFamily="34" charset="0"/>
              <a:ea typeface="Tahoma"/>
              <a:cs typeface="Tahoma"/>
            </a:endParaRPr>
          </a:p>
          <a:p>
            <a:pPr>
              <a:buNone/>
            </a:pPr>
            <a:endParaRPr lang="pt-BR" altLang="pt-BR" b="1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54565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ço Reservado para Número de Slide 1">
            <a:extLst>
              <a:ext uri="{FF2B5EF4-FFF2-40B4-BE49-F238E27FC236}">
                <a16:creationId xmlns:a16="http://schemas.microsoft.com/office/drawing/2014/main" id="{846FC07F-CBC4-0358-81FD-5B9C93232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5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2D7088D8-A4D7-4903-8B13-19ACD6824B27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pt-BR" altLang="pt-BR" sz="1400"/>
          </a:p>
        </p:txBody>
      </p:sp>
      <p:sp>
        <p:nvSpPr>
          <p:cNvPr id="7171" name="Text Box 2">
            <a:extLst>
              <a:ext uri="{FF2B5EF4-FFF2-40B4-BE49-F238E27FC236}">
                <a16:creationId xmlns:a16="http://schemas.microsoft.com/office/drawing/2014/main" id="{B6C17CBE-4E41-4E16-74F0-856972B47F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7488" y="141288"/>
            <a:ext cx="9144001" cy="1415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 dirty="0">
                <a:latin typeface="Arial"/>
                <a:cs typeface="Arial"/>
              </a:rPr>
              <a:t>LINGUAGEM DE PROG. PYTHON</a:t>
            </a:r>
          </a:p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pt-BR" altLang="pt-BR" sz="4200" b="1" dirty="0" err="1">
                <a:latin typeface="Arial"/>
                <a:cs typeface="Arial"/>
              </a:rPr>
              <a:t>Strings</a:t>
            </a:r>
            <a:r>
              <a:rPr lang="pt-BR" altLang="pt-BR" sz="4200" b="1" dirty="0">
                <a:latin typeface="Arial"/>
                <a:cs typeface="Arial"/>
              </a:rPr>
              <a:t> – Comparação</a:t>
            </a: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827178E-6D40-D08D-39C1-7011F46AC6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946" y="2238376"/>
            <a:ext cx="11498260" cy="4622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None/>
            </a:pPr>
            <a:r>
              <a:rPr lang="pt-BR" sz="2800" b="1" dirty="0">
                <a:latin typeface="Arial"/>
                <a:ea typeface="Tahoma"/>
                <a:cs typeface="Tahoma"/>
              </a:rPr>
              <a:t>print("APPLE" &lt; "BANANA")</a:t>
            </a:r>
            <a:endParaRPr lang="pt-BR" sz="2800" b="1">
              <a:latin typeface="Arial"/>
              <a:cs typeface="Arial"/>
            </a:endParaRPr>
          </a:p>
          <a:p>
            <a:pPr>
              <a:buNone/>
            </a:pPr>
            <a:r>
              <a:rPr lang="pt-BR" sz="2800" b="1" dirty="0">
                <a:latin typeface="Arial"/>
                <a:ea typeface="Tahoma"/>
                <a:cs typeface="Tahoma"/>
              </a:rPr>
              <a:t>print("APPLE" != "BANANA")</a:t>
            </a:r>
            <a:endParaRPr lang="pt-BR" sz="2800" b="1">
              <a:latin typeface="Arial"/>
              <a:cs typeface="Arial"/>
            </a:endParaRPr>
          </a:p>
          <a:p>
            <a:pPr>
              <a:buNone/>
            </a:pPr>
            <a:r>
              <a:rPr lang="pt-BR" sz="2800" b="1" dirty="0">
                <a:latin typeface="Arial"/>
                <a:ea typeface="Tahoma"/>
                <a:cs typeface="Tahoma"/>
              </a:rPr>
              <a:t>print("APPLE" == " APPLE")</a:t>
            </a:r>
            <a:endParaRPr lang="pt-BR" sz="2800" b="1">
              <a:latin typeface="Arial"/>
              <a:cs typeface="Arial"/>
            </a:endParaRPr>
          </a:p>
          <a:p>
            <a:pPr>
              <a:buNone/>
            </a:pPr>
            <a:r>
              <a:rPr lang="pt-BR" sz="2800" b="1" dirty="0">
                <a:latin typeface="Arial"/>
                <a:ea typeface="Tahoma"/>
                <a:cs typeface="Tahoma"/>
              </a:rPr>
              <a:t>print("APPLE" &lt; " APPLE")</a:t>
            </a:r>
            <a:endParaRPr lang="pt-BR" sz="2800" b="1">
              <a:latin typeface="Arial"/>
              <a:cs typeface="Arial"/>
            </a:endParaRPr>
          </a:p>
          <a:p>
            <a:pPr>
              <a:buNone/>
            </a:pPr>
            <a:r>
              <a:rPr lang="pt-BR" sz="2800" b="1" dirty="0">
                <a:latin typeface="Arial"/>
                <a:ea typeface="Tahoma"/>
                <a:cs typeface="Tahoma"/>
              </a:rPr>
              <a:t>print("APPLE" &gt; " APPLE")</a:t>
            </a:r>
            <a:endParaRPr lang="pt-BR" sz="2800" b="1">
              <a:latin typeface="Arial"/>
              <a:cs typeface="Arial"/>
            </a:endParaRPr>
          </a:p>
          <a:p>
            <a:pPr>
              <a:buNone/>
            </a:pPr>
            <a:r>
              <a:rPr lang="pt-BR" sz="2800" b="1" dirty="0">
                <a:latin typeface="Arial"/>
                <a:ea typeface="Tahoma"/>
                <a:cs typeface="Tahoma"/>
              </a:rPr>
              <a:t>print("APPLE" &lt;= "APPLE")</a:t>
            </a:r>
            <a:endParaRPr lang="pt-BR" sz="2800" b="1">
              <a:latin typeface="Arial"/>
              <a:cs typeface="Arial"/>
            </a:endParaRPr>
          </a:p>
          <a:p>
            <a:pPr>
              <a:buNone/>
            </a:pPr>
            <a:endParaRPr lang="pt-BR" sz="2800" b="1" dirty="0">
              <a:solidFill>
                <a:srgbClr val="000000"/>
              </a:solidFill>
              <a:latin typeface="Arial"/>
              <a:ea typeface="Tahoma"/>
              <a:cs typeface="Tahoma"/>
            </a:endParaRPr>
          </a:p>
          <a:p>
            <a:pPr>
              <a:buNone/>
            </a:pPr>
            <a:endParaRPr lang="pt-BR" b="1" dirty="0">
              <a:solidFill>
                <a:srgbClr val="000000"/>
              </a:solidFill>
              <a:latin typeface="Arial"/>
              <a:ea typeface="Tahoma"/>
              <a:cs typeface="Tahoma"/>
            </a:endParaRPr>
          </a:p>
          <a:p>
            <a:pPr algn="just">
              <a:spcBef>
                <a:spcPct val="0"/>
              </a:spcBef>
              <a:buFont typeface="Wingdings" panose="05000000000000000000" pitchFamily="2" charset="2"/>
              <a:buNone/>
            </a:pPr>
            <a:endParaRPr lang="pt-BR" b="1" cap="all" dirty="0">
              <a:solidFill>
                <a:srgbClr val="262673"/>
              </a:solidFill>
              <a:latin typeface="Book Antiqua"/>
              <a:ea typeface="Tahoma"/>
              <a:cs typeface="Tahoma"/>
            </a:endParaRPr>
          </a:p>
          <a:p>
            <a:pPr algn="just">
              <a:spcBef>
                <a:spcPct val="0"/>
              </a:spcBef>
              <a:buNone/>
            </a:pPr>
            <a:endParaRPr lang="pt-BR" b="1" cap="all" dirty="0">
              <a:solidFill>
                <a:srgbClr val="262673"/>
              </a:solidFill>
              <a:latin typeface="Book Antiqua"/>
              <a:ea typeface="Tahoma"/>
              <a:cs typeface="Tahoma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endParaRPr lang="pt-BR" b="1" cap="all" dirty="0">
              <a:solidFill>
                <a:srgbClr val="262673"/>
              </a:solidFill>
              <a:latin typeface="Book Antiqua"/>
              <a:ea typeface="Tahoma"/>
              <a:cs typeface="Tahoma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endParaRPr lang="pt-BR" b="1" dirty="0">
              <a:solidFill>
                <a:srgbClr val="000000"/>
              </a:solidFill>
              <a:latin typeface="Arial" panose="020B0604020202020204" pitchFamily="34" charset="0"/>
              <a:ea typeface="Tahoma"/>
              <a:cs typeface="Tahoma"/>
            </a:endParaRPr>
          </a:p>
          <a:p>
            <a:pPr algn="just">
              <a:spcBef>
                <a:spcPct val="0"/>
              </a:spcBef>
              <a:spcAft>
                <a:spcPts val="600"/>
              </a:spcAft>
              <a:buNone/>
            </a:pPr>
            <a:endParaRPr lang="pt-BR" b="1" dirty="0">
              <a:solidFill>
                <a:schemeClr val="bg2"/>
              </a:solidFill>
              <a:latin typeface="Arial" panose="020B0604020202020204" pitchFamily="34" charset="0"/>
              <a:ea typeface="Tahoma"/>
              <a:cs typeface="Tahoma"/>
            </a:endParaRPr>
          </a:p>
          <a:p>
            <a:pPr>
              <a:buNone/>
            </a:pPr>
            <a:endParaRPr lang="pt-BR" altLang="pt-BR" b="1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5D4B5DBC-C5AC-9AAD-5B86-1E275CFA73CD}"/>
              </a:ext>
            </a:extLst>
          </p:cNvPr>
          <p:cNvSpPr/>
          <p:nvPr/>
        </p:nvSpPr>
        <p:spPr bwMode="auto">
          <a:xfrm>
            <a:off x="8901115" y="1566862"/>
            <a:ext cx="3200397" cy="5164927"/>
          </a:xfrm>
          <a:prstGeom prst="roundRect">
            <a:avLst/>
          </a:prstGeom>
          <a:solidFill>
            <a:schemeClr val="accent5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pt-BR" sz="3200" b="1" dirty="0">
              <a:latin typeface="Arial"/>
              <a:ea typeface="+mn-lt"/>
              <a:cs typeface="+mn-lt"/>
            </a:endParaRPr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r>
              <a:rPr lang="pt-BR" sz="3200" b="1" dirty="0" err="1">
                <a:latin typeface="Arial"/>
                <a:ea typeface="+mn-lt"/>
                <a:cs typeface="+mn-lt"/>
              </a:rPr>
              <a:t>True</a:t>
            </a:r>
            <a:r>
              <a:rPr lang="pt-BR" sz="3200" b="1" dirty="0">
                <a:latin typeface="Arial"/>
                <a:ea typeface="+mn-lt"/>
                <a:cs typeface="+mn-lt"/>
              </a:rPr>
              <a:t> </a:t>
            </a:r>
            <a:endParaRPr lang="pt-BR" dirty="0"/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pt-BR" sz="1200" b="1" dirty="0">
              <a:latin typeface="Arial"/>
              <a:ea typeface="+mn-lt"/>
              <a:cs typeface="+mn-lt"/>
            </a:endParaRPr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r>
              <a:rPr lang="pt-BR" sz="3200" b="1" dirty="0" err="1">
                <a:latin typeface="Arial"/>
                <a:ea typeface="+mn-lt"/>
                <a:cs typeface="+mn-lt"/>
              </a:rPr>
              <a:t>True</a:t>
            </a:r>
            <a:endParaRPr lang="pt-BR" sz="3200" b="1" dirty="0">
              <a:latin typeface="Arial"/>
              <a:ea typeface="+mn-lt"/>
              <a:cs typeface="+mn-lt"/>
            </a:endParaRPr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pt-BR" sz="1200" b="1" dirty="0">
              <a:latin typeface="Arial"/>
              <a:ea typeface="+mn-lt"/>
              <a:cs typeface="+mn-lt"/>
            </a:endParaRPr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r>
              <a:rPr lang="pt-BR" sz="3200" b="1" dirty="0">
                <a:latin typeface="Arial"/>
                <a:ea typeface="+mn-lt"/>
                <a:cs typeface="+mn-lt"/>
              </a:rPr>
              <a:t>False </a:t>
            </a:r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pt-BR" sz="1200" b="1" dirty="0">
              <a:latin typeface="Arial"/>
              <a:ea typeface="+mn-lt"/>
              <a:cs typeface="+mn-lt"/>
            </a:endParaRPr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r>
              <a:rPr lang="pt-BR" sz="3200" b="1" dirty="0">
                <a:latin typeface="Arial"/>
                <a:ea typeface="+mn-lt"/>
                <a:cs typeface="+mn-lt"/>
              </a:rPr>
              <a:t>False</a:t>
            </a:r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pt-BR" sz="1200" b="1" dirty="0">
              <a:latin typeface="Arial"/>
              <a:ea typeface="+mn-lt"/>
              <a:cs typeface="+mn-lt"/>
            </a:endParaRPr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r>
              <a:rPr lang="pt-BR" sz="3200" b="1" dirty="0" err="1">
                <a:latin typeface="Arial"/>
                <a:ea typeface="+mn-lt"/>
                <a:cs typeface="+mn-lt"/>
              </a:rPr>
              <a:t>True</a:t>
            </a:r>
            <a:endParaRPr lang="pt-BR" sz="3200" b="1" dirty="0">
              <a:latin typeface="Arial"/>
              <a:ea typeface="+mn-lt"/>
              <a:cs typeface="+mn-lt"/>
            </a:endParaRPr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pt-BR" sz="1200" b="1" dirty="0">
              <a:latin typeface="Arial"/>
              <a:ea typeface="+mn-lt"/>
              <a:cs typeface="+mn-lt"/>
            </a:endParaRPr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r>
              <a:rPr lang="pt-BR" sz="3200" b="1" dirty="0" err="1">
                <a:latin typeface="Arial"/>
                <a:ea typeface="+mn-lt"/>
                <a:cs typeface="+mn-lt"/>
              </a:rPr>
              <a:t>True</a:t>
            </a:r>
            <a:endParaRPr lang="pt-BR" sz="3200" b="1" dirty="0">
              <a:latin typeface="Arial"/>
              <a:ea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7026024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ço Reservado para Número de Slide 1">
            <a:extLst>
              <a:ext uri="{FF2B5EF4-FFF2-40B4-BE49-F238E27FC236}">
                <a16:creationId xmlns:a16="http://schemas.microsoft.com/office/drawing/2014/main" id="{846FC07F-CBC4-0358-81FD-5B9C93232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5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2D7088D8-A4D7-4903-8B13-19ACD6824B27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pt-BR" altLang="pt-BR" sz="1400"/>
          </a:p>
        </p:txBody>
      </p:sp>
      <p:sp>
        <p:nvSpPr>
          <p:cNvPr id="7171" name="Text Box 2">
            <a:extLst>
              <a:ext uri="{FF2B5EF4-FFF2-40B4-BE49-F238E27FC236}">
                <a16:creationId xmlns:a16="http://schemas.microsoft.com/office/drawing/2014/main" id="{B6C17CBE-4E41-4E16-74F0-856972B47F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7488" y="141288"/>
            <a:ext cx="9144001" cy="1415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 dirty="0">
                <a:latin typeface="Arial"/>
                <a:cs typeface="Arial"/>
              </a:rPr>
              <a:t>LINGUAGEM DE PROG. PYTHON</a:t>
            </a:r>
          </a:p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pt-BR" altLang="pt-BR" sz="4200" b="1" dirty="0" err="1">
                <a:latin typeface="Arial"/>
                <a:cs typeface="Arial"/>
              </a:rPr>
              <a:t>Strings</a:t>
            </a:r>
            <a:r>
              <a:rPr lang="pt-BR" altLang="pt-BR" sz="4200" b="1" dirty="0">
                <a:latin typeface="Arial"/>
                <a:cs typeface="Arial"/>
              </a:rPr>
              <a:t> – Operadores in e </a:t>
            </a:r>
            <a:r>
              <a:rPr lang="pt-BR" altLang="pt-BR" sz="4200" b="1" dirty="0" err="1">
                <a:latin typeface="Arial"/>
                <a:cs typeface="Arial"/>
              </a:rPr>
              <a:t>not</a:t>
            </a:r>
            <a:r>
              <a:rPr lang="pt-BR" altLang="pt-BR" sz="4200" b="1" dirty="0">
                <a:latin typeface="Arial"/>
                <a:cs typeface="Arial"/>
              </a:rPr>
              <a:t> in</a:t>
            </a: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827178E-6D40-D08D-39C1-7011F46AC6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946" y="2238376"/>
            <a:ext cx="11498260" cy="4622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None/>
            </a:pPr>
            <a:r>
              <a:rPr lang="pt-BR" b="1" dirty="0">
                <a:latin typeface="Arial"/>
                <a:ea typeface="Tahoma"/>
                <a:cs typeface="Tahoma"/>
              </a:rPr>
              <a:t>print('P' in 'APPLE')</a:t>
            </a:r>
            <a:endParaRPr lang="pt-BR" b="1">
              <a:latin typeface="Arial"/>
              <a:cs typeface="Arial"/>
            </a:endParaRPr>
          </a:p>
          <a:p>
            <a:pPr>
              <a:buNone/>
            </a:pPr>
            <a:r>
              <a:rPr lang="pt-BR" b="1" dirty="0">
                <a:latin typeface="Arial"/>
                <a:ea typeface="Tahoma"/>
                <a:cs typeface="Tahoma"/>
              </a:rPr>
              <a:t>print('I' in 'APPLE')</a:t>
            </a:r>
            <a:endParaRPr lang="pt-BR" b="1">
              <a:latin typeface="Arial"/>
              <a:cs typeface="Arial"/>
            </a:endParaRPr>
          </a:p>
          <a:p>
            <a:pPr>
              <a:buNone/>
            </a:pPr>
            <a:r>
              <a:rPr lang="pt-BR" b="1" dirty="0">
                <a:latin typeface="Arial"/>
                <a:ea typeface="Tahoma"/>
                <a:cs typeface="Tahoma"/>
              </a:rPr>
              <a:t>print('AP' in 'APPLE')</a:t>
            </a:r>
            <a:endParaRPr lang="pt-BR" b="1">
              <a:latin typeface="Arial"/>
              <a:cs typeface="Arial"/>
            </a:endParaRPr>
          </a:p>
          <a:p>
            <a:pPr>
              <a:buNone/>
            </a:pPr>
            <a:r>
              <a:rPr lang="pt-BR" b="1" dirty="0">
                <a:latin typeface="Arial"/>
                <a:ea typeface="Tahoma"/>
                <a:cs typeface="Tahoma"/>
              </a:rPr>
              <a:t>print('PA' in 'APPLE')</a:t>
            </a:r>
            <a:endParaRPr lang="pt-BR" b="1">
              <a:latin typeface="Arial"/>
              <a:cs typeface="Arial"/>
            </a:endParaRPr>
          </a:p>
          <a:p>
            <a:pPr>
              <a:buNone/>
            </a:pPr>
            <a:r>
              <a:rPr lang="pt-BR" b="1" dirty="0">
                <a:latin typeface="Arial"/>
                <a:ea typeface="Tahoma"/>
                <a:cs typeface="Tahoma"/>
              </a:rPr>
              <a:t>print('' in ' APPLE')</a:t>
            </a:r>
            <a:endParaRPr lang="pt-BR" b="1">
              <a:latin typeface="Arial"/>
              <a:cs typeface="Arial"/>
            </a:endParaRPr>
          </a:p>
          <a:p>
            <a:pPr>
              <a:buNone/>
            </a:pPr>
            <a:r>
              <a:rPr lang="pt-BR" b="1" dirty="0">
                <a:latin typeface="Arial"/>
                <a:ea typeface="Tahoma"/>
                <a:cs typeface="Tahoma"/>
              </a:rPr>
              <a:t>print('x' </a:t>
            </a:r>
            <a:r>
              <a:rPr lang="pt-BR" b="1" dirty="0" err="1">
                <a:latin typeface="Arial"/>
                <a:ea typeface="Tahoma"/>
                <a:cs typeface="Tahoma"/>
              </a:rPr>
              <a:t>not</a:t>
            </a:r>
            <a:r>
              <a:rPr lang="pt-BR" b="1" dirty="0">
                <a:latin typeface="Arial"/>
                <a:ea typeface="Tahoma"/>
                <a:cs typeface="Tahoma"/>
              </a:rPr>
              <a:t> in 'APPLE')</a:t>
            </a:r>
            <a:endParaRPr lang="pt-BR" b="1">
              <a:latin typeface="Arial"/>
              <a:cs typeface="Arial"/>
            </a:endParaRPr>
          </a:p>
          <a:p>
            <a:pPr>
              <a:buNone/>
            </a:pPr>
            <a:endParaRPr lang="pt-BR" sz="2800" b="1" dirty="0">
              <a:latin typeface="Arial"/>
              <a:ea typeface="Tahoma"/>
              <a:cs typeface="Tahoma"/>
            </a:endParaRPr>
          </a:p>
          <a:p>
            <a:pPr>
              <a:buNone/>
            </a:pPr>
            <a:endParaRPr lang="pt-BR" sz="2800" b="1" dirty="0">
              <a:solidFill>
                <a:srgbClr val="000000"/>
              </a:solidFill>
              <a:latin typeface="Arial"/>
              <a:ea typeface="Tahoma"/>
              <a:cs typeface="Tahoma"/>
            </a:endParaRPr>
          </a:p>
          <a:p>
            <a:pPr>
              <a:buNone/>
            </a:pPr>
            <a:endParaRPr lang="pt-BR" b="1" dirty="0">
              <a:solidFill>
                <a:srgbClr val="000000"/>
              </a:solidFill>
              <a:latin typeface="Arial"/>
              <a:ea typeface="Tahoma"/>
              <a:cs typeface="Tahoma"/>
            </a:endParaRPr>
          </a:p>
          <a:p>
            <a:pPr algn="just">
              <a:spcBef>
                <a:spcPct val="0"/>
              </a:spcBef>
              <a:buFont typeface="Wingdings" panose="05000000000000000000" pitchFamily="2" charset="2"/>
              <a:buNone/>
            </a:pPr>
            <a:endParaRPr lang="pt-BR" b="1" cap="all" dirty="0">
              <a:solidFill>
                <a:srgbClr val="262673"/>
              </a:solidFill>
              <a:latin typeface="Book Antiqua"/>
              <a:ea typeface="Tahoma"/>
              <a:cs typeface="Tahoma"/>
            </a:endParaRPr>
          </a:p>
          <a:p>
            <a:pPr algn="just">
              <a:spcBef>
                <a:spcPct val="0"/>
              </a:spcBef>
              <a:buNone/>
            </a:pPr>
            <a:endParaRPr lang="pt-BR" b="1" cap="all" dirty="0">
              <a:solidFill>
                <a:srgbClr val="262673"/>
              </a:solidFill>
              <a:latin typeface="Book Antiqua"/>
              <a:ea typeface="Tahoma"/>
              <a:cs typeface="Tahoma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endParaRPr lang="pt-BR" b="1" cap="all" dirty="0">
              <a:solidFill>
                <a:srgbClr val="262673"/>
              </a:solidFill>
              <a:latin typeface="Book Antiqua"/>
              <a:ea typeface="Tahoma"/>
              <a:cs typeface="Tahoma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endParaRPr lang="pt-BR" b="1" dirty="0">
              <a:solidFill>
                <a:srgbClr val="000000"/>
              </a:solidFill>
              <a:latin typeface="Arial" panose="020B0604020202020204" pitchFamily="34" charset="0"/>
              <a:ea typeface="Tahoma"/>
              <a:cs typeface="Tahoma"/>
            </a:endParaRPr>
          </a:p>
          <a:p>
            <a:pPr algn="just">
              <a:spcBef>
                <a:spcPct val="0"/>
              </a:spcBef>
              <a:spcAft>
                <a:spcPts val="600"/>
              </a:spcAft>
              <a:buNone/>
            </a:pPr>
            <a:endParaRPr lang="pt-BR" b="1" dirty="0">
              <a:solidFill>
                <a:schemeClr val="bg2"/>
              </a:solidFill>
              <a:latin typeface="Arial" panose="020B0604020202020204" pitchFamily="34" charset="0"/>
              <a:ea typeface="Tahoma"/>
              <a:cs typeface="Tahoma"/>
            </a:endParaRPr>
          </a:p>
          <a:p>
            <a:pPr>
              <a:buNone/>
            </a:pPr>
            <a:endParaRPr lang="pt-BR" altLang="pt-BR" b="1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5D4B5DBC-C5AC-9AAD-5B86-1E275CFA73CD}"/>
              </a:ext>
            </a:extLst>
          </p:cNvPr>
          <p:cNvSpPr/>
          <p:nvPr/>
        </p:nvSpPr>
        <p:spPr bwMode="auto">
          <a:xfrm>
            <a:off x="8901115" y="1566862"/>
            <a:ext cx="3200397" cy="5164927"/>
          </a:xfrm>
          <a:prstGeom prst="roundRect">
            <a:avLst/>
          </a:prstGeom>
          <a:solidFill>
            <a:schemeClr val="accent5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pt-BR" sz="3200" b="1" dirty="0">
              <a:latin typeface="Arial"/>
              <a:ea typeface="+mn-lt"/>
              <a:cs typeface="+mn-lt"/>
            </a:endParaRPr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r>
              <a:rPr lang="pt-BR" sz="3200" b="1" dirty="0" err="1">
                <a:latin typeface="Arial"/>
                <a:ea typeface="+mn-lt"/>
                <a:cs typeface="+mn-lt"/>
              </a:rPr>
              <a:t>True</a:t>
            </a:r>
            <a:r>
              <a:rPr lang="pt-BR" sz="3200" b="1" dirty="0">
                <a:latin typeface="Arial"/>
                <a:ea typeface="+mn-lt"/>
                <a:cs typeface="+mn-lt"/>
              </a:rPr>
              <a:t> </a:t>
            </a:r>
            <a:endParaRPr lang="pt-BR" dirty="0"/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pt-BR" sz="1200" b="1" dirty="0">
              <a:latin typeface="Arial"/>
              <a:ea typeface="+mn-lt"/>
              <a:cs typeface="+mn-lt"/>
            </a:endParaRPr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r>
              <a:rPr lang="pt-BR" sz="3200" b="1" dirty="0">
                <a:latin typeface="Arial"/>
                <a:ea typeface="+mn-lt"/>
                <a:cs typeface="+mn-lt"/>
              </a:rPr>
              <a:t>False</a:t>
            </a:r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pt-BR" sz="1200" b="1" dirty="0">
              <a:latin typeface="Arial"/>
              <a:ea typeface="+mn-lt"/>
              <a:cs typeface="+mn-lt"/>
            </a:endParaRPr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r>
              <a:rPr lang="pt-BR" sz="3200" b="1" dirty="0" err="1">
                <a:latin typeface="Arial"/>
                <a:ea typeface="+mn-lt"/>
                <a:cs typeface="+mn-lt"/>
              </a:rPr>
              <a:t>True</a:t>
            </a:r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pt-BR" sz="1200" b="1" dirty="0">
              <a:latin typeface="Arial"/>
              <a:ea typeface="+mn-lt"/>
              <a:cs typeface="+mn-lt"/>
            </a:endParaRPr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r>
              <a:rPr lang="pt-BR" sz="3200" b="1" dirty="0">
                <a:latin typeface="Arial"/>
                <a:ea typeface="+mn-lt"/>
                <a:cs typeface="+mn-lt"/>
              </a:rPr>
              <a:t>False</a:t>
            </a:r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pt-BR" sz="1200" b="1" dirty="0">
              <a:latin typeface="Arial"/>
              <a:ea typeface="+mn-lt"/>
              <a:cs typeface="+mn-lt"/>
            </a:endParaRPr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r>
              <a:rPr lang="pt-BR" sz="3200" b="1" dirty="0" err="1">
                <a:latin typeface="Arial"/>
                <a:ea typeface="+mn-lt"/>
                <a:cs typeface="+mn-lt"/>
              </a:rPr>
              <a:t>True</a:t>
            </a:r>
            <a:endParaRPr lang="pt-BR" sz="3200" b="1" dirty="0">
              <a:latin typeface="Arial"/>
              <a:ea typeface="+mn-lt"/>
              <a:cs typeface="+mn-lt"/>
            </a:endParaRPr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pt-BR" sz="1200" b="1" dirty="0">
              <a:latin typeface="Arial"/>
              <a:ea typeface="+mn-lt"/>
              <a:cs typeface="+mn-lt"/>
            </a:endParaRPr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r>
              <a:rPr lang="pt-BR" sz="3200" b="1" dirty="0" err="1">
                <a:latin typeface="Arial"/>
                <a:ea typeface="+mn-lt"/>
                <a:cs typeface="+mn-lt"/>
              </a:rPr>
              <a:t>True</a:t>
            </a:r>
            <a:endParaRPr lang="pt-BR" sz="3200" b="1" dirty="0">
              <a:latin typeface="Arial"/>
              <a:ea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5860388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ço Reservado para Número de Slide 1">
            <a:extLst>
              <a:ext uri="{FF2B5EF4-FFF2-40B4-BE49-F238E27FC236}">
                <a16:creationId xmlns:a16="http://schemas.microsoft.com/office/drawing/2014/main" id="{846FC07F-CBC4-0358-81FD-5B9C93232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5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2D7088D8-A4D7-4903-8B13-19ACD6824B27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pt-BR" altLang="pt-BR" sz="1400"/>
          </a:p>
        </p:txBody>
      </p:sp>
      <p:sp>
        <p:nvSpPr>
          <p:cNvPr id="7171" name="Text Box 2">
            <a:extLst>
              <a:ext uri="{FF2B5EF4-FFF2-40B4-BE49-F238E27FC236}">
                <a16:creationId xmlns:a16="http://schemas.microsoft.com/office/drawing/2014/main" id="{B6C17CBE-4E41-4E16-74F0-856972B47F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7488" y="141288"/>
            <a:ext cx="9144001" cy="1415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 dirty="0">
                <a:latin typeface="Arial"/>
                <a:cs typeface="Arial"/>
              </a:rPr>
              <a:t>LINGUAGEM DE PROG. PYTHON</a:t>
            </a:r>
          </a:p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pt-BR" altLang="pt-BR" sz="4200" b="1" dirty="0" err="1">
                <a:latin typeface="Arial"/>
                <a:cs typeface="Arial"/>
              </a:rPr>
              <a:t>Strings</a:t>
            </a:r>
            <a:r>
              <a:rPr lang="pt-BR" altLang="pt-BR" sz="4200" b="1" dirty="0">
                <a:latin typeface="Arial"/>
                <a:cs typeface="Arial"/>
              </a:rPr>
              <a:t> – Método </a:t>
            </a:r>
            <a:r>
              <a:rPr lang="pt-BR" altLang="pt-BR" sz="4200" b="1" dirty="0" err="1">
                <a:latin typeface="Arial"/>
                <a:cs typeface="Arial"/>
              </a:rPr>
              <a:t>find</a:t>
            </a:r>
            <a:r>
              <a:rPr lang="pt-BR" altLang="pt-BR" sz="4200" b="1" dirty="0">
                <a:latin typeface="Arial"/>
                <a:cs typeface="Arial"/>
              </a:rPr>
              <a:t>()</a:t>
            </a: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827178E-6D40-D08D-39C1-7011F46AC6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946" y="2238376"/>
            <a:ext cx="11498260" cy="4622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None/>
            </a:pPr>
            <a:r>
              <a:rPr lang="pt-BR" b="1" dirty="0">
                <a:latin typeface="Arial"/>
                <a:ea typeface="Tahoma"/>
                <a:cs typeface="Tahoma"/>
              </a:rPr>
              <a:t>Procura por uma ocorrência de determinado caractere em um string, e retorna o seu endereço dentro da string. Retornando -1 indica que não existe tal caractere na </a:t>
            </a:r>
            <a:r>
              <a:rPr lang="pt-BR" b="1" dirty="0" err="1">
                <a:latin typeface="Arial"/>
                <a:ea typeface="Tahoma"/>
                <a:cs typeface="Tahoma"/>
              </a:rPr>
              <a:t>string</a:t>
            </a:r>
            <a:r>
              <a:rPr lang="pt-BR" b="1" dirty="0">
                <a:latin typeface="Arial"/>
                <a:ea typeface="Tahoma"/>
                <a:cs typeface="Tahoma"/>
              </a:rPr>
              <a:t>.</a:t>
            </a:r>
          </a:p>
          <a:p>
            <a:pPr>
              <a:buNone/>
            </a:pPr>
            <a:r>
              <a:rPr lang="pt-BR" b="1" dirty="0">
                <a:latin typeface="Arial"/>
                <a:ea typeface="Tahoma"/>
                <a:cs typeface="Tahoma"/>
              </a:rPr>
              <a:t>Exemplo:</a:t>
            </a:r>
          </a:p>
          <a:p>
            <a:pPr>
              <a:buNone/>
            </a:pPr>
            <a:r>
              <a:rPr lang="pt-BR" b="1" dirty="0">
                <a:latin typeface="Arial"/>
                <a:ea typeface="Tahoma"/>
                <a:cs typeface="Tahoma"/>
              </a:rPr>
              <a:t>                NOME = "MARCOS JUNIOR"</a:t>
            </a:r>
            <a:endParaRPr lang="pt-BR" b="1" dirty="0">
              <a:latin typeface="Arial"/>
              <a:cs typeface="Arial"/>
            </a:endParaRPr>
          </a:p>
          <a:p>
            <a:pPr>
              <a:buNone/>
            </a:pPr>
            <a:r>
              <a:rPr lang="pt-BR" b="1" dirty="0">
                <a:latin typeface="Arial"/>
                <a:ea typeface="Tahoma"/>
                <a:cs typeface="Tahoma"/>
              </a:rPr>
              <a:t>                </a:t>
            </a:r>
            <a:r>
              <a:rPr lang="pt-BR" b="1" dirty="0" err="1">
                <a:latin typeface="Arial"/>
                <a:ea typeface="Tahoma"/>
                <a:cs typeface="Tahoma"/>
              </a:rPr>
              <a:t>NOME.find</a:t>
            </a:r>
            <a:r>
              <a:rPr lang="pt-BR" b="1" dirty="0">
                <a:latin typeface="Arial"/>
                <a:ea typeface="Tahoma"/>
                <a:cs typeface="Tahoma"/>
              </a:rPr>
              <a:t>("JUNIOR")</a:t>
            </a:r>
            <a:endParaRPr lang="pt-BR" b="1">
              <a:latin typeface="Arial"/>
              <a:cs typeface="Arial"/>
            </a:endParaRPr>
          </a:p>
          <a:p>
            <a:pPr>
              <a:buNone/>
            </a:pPr>
            <a:r>
              <a:rPr lang="pt-BR" b="1" dirty="0">
                <a:latin typeface="Arial"/>
                <a:ea typeface="Tahoma"/>
                <a:cs typeface="Tahoma"/>
              </a:rPr>
              <a:t>                </a:t>
            </a:r>
            <a:r>
              <a:rPr lang="pt-BR" b="1" dirty="0" err="1">
                <a:latin typeface="Arial"/>
                <a:ea typeface="Tahoma"/>
                <a:cs typeface="Tahoma"/>
              </a:rPr>
              <a:t>NOME.find</a:t>
            </a:r>
            <a:r>
              <a:rPr lang="pt-BR" b="1" dirty="0">
                <a:latin typeface="Arial"/>
                <a:ea typeface="Tahoma"/>
                <a:cs typeface="Tahoma"/>
              </a:rPr>
              <a:t>("JOÃO")</a:t>
            </a:r>
            <a:endParaRPr lang="pt-BR" b="1">
              <a:latin typeface="Arial"/>
              <a:cs typeface="Arial"/>
            </a:endParaRPr>
          </a:p>
          <a:p>
            <a:pPr>
              <a:buNone/>
            </a:pPr>
            <a:r>
              <a:rPr lang="pt-BR" b="1" dirty="0">
                <a:latin typeface="Arial"/>
                <a:ea typeface="Tahoma"/>
                <a:cs typeface="Tahoma"/>
              </a:rPr>
              <a:t/>
            </a:r>
            <a:br>
              <a:rPr lang="pt-BR" b="1" dirty="0">
                <a:latin typeface="Arial"/>
                <a:ea typeface="Tahoma"/>
                <a:cs typeface="Tahoma"/>
              </a:rPr>
            </a:br>
            <a:endParaRPr lang="pt-BR" b="1">
              <a:latin typeface="Arial"/>
              <a:ea typeface="Tahoma"/>
              <a:cs typeface="Tahoma"/>
            </a:endParaRPr>
          </a:p>
          <a:p>
            <a:pPr>
              <a:buNone/>
            </a:pPr>
            <a:endParaRPr lang="pt-BR" b="1" dirty="0">
              <a:latin typeface="Arial"/>
              <a:ea typeface="Tahoma"/>
              <a:cs typeface="Tahoma"/>
            </a:endParaRPr>
          </a:p>
          <a:p>
            <a:pPr>
              <a:buNone/>
            </a:pPr>
            <a:endParaRPr lang="pt-BR" sz="2800" b="1" dirty="0">
              <a:solidFill>
                <a:srgbClr val="000000"/>
              </a:solidFill>
              <a:latin typeface="Arial"/>
              <a:ea typeface="Tahoma"/>
              <a:cs typeface="Tahoma"/>
            </a:endParaRPr>
          </a:p>
          <a:p>
            <a:pPr>
              <a:buNone/>
            </a:pPr>
            <a:endParaRPr lang="pt-BR" b="1" dirty="0">
              <a:solidFill>
                <a:srgbClr val="000000"/>
              </a:solidFill>
              <a:latin typeface="Arial"/>
              <a:ea typeface="Tahoma"/>
              <a:cs typeface="Tahoma"/>
            </a:endParaRPr>
          </a:p>
          <a:p>
            <a:pPr algn="just">
              <a:spcBef>
                <a:spcPct val="0"/>
              </a:spcBef>
              <a:buFont typeface="Wingdings" panose="05000000000000000000" pitchFamily="2" charset="2"/>
              <a:buNone/>
            </a:pPr>
            <a:endParaRPr lang="pt-BR" b="1" cap="all" dirty="0">
              <a:solidFill>
                <a:srgbClr val="262673"/>
              </a:solidFill>
              <a:latin typeface="Book Antiqua"/>
              <a:ea typeface="Tahoma"/>
              <a:cs typeface="Tahoma"/>
            </a:endParaRPr>
          </a:p>
          <a:p>
            <a:pPr algn="just">
              <a:spcBef>
                <a:spcPct val="0"/>
              </a:spcBef>
              <a:buNone/>
            </a:pPr>
            <a:endParaRPr lang="pt-BR" b="1" cap="all" dirty="0">
              <a:solidFill>
                <a:srgbClr val="262673"/>
              </a:solidFill>
              <a:latin typeface="Book Antiqua"/>
              <a:ea typeface="Tahoma"/>
              <a:cs typeface="Tahoma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endParaRPr lang="pt-BR" b="1" cap="all" dirty="0">
              <a:solidFill>
                <a:srgbClr val="262673"/>
              </a:solidFill>
              <a:latin typeface="Book Antiqua"/>
              <a:ea typeface="Tahoma"/>
              <a:cs typeface="Tahoma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endParaRPr lang="pt-BR" b="1" dirty="0">
              <a:solidFill>
                <a:srgbClr val="000000"/>
              </a:solidFill>
              <a:latin typeface="Arial" panose="020B0604020202020204" pitchFamily="34" charset="0"/>
              <a:ea typeface="Tahoma"/>
              <a:cs typeface="Tahoma"/>
            </a:endParaRPr>
          </a:p>
          <a:p>
            <a:pPr algn="just">
              <a:spcBef>
                <a:spcPct val="0"/>
              </a:spcBef>
              <a:spcAft>
                <a:spcPts val="600"/>
              </a:spcAft>
              <a:buNone/>
            </a:pPr>
            <a:endParaRPr lang="pt-BR" b="1" dirty="0">
              <a:solidFill>
                <a:schemeClr val="bg2"/>
              </a:solidFill>
              <a:latin typeface="Arial" panose="020B0604020202020204" pitchFamily="34" charset="0"/>
              <a:ea typeface="Tahoma"/>
              <a:cs typeface="Tahoma"/>
            </a:endParaRPr>
          </a:p>
          <a:p>
            <a:pPr>
              <a:buNone/>
            </a:pPr>
            <a:endParaRPr lang="pt-BR" altLang="pt-BR" b="1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5D4B5DBC-C5AC-9AAD-5B86-1E275CFA73CD}"/>
              </a:ext>
            </a:extLst>
          </p:cNvPr>
          <p:cNvSpPr/>
          <p:nvPr/>
        </p:nvSpPr>
        <p:spPr bwMode="auto">
          <a:xfrm>
            <a:off x="8948739" y="4460080"/>
            <a:ext cx="2105023" cy="2069303"/>
          </a:xfrm>
          <a:prstGeom prst="roundRect">
            <a:avLst/>
          </a:prstGeom>
          <a:solidFill>
            <a:schemeClr val="accent5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pt-BR" sz="1200" b="1" dirty="0">
              <a:latin typeface="Arial"/>
              <a:ea typeface="+mn-lt"/>
              <a:cs typeface="+mn-lt"/>
            </a:endParaRPr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r>
              <a:rPr lang="pt-BR" sz="3200" b="1" dirty="0">
                <a:latin typeface="Arial"/>
                <a:ea typeface="+mn-lt"/>
                <a:cs typeface="+mn-lt"/>
              </a:rPr>
              <a:t>7</a:t>
            </a:r>
            <a:endParaRPr lang="pt-BR" dirty="0">
              <a:ea typeface="Tahoma"/>
              <a:cs typeface="Tahoma"/>
            </a:endParaRPr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pt-BR" sz="3200" b="1" dirty="0">
              <a:latin typeface="Arial"/>
              <a:ea typeface="Tahoma"/>
              <a:cs typeface="Tahoma"/>
            </a:endParaRPr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r>
              <a:rPr lang="pt-BR" sz="3200" b="1" dirty="0">
                <a:latin typeface="Arial"/>
                <a:ea typeface="Tahoma"/>
                <a:cs typeface="Tahoma"/>
              </a:rPr>
              <a:t>-1</a:t>
            </a:r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pt-BR" sz="3200" b="1" dirty="0">
              <a:latin typeface="Arial"/>
              <a:ea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182960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ço Reservado para Número de Slide 1">
            <a:extLst>
              <a:ext uri="{FF2B5EF4-FFF2-40B4-BE49-F238E27FC236}">
                <a16:creationId xmlns:a16="http://schemas.microsoft.com/office/drawing/2014/main" id="{846FC07F-CBC4-0358-81FD-5B9C93232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5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2D7088D8-A4D7-4903-8B13-19ACD6824B27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pt-BR" altLang="pt-BR" sz="1400"/>
          </a:p>
        </p:txBody>
      </p:sp>
      <p:sp>
        <p:nvSpPr>
          <p:cNvPr id="7171" name="Text Box 2">
            <a:extLst>
              <a:ext uri="{FF2B5EF4-FFF2-40B4-BE49-F238E27FC236}">
                <a16:creationId xmlns:a16="http://schemas.microsoft.com/office/drawing/2014/main" id="{B6C17CBE-4E41-4E16-74F0-856972B47F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7488" y="141288"/>
            <a:ext cx="9144001" cy="1415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 dirty="0">
                <a:latin typeface="Arial"/>
                <a:cs typeface="Arial"/>
              </a:rPr>
              <a:t>LINGUAGEM DE PROG. PYTHON</a:t>
            </a:r>
          </a:p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pt-BR" altLang="pt-BR" sz="4200" b="1" dirty="0" err="1">
                <a:latin typeface="Arial"/>
                <a:cs typeface="Arial"/>
              </a:rPr>
              <a:t>Strings</a:t>
            </a:r>
            <a:r>
              <a:rPr lang="pt-BR" altLang="pt-BR" sz="4200" b="1" dirty="0">
                <a:latin typeface="Arial"/>
                <a:cs typeface="Arial"/>
              </a:rPr>
              <a:t> – Método split()</a:t>
            </a: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827178E-6D40-D08D-39C1-7011F46AC6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946" y="2095502"/>
            <a:ext cx="11498260" cy="4764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None/>
            </a:pPr>
            <a:r>
              <a:rPr lang="pt-BR" sz="2800" b="1" dirty="0">
                <a:latin typeface="Arial"/>
                <a:ea typeface="Tahoma"/>
                <a:cs typeface="Tahoma"/>
              </a:rPr>
              <a:t>O método split() divide um texto todas as vezes   que  a </a:t>
            </a:r>
            <a:r>
              <a:rPr lang="pt-BR" sz="2800" b="1" dirty="0" err="1">
                <a:latin typeface="Arial"/>
                <a:ea typeface="Tahoma"/>
                <a:cs typeface="Tahoma"/>
              </a:rPr>
              <a:t>String</a:t>
            </a:r>
            <a:r>
              <a:rPr lang="pt-BR" sz="2800" b="1" dirty="0">
                <a:latin typeface="Arial"/>
                <a:ea typeface="Tahoma"/>
                <a:cs typeface="Tahoma"/>
              </a:rPr>
              <a:t>  passada como argumento for localizada. No código a seguir, definimos uma frase e sem seguida, invocamos a função split(), definindo como argumento, uma </a:t>
            </a:r>
            <a:r>
              <a:rPr lang="pt-BR" sz="2800" b="1" dirty="0" err="1">
                <a:latin typeface="Arial"/>
                <a:ea typeface="Tahoma"/>
                <a:cs typeface="Tahoma"/>
              </a:rPr>
              <a:t>String</a:t>
            </a:r>
            <a:r>
              <a:rPr lang="pt-BR" sz="2800" b="1" dirty="0">
                <a:latin typeface="Arial"/>
                <a:ea typeface="Tahoma"/>
                <a:cs typeface="Tahoma"/>
              </a:rPr>
              <a:t> que contém um único espaço em branco. </a:t>
            </a:r>
            <a:endParaRPr lang="en-US" sz="2800" b="1">
              <a:latin typeface="Arial"/>
              <a:ea typeface="Tahoma"/>
              <a:cs typeface="Tahoma"/>
            </a:endParaRPr>
          </a:p>
          <a:p>
            <a:pPr>
              <a:buNone/>
            </a:pPr>
            <a:r>
              <a:rPr lang="pt-BR" b="1" dirty="0">
                <a:latin typeface="Arial"/>
                <a:ea typeface="Tahoma"/>
                <a:cs typeface="Tahoma"/>
              </a:rPr>
              <a:t>Exemplo:</a:t>
            </a:r>
          </a:p>
          <a:p>
            <a:pPr>
              <a:buNone/>
            </a:pPr>
            <a:r>
              <a:rPr lang="pt-BR" sz="2800" b="1" dirty="0">
                <a:latin typeface="Arial"/>
                <a:ea typeface="Tahoma"/>
                <a:cs typeface="Tahoma"/>
              </a:rPr>
              <a:t>TEXTO = "Toda </a:t>
            </a:r>
            <a:r>
              <a:rPr lang="pt-BR" sz="2800" b="1" dirty="0" err="1">
                <a:latin typeface="Arial"/>
                <a:ea typeface="Tahoma"/>
                <a:cs typeface="Tahoma"/>
              </a:rPr>
              <a:t>string</a:t>
            </a:r>
            <a:r>
              <a:rPr lang="pt-BR" sz="2800" b="1" dirty="0">
                <a:latin typeface="Arial"/>
                <a:ea typeface="Tahoma"/>
                <a:cs typeface="Tahoma"/>
              </a:rPr>
              <a:t> em Python é imutável"</a:t>
            </a:r>
            <a:endParaRPr lang="pt-BR" sz="2800" b="1">
              <a:latin typeface="Arial"/>
              <a:cs typeface="Arial"/>
            </a:endParaRPr>
          </a:p>
          <a:p>
            <a:pPr>
              <a:buNone/>
            </a:pPr>
            <a:r>
              <a:rPr lang="pt-BR" sz="2800" b="1" dirty="0" err="1">
                <a:latin typeface="Arial"/>
                <a:ea typeface="Tahoma"/>
                <a:cs typeface="Tahoma"/>
              </a:rPr>
              <a:t>TEXTO.split</a:t>
            </a:r>
            <a:r>
              <a:rPr lang="pt-BR" sz="2800" b="1" dirty="0">
                <a:latin typeface="Arial"/>
                <a:ea typeface="Tahoma"/>
                <a:cs typeface="Tahoma"/>
              </a:rPr>
              <a:t>(" ")</a:t>
            </a:r>
            <a:endParaRPr lang="pt-BR" sz="2800" b="1">
              <a:latin typeface="Arial"/>
              <a:cs typeface="Arial"/>
            </a:endParaRPr>
          </a:p>
          <a:p>
            <a:pPr>
              <a:buNone/>
            </a:pPr>
            <a:endParaRPr lang="pt-BR" b="1" dirty="0">
              <a:latin typeface="Arial"/>
              <a:ea typeface="Tahoma"/>
              <a:cs typeface="Tahoma"/>
            </a:endParaRPr>
          </a:p>
          <a:p>
            <a:pPr>
              <a:buNone/>
            </a:pPr>
            <a:endParaRPr lang="pt-BR" b="1" dirty="0">
              <a:latin typeface="Arial"/>
              <a:ea typeface="Tahoma"/>
              <a:cs typeface="Tahoma"/>
            </a:endParaRPr>
          </a:p>
          <a:p>
            <a:pPr>
              <a:buNone/>
            </a:pPr>
            <a:endParaRPr lang="pt-BR" sz="2800" b="1" dirty="0">
              <a:solidFill>
                <a:srgbClr val="000000"/>
              </a:solidFill>
              <a:latin typeface="Arial"/>
              <a:ea typeface="Tahoma"/>
              <a:cs typeface="Tahoma"/>
            </a:endParaRPr>
          </a:p>
          <a:p>
            <a:pPr>
              <a:buNone/>
            </a:pPr>
            <a:endParaRPr lang="pt-BR" b="1" dirty="0">
              <a:solidFill>
                <a:srgbClr val="000000"/>
              </a:solidFill>
              <a:latin typeface="Arial"/>
              <a:ea typeface="Tahoma"/>
              <a:cs typeface="Tahoma"/>
            </a:endParaRPr>
          </a:p>
          <a:p>
            <a:pPr algn="just">
              <a:spcBef>
                <a:spcPct val="0"/>
              </a:spcBef>
              <a:buFont typeface="Wingdings" panose="05000000000000000000" pitchFamily="2" charset="2"/>
              <a:buNone/>
            </a:pPr>
            <a:endParaRPr lang="pt-BR" b="1" cap="all" dirty="0">
              <a:solidFill>
                <a:srgbClr val="262673"/>
              </a:solidFill>
              <a:latin typeface="Book Antiqua"/>
              <a:ea typeface="Tahoma"/>
              <a:cs typeface="Tahoma"/>
            </a:endParaRPr>
          </a:p>
          <a:p>
            <a:pPr algn="just">
              <a:spcBef>
                <a:spcPct val="0"/>
              </a:spcBef>
              <a:buNone/>
            </a:pPr>
            <a:endParaRPr lang="pt-BR" b="1" cap="all" dirty="0">
              <a:solidFill>
                <a:srgbClr val="262673"/>
              </a:solidFill>
              <a:latin typeface="Book Antiqua"/>
              <a:ea typeface="Tahoma"/>
              <a:cs typeface="Tahoma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endParaRPr lang="pt-BR" b="1" cap="all" dirty="0">
              <a:solidFill>
                <a:srgbClr val="262673"/>
              </a:solidFill>
              <a:latin typeface="Book Antiqua"/>
              <a:ea typeface="Tahoma"/>
              <a:cs typeface="Tahoma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endParaRPr lang="pt-BR" b="1" dirty="0">
              <a:solidFill>
                <a:srgbClr val="000000"/>
              </a:solidFill>
              <a:latin typeface="Arial" panose="020B0604020202020204" pitchFamily="34" charset="0"/>
              <a:ea typeface="Tahoma"/>
              <a:cs typeface="Tahoma"/>
            </a:endParaRPr>
          </a:p>
          <a:p>
            <a:pPr algn="just">
              <a:spcBef>
                <a:spcPct val="0"/>
              </a:spcBef>
              <a:spcAft>
                <a:spcPts val="600"/>
              </a:spcAft>
              <a:buNone/>
            </a:pPr>
            <a:endParaRPr lang="pt-BR" b="1" dirty="0">
              <a:solidFill>
                <a:schemeClr val="bg2"/>
              </a:solidFill>
              <a:latin typeface="Arial" panose="020B0604020202020204" pitchFamily="34" charset="0"/>
              <a:ea typeface="Tahoma"/>
              <a:cs typeface="Tahoma"/>
            </a:endParaRPr>
          </a:p>
          <a:p>
            <a:pPr>
              <a:buNone/>
            </a:pPr>
            <a:endParaRPr lang="pt-BR" altLang="pt-BR" b="1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5D4B5DBC-C5AC-9AAD-5B86-1E275CFA73CD}"/>
              </a:ext>
            </a:extLst>
          </p:cNvPr>
          <p:cNvSpPr/>
          <p:nvPr/>
        </p:nvSpPr>
        <p:spPr bwMode="auto">
          <a:xfrm>
            <a:off x="2078834" y="5995985"/>
            <a:ext cx="10046490" cy="819148"/>
          </a:xfrm>
          <a:prstGeom prst="roundRect">
            <a:avLst/>
          </a:prstGeom>
          <a:solidFill>
            <a:schemeClr val="accent5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r>
              <a:rPr lang="pt-BR" sz="3200" b="1" dirty="0">
                <a:latin typeface="Arial"/>
                <a:ea typeface="+mn-lt"/>
                <a:cs typeface="+mn-lt"/>
              </a:rPr>
              <a:t>['Toda', '</a:t>
            </a:r>
            <a:r>
              <a:rPr lang="pt-BR" sz="3200" b="1" dirty="0" err="1">
                <a:latin typeface="Arial"/>
                <a:ea typeface="+mn-lt"/>
                <a:cs typeface="+mn-lt"/>
              </a:rPr>
              <a:t>string</a:t>
            </a:r>
            <a:r>
              <a:rPr lang="pt-BR" sz="3200" b="1" dirty="0">
                <a:latin typeface="Arial"/>
                <a:ea typeface="+mn-lt"/>
                <a:cs typeface="+mn-lt"/>
              </a:rPr>
              <a:t>', 'em', 'Python', 'é', 'imutável']</a:t>
            </a:r>
            <a:endParaRPr lang="pt-BR" b="1">
              <a:latin typeface="Arial"/>
              <a:cs typeface="Arial"/>
            </a:endParaRPr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pt-BR" sz="3200" b="1" dirty="0">
              <a:latin typeface="Arial"/>
              <a:ea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2454768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ço Reservado para Número de Slide 1">
            <a:extLst>
              <a:ext uri="{FF2B5EF4-FFF2-40B4-BE49-F238E27FC236}">
                <a16:creationId xmlns:a16="http://schemas.microsoft.com/office/drawing/2014/main" id="{846FC07F-CBC4-0358-81FD-5B9C93232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5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2D7088D8-A4D7-4903-8B13-19ACD6824B27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pt-BR" altLang="pt-BR" sz="1400"/>
          </a:p>
        </p:txBody>
      </p:sp>
      <p:sp>
        <p:nvSpPr>
          <p:cNvPr id="7171" name="Text Box 2">
            <a:extLst>
              <a:ext uri="{FF2B5EF4-FFF2-40B4-BE49-F238E27FC236}">
                <a16:creationId xmlns:a16="http://schemas.microsoft.com/office/drawing/2014/main" id="{B6C17CBE-4E41-4E16-74F0-856972B47F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7488" y="141288"/>
            <a:ext cx="9144001" cy="1415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 dirty="0">
                <a:latin typeface="Arial"/>
                <a:cs typeface="Arial"/>
              </a:rPr>
              <a:t>LINGUAGEM DE PROG. PYTHON</a:t>
            </a:r>
          </a:p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pt-BR" altLang="pt-BR" sz="4200" b="1" dirty="0" err="1">
                <a:latin typeface="Arial"/>
                <a:cs typeface="Arial"/>
              </a:rPr>
              <a:t>Strings</a:t>
            </a:r>
            <a:r>
              <a:rPr lang="pt-BR" altLang="pt-BR" sz="4200" b="1" dirty="0">
                <a:latin typeface="Arial"/>
                <a:cs typeface="Arial"/>
              </a:rPr>
              <a:t> – Método </a:t>
            </a:r>
            <a:r>
              <a:rPr lang="pt-BR" altLang="pt-BR" sz="4200" b="1" dirty="0" err="1">
                <a:latin typeface="Arial"/>
                <a:cs typeface="Arial"/>
              </a:rPr>
              <a:t>list</a:t>
            </a:r>
            <a:r>
              <a:rPr lang="pt-BR" altLang="pt-BR" sz="4200" b="1" dirty="0">
                <a:latin typeface="Arial"/>
                <a:cs typeface="Arial"/>
              </a:rPr>
              <a:t>()</a:t>
            </a: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827178E-6D40-D08D-39C1-7011F46AC6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946" y="2238376"/>
            <a:ext cx="11498260" cy="4622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None/>
            </a:pPr>
            <a:r>
              <a:rPr lang="pt-BR" b="1" dirty="0">
                <a:latin typeface="Arial"/>
                <a:ea typeface="Tahoma"/>
                <a:cs typeface="Tahoma"/>
              </a:rPr>
              <a:t>Podemos usar a função </a:t>
            </a:r>
            <a:r>
              <a:rPr lang="pt-BR" b="1" dirty="0" err="1">
                <a:latin typeface="Arial"/>
                <a:ea typeface="Tahoma"/>
                <a:cs typeface="Tahoma"/>
              </a:rPr>
              <a:t>list</a:t>
            </a:r>
            <a:r>
              <a:rPr lang="pt-BR" b="1" dirty="0">
                <a:latin typeface="Arial"/>
                <a:ea typeface="Tahoma"/>
                <a:cs typeface="Tahoma"/>
              </a:rPr>
              <a:t> para transformar uma </a:t>
            </a:r>
            <a:r>
              <a:rPr lang="pt-BR" b="1" dirty="0" err="1">
                <a:latin typeface="Arial"/>
                <a:ea typeface="Tahoma"/>
                <a:cs typeface="Tahoma"/>
              </a:rPr>
              <a:t>string</a:t>
            </a:r>
            <a:r>
              <a:rPr lang="pt-BR" b="1" dirty="0">
                <a:latin typeface="Arial"/>
                <a:ea typeface="Tahoma"/>
                <a:cs typeface="Tahoma"/>
              </a:rPr>
              <a:t> em uma lista onde os itens da lista correspondem aos caracteres da </a:t>
            </a:r>
            <a:r>
              <a:rPr lang="pt-BR" b="1" dirty="0" err="1">
                <a:latin typeface="Arial"/>
                <a:ea typeface="Tahoma"/>
                <a:cs typeface="Tahoma"/>
              </a:rPr>
              <a:t>string</a:t>
            </a:r>
            <a:r>
              <a:rPr lang="pt-BR" b="1" dirty="0">
                <a:latin typeface="Arial"/>
                <a:ea typeface="Tahoma"/>
                <a:cs typeface="Tahoma"/>
              </a:rPr>
              <a:t>. </a:t>
            </a:r>
            <a:endParaRPr lang="pt-BR"/>
          </a:p>
          <a:p>
            <a:pPr>
              <a:buNone/>
            </a:pPr>
            <a:r>
              <a:rPr lang="pt-BR" b="1" dirty="0">
                <a:latin typeface="Arial"/>
                <a:ea typeface="Tahoma"/>
                <a:cs typeface="Tahoma"/>
              </a:rPr>
              <a:t>Exemplo:</a:t>
            </a:r>
          </a:p>
          <a:p>
            <a:pPr>
              <a:buNone/>
            </a:pPr>
            <a:r>
              <a:rPr lang="pt-BR" b="1" dirty="0">
                <a:latin typeface="Arial"/>
                <a:ea typeface="Tahoma"/>
                <a:cs typeface="Tahoma"/>
              </a:rPr>
              <a:t>                NOME = "UNIP"</a:t>
            </a:r>
            <a:endParaRPr lang="pt-BR" b="1" dirty="0">
              <a:latin typeface="Arial"/>
              <a:cs typeface="Arial"/>
            </a:endParaRPr>
          </a:p>
          <a:p>
            <a:pPr>
              <a:buNone/>
            </a:pPr>
            <a:r>
              <a:rPr lang="pt-BR" b="1" dirty="0">
                <a:latin typeface="Arial"/>
                <a:ea typeface="Tahoma"/>
                <a:cs typeface="Tahoma"/>
              </a:rPr>
              <a:t>                </a:t>
            </a:r>
            <a:r>
              <a:rPr lang="pt-BR" b="1" dirty="0" err="1">
                <a:latin typeface="Arial"/>
                <a:ea typeface="Tahoma"/>
                <a:cs typeface="Tahoma"/>
              </a:rPr>
              <a:t>list</a:t>
            </a:r>
            <a:r>
              <a:rPr lang="pt-BR" b="1" dirty="0">
                <a:latin typeface="Arial"/>
                <a:ea typeface="Tahoma"/>
                <a:cs typeface="Tahoma"/>
              </a:rPr>
              <a:t>(NOME)</a:t>
            </a:r>
            <a:endParaRPr lang="pt-BR" b="1" dirty="0">
              <a:latin typeface="Arial"/>
              <a:cs typeface="Arial"/>
            </a:endParaRPr>
          </a:p>
          <a:p>
            <a:pPr>
              <a:buNone/>
            </a:pPr>
            <a:endParaRPr lang="pt-BR" b="1" dirty="0">
              <a:latin typeface="Arial"/>
              <a:ea typeface="Tahoma"/>
              <a:cs typeface="Tahoma"/>
            </a:endParaRPr>
          </a:p>
          <a:p>
            <a:pPr>
              <a:buNone/>
            </a:pPr>
            <a:endParaRPr lang="pt-BR" b="1" dirty="0">
              <a:latin typeface="Arial"/>
              <a:ea typeface="Tahoma"/>
              <a:cs typeface="Tahoma"/>
            </a:endParaRPr>
          </a:p>
          <a:p>
            <a:pPr>
              <a:buNone/>
            </a:pPr>
            <a:endParaRPr lang="pt-BR" sz="2800" b="1" dirty="0">
              <a:solidFill>
                <a:srgbClr val="000000"/>
              </a:solidFill>
              <a:latin typeface="Arial"/>
              <a:ea typeface="Tahoma"/>
              <a:cs typeface="Tahoma"/>
            </a:endParaRPr>
          </a:p>
          <a:p>
            <a:pPr>
              <a:buNone/>
            </a:pPr>
            <a:endParaRPr lang="pt-BR" b="1" dirty="0">
              <a:solidFill>
                <a:srgbClr val="000000"/>
              </a:solidFill>
              <a:latin typeface="Arial"/>
              <a:ea typeface="Tahoma"/>
              <a:cs typeface="Tahoma"/>
            </a:endParaRPr>
          </a:p>
          <a:p>
            <a:pPr algn="just">
              <a:spcBef>
                <a:spcPct val="0"/>
              </a:spcBef>
              <a:buFont typeface="Wingdings" panose="05000000000000000000" pitchFamily="2" charset="2"/>
              <a:buNone/>
            </a:pPr>
            <a:endParaRPr lang="pt-BR" b="1" cap="all" dirty="0">
              <a:solidFill>
                <a:srgbClr val="262673"/>
              </a:solidFill>
              <a:latin typeface="Book Antiqua"/>
              <a:ea typeface="Tahoma"/>
              <a:cs typeface="Tahoma"/>
            </a:endParaRPr>
          </a:p>
          <a:p>
            <a:pPr algn="just">
              <a:spcBef>
                <a:spcPct val="0"/>
              </a:spcBef>
              <a:buNone/>
            </a:pPr>
            <a:endParaRPr lang="pt-BR" b="1" cap="all" dirty="0">
              <a:solidFill>
                <a:srgbClr val="262673"/>
              </a:solidFill>
              <a:latin typeface="Book Antiqua"/>
              <a:ea typeface="Tahoma"/>
              <a:cs typeface="Tahoma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endParaRPr lang="pt-BR" b="1" cap="all" dirty="0">
              <a:solidFill>
                <a:srgbClr val="262673"/>
              </a:solidFill>
              <a:latin typeface="Book Antiqua"/>
              <a:ea typeface="Tahoma"/>
              <a:cs typeface="Tahoma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endParaRPr lang="pt-BR" b="1" dirty="0">
              <a:solidFill>
                <a:srgbClr val="000000"/>
              </a:solidFill>
              <a:latin typeface="Arial" panose="020B0604020202020204" pitchFamily="34" charset="0"/>
              <a:ea typeface="Tahoma"/>
              <a:cs typeface="Tahoma"/>
            </a:endParaRPr>
          </a:p>
          <a:p>
            <a:pPr algn="just">
              <a:spcBef>
                <a:spcPct val="0"/>
              </a:spcBef>
              <a:spcAft>
                <a:spcPts val="600"/>
              </a:spcAft>
              <a:buNone/>
            </a:pPr>
            <a:endParaRPr lang="pt-BR" b="1" dirty="0">
              <a:solidFill>
                <a:schemeClr val="bg2"/>
              </a:solidFill>
              <a:latin typeface="Arial" panose="020B0604020202020204" pitchFamily="34" charset="0"/>
              <a:ea typeface="Tahoma"/>
              <a:cs typeface="Tahoma"/>
            </a:endParaRPr>
          </a:p>
          <a:p>
            <a:pPr>
              <a:buNone/>
            </a:pPr>
            <a:endParaRPr lang="pt-BR" altLang="pt-BR" b="1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5D4B5DBC-C5AC-9AAD-5B86-1E275CFA73CD}"/>
              </a:ext>
            </a:extLst>
          </p:cNvPr>
          <p:cNvSpPr/>
          <p:nvPr/>
        </p:nvSpPr>
        <p:spPr bwMode="auto">
          <a:xfrm>
            <a:off x="5579271" y="5531642"/>
            <a:ext cx="5474491" cy="997741"/>
          </a:xfrm>
          <a:prstGeom prst="roundRect">
            <a:avLst/>
          </a:prstGeom>
          <a:solidFill>
            <a:schemeClr val="accent5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pt-BR" sz="1200" b="1" dirty="0">
              <a:latin typeface="Arial"/>
              <a:ea typeface="+mn-lt"/>
              <a:cs typeface="+mn-lt"/>
            </a:endParaRPr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r>
              <a:rPr lang="pt-BR" sz="3200" dirty="0">
                <a:ea typeface="+mn-lt"/>
                <a:cs typeface="+mn-lt"/>
              </a:rPr>
              <a:t>['U', 'N', 'I', 'P']</a:t>
            </a:r>
            <a:endParaRPr lang="pt-BR" dirty="0"/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pt-BR" sz="3200" b="1" dirty="0">
              <a:latin typeface="Arial"/>
              <a:ea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6857321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ço Reservado para Número de Slide 1">
            <a:extLst>
              <a:ext uri="{FF2B5EF4-FFF2-40B4-BE49-F238E27FC236}">
                <a16:creationId xmlns:a16="http://schemas.microsoft.com/office/drawing/2014/main" id="{846FC07F-CBC4-0358-81FD-5B9C93232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5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2D7088D8-A4D7-4903-8B13-19ACD6824B27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pt-BR" altLang="pt-BR" sz="1400"/>
          </a:p>
        </p:txBody>
      </p:sp>
      <p:sp>
        <p:nvSpPr>
          <p:cNvPr id="7171" name="Text Box 2">
            <a:extLst>
              <a:ext uri="{FF2B5EF4-FFF2-40B4-BE49-F238E27FC236}">
                <a16:creationId xmlns:a16="http://schemas.microsoft.com/office/drawing/2014/main" id="{B6C17CBE-4E41-4E16-74F0-856972B47F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7488" y="141288"/>
            <a:ext cx="9144001" cy="1415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 dirty="0">
                <a:latin typeface="Arial"/>
                <a:cs typeface="Arial"/>
              </a:rPr>
              <a:t>LINGUAGEM DE PROG. PYTHON</a:t>
            </a:r>
          </a:p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pt-BR" altLang="pt-BR" sz="4200" b="1" dirty="0" err="1">
                <a:latin typeface="Arial"/>
                <a:cs typeface="Arial"/>
              </a:rPr>
              <a:t>Strings</a:t>
            </a:r>
            <a:r>
              <a:rPr lang="pt-BR" altLang="pt-BR" sz="4200" b="1" dirty="0">
                <a:latin typeface="Arial"/>
                <a:cs typeface="Arial"/>
              </a:rPr>
              <a:t> – Método </a:t>
            </a:r>
            <a:r>
              <a:rPr lang="pt-BR" altLang="pt-BR" sz="4200" b="1" dirty="0" err="1">
                <a:latin typeface="Arial"/>
                <a:cs typeface="Arial"/>
              </a:rPr>
              <a:t>join</a:t>
            </a:r>
            <a:r>
              <a:rPr lang="pt-BR" altLang="pt-BR" sz="4200" b="1" dirty="0">
                <a:latin typeface="Arial"/>
                <a:cs typeface="Arial"/>
              </a:rPr>
              <a:t>()</a:t>
            </a: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827178E-6D40-D08D-39C1-7011F46AC6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946" y="2238376"/>
            <a:ext cx="11498260" cy="4622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None/>
            </a:pPr>
            <a:r>
              <a:rPr lang="pt-BR" sz="2800" b="1" dirty="0">
                <a:latin typeface="Arial"/>
                <a:ea typeface="Tahoma"/>
                <a:cs typeface="Tahoma"/>
              </a:rPr>
              <a:t>O método join recebe como parâmetro uma sequência ou lista, e retorna uma string com a concatenação dos elementos da sequência/lista.  Junta cada item da </a:t>
            </a:r>
            <a:r>
              <a:rPr lang="pt-BR" sz="2800" b="1" dirty="0" err="1">
                <a:latin typeface="Arial"/>
                <a:ea typeface="Tahoma"/>
                <a:cs typeface="Tahoma"/>
              </a:rPr>
              <a:t>string</a:t>
            </a:r>
            <a:r>
              <a:rPr lang="pt-BR" sz="2800" b="1" dirty="0">
                <a:latin typeface="Arial"/>
                <a:ea typeface="Tahoma"/>
                <a:cs typeface="Tahoma"/>
              </a:rPr>
              <a:t> com um delimitador </a:t>
            </a:r>
            <a:endParaRPr lang="pt-BR" sz="2800" b="1">
              <a:latin typeface="Arial"/>
              <a:cs typeface="Arial"/>
            </a:endParaRPr>
          </a:p>
          <a:p>
            <a:pPr>
              <a:buNone/>
            </a:pPr>
            <a:r>
              <a:rPr lang="pt-BR" sz="2800" b="1" dirty="0">
                <a:latin typeface="Arial"/>
                <a:ea typeface="Tahoma"/>
                <a:cs typeface="Tahoma"/>
              </a:rPr>
              <a:t>especificado. </a:t>
            </a:r>
            <a:endParaRPr lang="pt-BR" sz="2800" b="1">
              <a:latin typeface="Arial"/>
              <a:cs typeface="Arial"/>
            </a:endParaRPr>
          </a:p>
          <a:p>
            <a:pPr>
              <a:buNone/>
            </a:pPr>
            <a:r>
              <a:rPr lang="pt-BR" sz="2800" b="1" dirty="0">
                <a:latin typeface="Arial"/>
                <a:ea typeface="Tahoma"/>
                <a:cs typeface="Tahoma"/>
              </a:rPr>
              <a:t>Exemplo:</a:t>
            </a:r>
          </a:p>
          <a:p>
            <a:pPr>
              <a:buNone/>
            </a:pPr>
            <a:r>
              <a:rPr lang="pt-BR" sz="2800" b="1" dirty="0">
                <a:latin typeface="Arial"/>
                <a:ea typeface="Tahoma"/>
                <a:cs typeface="Tahoma"/>
              </a:rPr>
              <a:t>ABCEDARIO = "ABCDEF"</a:t>
            </a:r>
            <a:endParaRPr lang="pt-BR" sz="2800" b="1">
              <a:latin typeface="Arial"/>
              <a:cs typeface="Arial"/>
            </a:endParaRPr>
          </a:p>
          <a:p>
            <a:pPr>
              <a:buNone/>
            </a:pPr>
            <a:r>
              <a:rPr lang="pt-BR" sz="2800" b="1" dirty="0">
                <a:latin typeface="Arial"/>
                <a:ea typeface="Tahoma"/>
                <a:cs typeface="Tahoma"/>
              </a:rPr>
              <a:t>",".</a:t>
            </a:r>
            <a:r>
              <a:rPr lang="pt-BR" sz="2800" b="1" dirty="0" err="1">
                <a:latin typeface="Arial"/>
                <a:ea typeface="Tahoma"/>
                <a:cs typeface="Tahoma"/>
              </a:rPr>
              <a:t>join</a:t>
            </a:r>
            <a:r>
              <a:rPr lang="pt-BR" sz="2800" b="1" dirty="0">
                <a:latin typeface="Arial"/>
                <a:ea typeface="Tahoma"/>
                <a:cs typeface="Tahoma"/>
              </a:rPr>
              <a:t>(ABCEDARIO)</a:t>
            </a:r>
            <a:endParaRPr lang="pt-BR" sz="2800" b="1">
              <a:latin typeface="Arial"/>
              <a:cs typeface="Arial"/>
            </a:endParaRPr>
          </a:p>
          <a:p>
            <a:pPr>
              <a:buNone/>
            </a:pPr>
            <a:r>
              <a:rPr lang="en-US" sz="2800" b="1" dirty="0">
                <a:latin typeface="Arial"/>
                <a:ea typeface="Tahoma"/>
                <a:cs typeface="Tahoma"/>
              </a:rPr>
              <a:t>NOMES = ["Ana","Bia","</a:t>
            </a:r>
            <a:r>
              <a:rPr lang="en-US" sz="2800" b="1" dirty="0" err="1">
                <a:latin typeface="Arial"/>
                <a:ea typeface="Tahoma"/>
                <a:cs typeface="Tahoma"/>
              </a:rPr>
              <a:t>Cida</a:t>
            </a:r>
            <a:r>
              <a:rPr lang="en-US" sz="2800" b="1" dirty="0">
                <a:latin typeface="Arial"/>
                <a:ea typeface="Tahoma"/>
                <a:cs typeface="Tahoma"/>
              </a:rPr>
              <a:t>","</a:t>
            </a:r>
            <a:r>
              <a:rPr lang="en-US" sz="2800" b="1" dirty="0" err="1">
                <a:latin typeface="Arial"/>
                <a:ea typeface="Tahoma"/>
                <a:cs typeface="Tahoma"/>
              </a:rPr>
              <a:t>Eli","Fabi","Gabi</a:t>
            </a:r>
            <a:r>
              <a:rPr lang="en-US" sz="2800" b="1" dirty="0">
                <a:latin typeface="Arial"/>
                <a:ea typeface="Tahoma"/>
                <a:cs typeface="Tahoma"/>
              </a:rPr>
              <a:t>"]</a:t>
            </a:r>
            <a:endParaRPr lang="en-US" sz="2800" b="1" dirty="0">
              <a:latin typeface="Arial"/>
              <a:cs typeface="Arial"/>
            </a:endParaRPr>
          </a:p>
          <a:p>
            <a:pPr>
              <a:buNone/>
            </a:pPr>
            <a:r>
              <a:rPr lang="en-US" sz="2800" b="1" dirty="0">
                <a:latin typeface="Arial"/>
                <a:ea typeface="Tahoma"/>
                <a:cs typeface="Tahoma"/>
              </a:rPr>
              <a:t>"-".join(NOMES)</a:t>
            </a:r>
            <a:endParaRPr lang="en-US" sz="2800" b="1">
              <a:latin typeface="Arial"/>
              <a:cs typeface="Arial"/>
            </a:endParaRPr>
          </a:p>
          <a:p>
            <a:pPr>
              <a:buNone/>
            </a:pPr>
            <a:r>
              <a:rPr lang="en-US" dirty="0"/>
              <a:t/>
            </a:r>
            <a:br>
              <a:rPr lang="en-US" dirty="0"/>
            </a:br>
            <a:endParaRPr lang="en-US">
              <a:ea typeface="Tahoma"/>
              <a:cs typeface="Tahoma"/>
            </a:endParaRPr>
          </a:p>
          <a:p>
            <a:pPr>
              <a:buNone/>
            </a:pPr>
            <a:endParaRPr lang="pt-BR" b="1" dirty="0">
              <a:latin typeface="Arial"/>
              <a:ea typeface="Tahoma"/>
              <a:cs typeface="Tahoma"/>
            </a:endParaRPr>
          </a:p>
          <a:p>
            <a:pPr>
              <a:buNone/>
            </a:pPr>
            <a:endParaRPr lang="pt-BR" b="1" dirty="0">
              <a:latin typeface="Arial"/>
              <a:ea typeface="Tahoma"/>
              <a:cs typeface="Tahoma"/>
            </a:endParaRPr>
          </a:p>
          <a:p>
            <a:pPr>
              <a:buNone/>
            </a:pPr>
            <a:endParaRPr lang="pt-BR" sz="2800" b="1" dirty="0">
              <a:solidFill>
                <a:srgbClr val="000000"/>
              </a:solidFill>
              <a:latin typeface="Arial"/>
              <a:ea typeface="Tahoma"/>
              <a:cs typeface="Tahoma"/>
            </a:endParaRPr>
          </a:p>
          <a:p>
            <a:pPr>
              <a:buNone/>
            </a:pPr>
            <a:endParaRPr lang="pt-BR" b="1" dirty="0">
              <a:solidFill>
                <a:srgbClr val="000000"/>
              </a:solidFill>
              <a:latin typeface="Arial"/>
              <a:ea typeface="Tahoma"/>
              <a:cs typeface="Tahoma"/>
            </a:endParaRPr>
          </a:p>
          <a:p>
            <a:pPr algn="just">
              <a:spcBef>
                <a:spcPct val="0"/>
              </a:spcBef>
              <a:buFont typeface="Wingdings" panose="05000000000000000000" pitchFamily="2" charset="2"/>
              <a:buNone/>
            </a:pPr>
            <a:endParaRPr lang="pt-BR" b="1" cap="all" dirty="0">
              <a:solidFill>
                <a:srgbClr val="262673"/>
              </a:solidFill>
              <a:latin typeface="Book Antiqua"/>
              <a:ea typeface="Tahoma"/>
              <a:cs typeface="Tahoma"/>
            </a:endParaRPr>
          </a:p>
          <a:p>
            <a:pPr algn="just">
              <a:spcBef>
                <a:spcPct val="0"/>
              </a:spcBef>
              <a:buNone/>
            </a:pPr>
            <a:endParaRPr lang="pt-BR" b="1" cap="all" dirty="0">
              <a:solidFill>
                <a:srgbClr val="262673"/>
              </a:solidFill>
              <a:latin typeface="Book Antiqua"/>
              <a:ea typeface="Tahoma"/>
              <a:cs typeface="Tahoma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endParaRPr lang="pt-BR" b="1" cap="all" dirty="0">
              <a:solidFill>
                <a:srgbClr val="262673"/>
              </a:solidFill>
              <a:latin typeface="Book Antiqua"/>
              <a:ea typeface="Tahoma"/>
              <a:cs typeface="Tahoma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endParaRPr lang="pt-BR" b="1" dirty="0">
              <a:solidFill>
                <a:srgbClr val="000000"/>
              </a:solidFill>
              <a:latin typeface="Arial" panose="020B0604020202020204" pitchFamily="34" charset="0"/>
              <a:ea typeface="Tahoma"/>
              <a:cs typeface="Tahoma"/>
            </a:endParaRPr>
          </a:p>
          <a:p>
            <a:pPr algn="just">
              <a:spcBef>
                <a:spcPct val="0"/>
              </a:spcBef>
              <a:spcAft>
                <a:spcPts val="600"/>
              </a:spcAft>
              <a:buNone/>
            </a:pPr>
            <a:endParaRPr lang="pt-BR" b="1" dirty="0">
              <a:solidFill>
                <a:schemeClr val="bg2"/>
              </a:solidFill>
              <a:latin typeface="Arial" panose="020B0604020202020204" pitchFamily="34" charset="0"/>
              <a:ea typeface="Tahoma"/>
              <a:cs typeface="Tahoma"/>
            </a:endParaRPr>
          </a:p>
          <a:p>
            <a:pPr>
              <a:buNone/>
            </a:pPr>
            <a:endParaRPr lang="pt-BR" altLang="pt-BR" b="1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5D4B5DBC-C5AC-9AAD-5B86-1E275CFA73CD}"/>
              </a:ext>
            </a:extLst>
          </p:cNvPr>
          <p:cNvSpPr/>
          <p:nvPr/>
        </p:nvSpPr>
        <p:spPr bwMode="auto">
          <a:xfrm>
            <a:off x="5876927" y="3769516"/>
            <a:ext cx="6141241" cy="1712115"/>
          </a:xfrm>
          <a:prstGeom prst="roundRect">
            <a:avLst/>
          </a:prstGeom>
          <a:solidFill>
            <a:schemeClr val="accent5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r>
              <a:rPr lang="pt-BR" sz="3200" b="1" dirty="0">
                <a:latin typeface="Arial"/>
                <a:ea typeface="+mn-lt"/>
                <a:cs typeface="+mn-lt"/>
              </a:rPr>
              <a:t>A,B,C,D,E,F</a:t>
            </a:r>
            <a:endParaRPr lang="pt-BR" sz="3200" b="1" dirty="0">
              <a:latin typeface="Arial"/>
              <a:ea typeface="Tahoma"/>
              <a:cs typeface="Tahoma"/>
            </a:endParaRPr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pt-BR" sz="3200" b="1" dirty="0">
              <a:latin typeface="Arial"/>
              <a:ea typeface="Tahoma"/>
              <a:cs typeface="Tahoma"/>
            </a:endParaRPr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r>
              <a:rPr lang="pt-BR" sz="3200" b="1" dirty="0">
                <a:latin typeface="Arial"/>
                <a:ea typeface="+mn-lt"/>
                <a:cs typeface="+mn-lt"/>
              </a:rPr>
              <a:t>Ana-Bia-Cida-Eli-Fabi-Gabi</a:t>
            </a:r>
            <a:endParaRPr lang="pt-BR" sz="3200" b="1" dirty="0">
              <a:latin typeface="Arial"/>
              <a:cs typeface="Arial"/>
            </a:endParaRPr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pt-BR" sz="3200" b="1" dirty="0">
              <a:latin typeface="Arial"/>
              <a:ea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9906769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ço Reservado para Número de Slide 1">
            <a:extLst>
              <a:ext uri="{FF2B5EF4-FFF2-40B4-BE49-F238E27FC236}">
                <a16:creationId xmlns:a16="http://schemas.microsoft.com/office/drawing/2014/main" id="{846FC07F-CBC4-0358-81FD-5B9C93232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5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2D7088D8-A4D7-4903-8B13-19ACD6824B27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pt-BR" altLang="pt-BR" sz="1400"/>
          </a:p>
        </p:txBody>
      </p:sp>
      <p:sp>
        <p:nvSpPr>
          <p:cNvPr id="7171" name="Text Box 2">
            <a:extLst>
              <a:ext uri="{FF2B5EF4-FFF2-40B4-BE49-F238E27FC236}">
                <a16:creationId xmlns:a16="http://schemas.microsoft.com/office/drawing/2014/main" id="{B6C17CBE-4E41-4E16-74F0-856972B47F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7488" y="141288"/>
            <a:ext cx="9144001" cy="1415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 dirty="0">
                <a:latin typeface="Arial"/>
                <a:cs typeface="Arial"/>
              </a:rPr>
              <a:t>LINGUAGEM DE PROG. PYTHON</a:t>
            </a:r>
          </a:p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pt-BR" altLang="pt-BR" sz="4200" b="1" dirty="0" err="1">
                <a:latin typeface="Arial"/>
                <a:cs typeface="Arial"/>
              </a:rPr>
              <a:t>Strings</a:t>
            </a:r>
            <a:r>
              <a:rPr lang="pt-BR" altLang="pt-BR" sz="4200" b="1" dirty="0">
                <a:latin typeface="Arial"/>
                <a:cs typeface="Arial"/>
              </a:rPr>
              <a:t> – Método </a:t>
            </a:r>
            <a:r>
              <a:rPr lang="pt-BR" altLang="pt-BR" sz="4200" b="1" dirty="0" err="1">
                <a:latin typeface="Arial"/>
                <a:cs typeface="Arial"/>
              </a:rPr>
              <a:t>replace</a:t>
            </a:r>
            <a:r>
              <a:rPr lang="pt-BR" altLang="pt-BR" sz="4200" b="1" dirty="0">
                <a:latin typeface="Arial"/>
                <a:cs typeface="Arial"/>
              </a:rPr>
              <a:t>()</a:t>
            </a: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827178E-6D40-D08D-39C1-7011F46AC6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946" y="2238376"/>
            <a:ext cx="11498260" cy="46458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None/>
            </a:pPr>
            <a:r>
              <a:rPr lang="pt-BR" sz="2800" b="1" dirty="0">
                <a:latin typeface="Arial"/>
                <a:ea typeface="Tahoma"/>
                <a:cs typeface="Tahoma"/>
              </a:rPr>
              <a:t>A função </a:t>
            </a:r>
            <a:r>
              <a:rPr lang="pt-BR" sz="2800" b="1" dirty="0" err="1">
                <a:latin typeface="Arial"/>
                <a:ea typeface="Tahoma"/>
                <a:cs typeface="Tahoma"/>
              </a:rPr>
              <a:t>replace</a:t>
            </a:r>
            <a:r>
              <a:rPr lang="pt-BR" sz="2800" b="1" dirty="0">
                <a:latin typeface="Arial"/>
                <a:ea typeface="Tahoma"/>
                <a:cs typeface="Tahoma"/>
              </a:rPr>
              <a:t>() substitui uma parte do texto por uma outra </a:t>
            </a:r>
            <a:endParaRPr lang="pt-BR" dirty="0"/>
          </a:p>
          <a:p>
            <a:pPr>
              <a:buNone/>
            </a:pPr>
            <a:r>
              <a:rPr lang="pt-BR" sz="2800" b="1" dirty="0" err="1">
                <a:latin typeface="Arial"/>
                <a:ea typeface="Tahoma"/>
                <a:cs typeface="Tahoma"/>
              </a:rPr>
              <a:t>String</a:t>
            </a:r>
            <a:r>
              <a:rPr lang="pt-BR" sz="2800" b="1" dirty="0">
                <a:latin typeface="Arial"/>
                <a:ea typeface="Tahoma"/>
                <a:cs typeface="Tahoma"/>
              </a:rPr>
              <a:t>. A palavra </a:t>
            </a:r>
            <a:r>
              <a:rPr lang="pt-BR" sz="2800" b="1" dirty="0" err="1">
                <a:latin typeface="Arial"/>
                <a:ea typeface="Tahoma"/>
                <a:cs typeface="Tahoma"/>
              </a:rPr>
              <a:t>replace</a:t>
            </a:r>
            <a:r>
              <a:rPr lang="pt-BR" sz="2800" b="1" dirty="0">
                <a:latin typeface="Arial"/>
                <a:ea typeface="Tahoma"/>
                <a:cs typeface="Tahoma"/>
              </a:rPr>
              <a:t>(), do Inglês, significa substituir e é isso que a função </a:t>
            </a:r>
            <a:r>
              <a:rPr lang="pt-BR" sz="2800" b="1" dirty="0" err="1">
                <a:latin typeface="Arial"/>
                <a:ea typeface="Tahoma"/>
                <a:cs typeface="Tahoma"/>
              </a:rPr>
              <a:t>replace</a:t>
            </a:r>
            <a:r>
              <a:rPr lang="pt-BR" sz="2800" b="1" dirty="0">
                <a:latin typeface="Arial"/>
                <a:ea typeface="Tahoma"/>
                <a:cs typeface="Tahoma"/>
              </a:rPr>
              <a:t>() da classe </a:t>
            </a:r>
            <a:r>
              <a:rPr lang="pt-BR" sz="2800" b="1" dirty="0" err="1">
                <a:latin typeface="Arial"/>
                <a:ea typeface="Tahoma"/>
                <a:cs typeface="Tahoma"/>
              </a:rPr>
              <a:t>String</a:t>
            </a:r>
            <a:r>
              <a:rPr lang="pt-BR" sz="2800" b="1" dirty="0">
                <a:latin typeface="Arial"/>
                <a:ea typeface="Tahoma"/>
                <a:cs typeface="Tahoma"/>
              </a:rPr>
              <a:t> do Python faz.</a:t>
            </a:r>
            <a:endParaRPr lang="pt-BR"/>
          </a:p>
          <a:p>
            <a:pPr>
              <a:buNone/>
            </a:pPr>
            <a:r>
              <a:rPr lang="pt-BR" b="1" dirty="0">
                <a:latin typeface="Arial"/>
                <a:ea typeface="Tahoma"/>
                <a:cs typeface="Tahoma"/>
              </a:rPr>
              <a:t>Exemplo:</a:t>
            </a:r>
          </a:p>
          <a:p>
            <a:pPr>
              <a:spcBef>
                <a:spcPct val="0"/>
              </a:spcBef>
              <a:spcAft>
                <a:spcPct val="0"/>
              </a:spcAft>
              <a:buNone/>
            </a:pPr>
            <a:r>
              <a:rPr lang="pt-BR" b="1" dirty="0">
                <a:latin typeface="Arial"/>
                <a:ea typeface="Tahoma"/>
                <a:cs typeface="Tahoma"/>
              </a:rPr>
              <a:t>s = "O </a:t>
            </a:r>
            <a:r>
              <a:rPr lang="pt-BR" b="1" dirty="0" err="1">
                <a:latin typeface="Arial"/>
                <a:ea typeface="Tahoma"/>
                <a:cs typeface="Tahoma"/>
              </a:rPr>
              <a:t>replace</a:t>
            </a:r>
            <a:r>
              <a:rPr lang="pt-BR" b="1" dirty="0">
                <a:latin typeface="Arial"/>
                <a:ea typeface="Tahoma"/>
                <a:cs typeface="Tahoma"/>
              </a:rPr>
              <a:t> aa substitui parte de um texto por outro" </a:t>
            </a:r>
            <a:endParaRPr lang="en-US" b="1" dirty="0">
              <a:latin typeface="Arial"/>
              <a:ea typeface="Tahoma"/>
              <a:cs typeface="Tahoma"/>
            </a:endParaRPr>
          </a:p>
          <a:p>
            <a:pPr>
              <a:spcBef>
                <a:spcPct val="0"/>
              </a:spcBef>
              <a:spcAft>
                <a:spcPct val="0"/>
              </a:spcAft>
              <a:buNone/>
            </a:pPr>
            <a:r>
              <a:rPr lang="pt-BR" b="1" dirty="0" err="1">
                <a:latin typeface="Arial"/>
                <a:ea typeface="Tahoma"/>
                <a:cs typeface="Tahoma"/>
              </a:rPr>
              <a:t>s.replace</a:t>
            </a:r>
            <a:r>
              <a:rPr lang="pt-BR" b="1" dirty="0">
                <a:latin typeface="Arial"/>
                <a:ea typeface="Tahoma"/>
                <a:cs typeface="Tahoma"/>
              </a:rPr>
              <a:t>("aa", "123") </a:t>
            </a:r>
            <a:endParaRPr lang="en-US" b="1">
              <a:latin typeface="Arial"/>
              <a:ea typeface="Tahoma"/>
              <a:cs typeface="Tahoma"/>
            </a:endParaRPr>
          </a:p>
          <a:p>
            <a:pPr>
              <a:buNone/>
            </a:pPr>
            <a:endParaRPr lang="pt-BR" b="1" dirty="0">
              <a:latin typeface="Arial"/>
              <a:ea typeface="Tahoma"/>
              <a:cs typeface="Tahoma"/>
            </a:endParaRPr>
          </a:p>
          <a:p>
            <a:pPr>
              <a:buNone/>
            </a:pPr>
            <a:endParaRPr lang="pt-BR" b="1" dirty="0">
              <a:latin typeface="Arial"/>
              <a:ea typeface="Tahoma"/>
              <a:cs typeface="Tahoma"/>
            </a:endParaRPr>
          </a:p>
          <a:p>
            <a:pPr>
              <a:buNone/>
            </a:pPr>
            <a:endParaRPr lang="pt-BR" sz="2800" b="1" dirty="0">
              <a:solidFill>
                <a:srgbClr val="000000"/>
              </a:solidFill>
              <a:latin typeface="Arial"/>
              <a:ea typeface="Tahoma"/>
              <a:cs typeface="Tahoma"/>
            </a:endParaRPr>
          </a:p>
          <a:p>
            <a:pPr>
              <a:buNone/>
            </a:pPr>
            <a:endParaRPr lang="pt-BR" b="1" dirty="0">
              <a:solidFill>
                <a:srgbClr val="000000"/>
              </a:solidFill>
              <a:latin typeface="Arial"/>
              <a:ea typeface="Tahoma"/>
              <a:cs typeface="Tahoma"/>
            </a:endParaRPr>
          </a:p>
          <a:p>
            <a:pPr algn="just">
              <a:spcBef>
                <a:spcPct val="0"/>
              </a:spcBef>
              <a:buFont typeface="Wingdings" panose="05000000000000000000" pitchFamily="2" charset="2"/>
              <a:buNone/>
            </a:pPr>
            <a:endParaRPr lang="pt-BR" b="1" cap="all" dirty="0">
              <a:solidFill>
                <a:srgbClr val="262673"/>
              </a:solidFill>
              <a:latin typeface="Book Antiqua"/>
              <a:ea typeface="Tahoma"/>
              <a:cs typeface="Tahoma"/>
            </a:endParaRPr>
          </a:p>
          <a:p>
            <a:pPr algn="just">
              <a:spcBef>
                <a:spcPct val="0"/>
              </a:spcBef>
              <a:buNone/>
            </a:pPr>
            <a:endParaRPr lang="pt-BR" b="1" cap="all" dirty="0">
              <a:solidFill>
                <a:srgbClr val="262673"/>
              </a:solidFill>
              <a:latin typeface="Book Antiqua"/>
              <a:ea typeface="Tahoma"/>
              <a:cs typeface="Tahoma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endParaRPr lang="pt-BR" b="1" cap="all" dirty="0">
              <a:solidFill>
                <a:srgbClr val="262673"/>
              </a:solidFill>
              <a:latin typeface="Book Antiqua"/>
              <a:ea typeface="Tahoma"/>
              <a:cs typeface="Tahoma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endParaRPr lang="pt-BR" b="1" dirty="0">
              <a:solidFill>
                <a:srgbClr val="000000"/>
              </a:solidFill>
              <a:latin typeface="Arial" panose="020B0604020202020204" pitchFamily="34" charset="0"/>
              <a:ea typeface="Tahoma"/>
              <a:cs typeface="Tahoma"/>
            </a:endParaRPr>
          </a:p>
          <a:p>
            <a:pPr algn="just">
              <a:spcBef>
                <a:spcPct val="0"/>
              </a:spcBef>
              <a:spcAft>
                <a:spcPts val="600"/>
              </a:spcAft>
              <a:buNone/>
            </a:pPr>
            <a:endParaRPr lang="pt-BR" b="1" dirty="0">
              <a:solidFill>
                <a:schemeClr val="bg2"/>
              </a:solidFill>
              <a:latin typeface="Arial" panose="020B0604020202020204" pitchFamily="34" charset="0"/>
              <a:ea typeface="Tahoma"/>
              <a:cs typeface="Tahoma"/>
            </a:endParaRPr>
          </a:p>
          <a:p>
            <a:pPr>
              <a:buNone/>
            </a:pPr>
            <a:endParaRPr lang="pt-BR" altLang="pt-BR" b="1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5D4B5DBC-C5AC-9AAD-5B86-1E275CFA73CD}"/>
              </a:ext>
            </a:extLst>
          </p:cNvPr>
          <p:cNvSpPr/>
          <p:nvPr/>
        </p:nvSpPr>
        <p:spPr bwMode="auto">
          <a:xfrm>
            <a:off x="935834" y="5531642"/>
            <a:ext cx="10820397" cy="997741"/>
          </a:xfrm>
          <a:prstGeom prst="roundRect">
            <a:avLst/>
          </a:prstGeom>
          <a:solidFill>
            <a:schemeClr val="accent5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pt-BR" sz="1200" b="1" dirty="0">
              <a:latin typeface="Arial"/>
              <a:ea typeface="+mn-lt"/>
              <a:cs typeface="+mn-lt"/>
            </a:endParaRPr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r>
              <a:rPr lang="pt-BR" sz="3200" b="1" dirty="0">
                <a:latin typeface="Arial"/>
                <a:ea typeface="Tahoma"/>
                <a:cs typeface="Arial"/>
              </a:rPr>
              <a:t>O </a:t>
            </a:r>
            <a:r>
              <a:rPr lang="pt-BR" sz="3200" b="1" dirty="0" err="1">
                <a:latin typeface="Arial"/>
                <a:ea typeface="Tahoma"/>
                <a:cs typeface="Arial"/>
              </a:rPr>
              <a:t>replace</a:t>
            </a:r>
            <a:r>
              <a:rPr lang="pt-BR" sz="3200" b="1" dirty="0">
                <a:latin typeface="Arial"/>
                <a:ea typeface="Tahoma"/>
                <a:cs typeface="Arial"/>
              </a:rPr>
              <a:t> 123 substitui parte de um texto por outro</a:t>
            </a:r>
            <a:endParaRPr lang="pt-BR" dirty="0"/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pt-BR" sz="3200" b="1" dirty="0">
              <a:latin typeface="Arial"/>
              <a:ea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098218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ço Reservado para Número de Slide 1">
            <a:extLst>
              <a:ext uri="{FF2B5EF4-FFF2-40B4-BE49-F238E27FC236}">
                <a16:creationId xmlns:a16="http://schemas.microsoft.com/office/drawing/2014/main" id="{846FC07F-CBC4-0358-81FD-5B9C93232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5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2D7088D8-A4D7-4903-8B13-19ACD6824B27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pt-BR" altLang="pt-BR" sz="1400"/>
          </a:p>
        </p:txBody>
      </p:sp>
      <p:sp>
        <p:nvSpPr>
          <p:cNvPr id="7171" name="Text Box 2">
            <a:extLst>
              <a:ext uri="{FF2B5EF4-FFF2-40B4-BE49-F238E27FC236}">
                <a16:creationId xmlns:a16="http://schemas.microsoft.com/office/drawing/2014/main" id="{B6C17CBE-4E41-4E16-74F0-856972B47F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7488" y="141288"/>
            <a:ext cx="9144001" cy="1415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 dirty="0">
                <a:latin typeface="Arial"/>
                <a:cs typeface="Arial"/>
              </a:rPr>
              <a:t>LINGUAGEM DE PROG. PYTHON</a:t>
            </a:r>
          </a:p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pt-BR" altLang="pt-BR" sz="4200" b="1" dirty="0" err="1">
                <a:latin typeface="Arial"/>
                <a:cs typeface="Arial"/>
              </a:rPr>
              <a:t>Strings</a:t>
            </a:r>
            <a:r>
              <a:rPr lang="pt-BR" altLang="pt-BR" sz="4200" b="1" dirty="0">
                <a:latin typeface="Arial"/>
                <a:cs typeface="Arial"/>
              </a:rPr>
              <a:t> – Método </a:t>
            </a:r>
            <a:r>
              <a:rPr lang="pt-BR" altLang="pt-BR" sz="4200" b="1" dirty="0" err="1">
                <a:latin typeface="Arial"/>
                <a:cs typeface="Arial"/>
              </a:rPr>
              <a:t>replace</a:t>
            </a:r>
            <a:r>
              <a:rPr lang="pt-BR" altLang="pt-BR" sz="4200" b="1" dirty="0">
                <a:latin typeface="Arial"/>
                <a:cs typeface="Arial"/>
              </a:rPr>
              <a:t>()</a:t>
            </a: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827178E-6D40-D08D-39C1-7011F46AC6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946" y="2238376"/>
            <a:ext cx="11498260" cy="46458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None/>
            </a:pPr>
            <a:r>
              <a:rPr lang="pt-BR" b="1" dirty="0">
                <a:latin typeface="Arial"/>
                <a:ea typeface="Tahoma"/>
                <a:cs typeface="Tahoma"/>
              </a:rPr>
              <a:t>Exemplo:</a:t>
            </a:r>
            <a:endParaRPr lang="pt-BR"/>
          </a:p>
          <a:p>
            <a:pPr>
              <a:buNone/>
            </a:pPr>
            <a:endParaRPr lang="pt-BR" dirty="0">
              <a:latin typeface="Tahoma"/>
              <a:ea typeface="Tahoma"/>
              <a:cs typeface="Tahoma"/>
            </a:endParaRPr>
          </a:p>
          <a:p>
            <a:pPr>
              <a:buNone/>
            </a:pPr>
            <a:r>
              <a:rPr lang="pt-BR" sz="2800" b="1" dirty="0">
                <a:latin typeface="Arial"/>
                <a:ea typeface="Tahoma"/>
                <a:cs typeface="Tahoma"/>
              </a:rPr>
              <a:t>TEXTO = "HELLO WORLD!"</a:t>
            </a:r>
            <a:endParaRPr lang="en-US" sz="2800" b="1">
              <a:latin typeface="Arial"/>
              <a:ea typeface="Tahoma"/>
              <a:cs typeface="Tahoma"/>
            </a:endParaRPr>
          </a:p>
          <a:p>
            <a:pPr>
              <a:buNone/>
            </a:pPr>
            <a:r>
              <a:rPr lang="pt-BR" sz="2800" b="1" dirty="0">
                <a:latin typeface="Arial"/>
                <a:ea typeface="Tahoma"/>
                <a:cs typeface="Tahoma"/>
              </a:rPr>
              <a:t>print(</a:t>
            </a:r>
            <a:r>
              <a:rPr lang="pt-BR" sz="2800" b="1" dirty="0" err="1">
                <a:latin typeface="Arial"/>
                <a:ea typeface="Tahoma"/>
                <a:cs typeface="Tahoma"/>
              </a:rPr>
              <a:t>TEXTO.replace</a:t>
            </a:r>
            <a:r>
              <a:rPr lang="pt-BR" sz="2800" b="1" dirty="0">
                <a:latin typeface="Arial"/>
                <a:ea typeface="Tahoma"/>
                <a:cs typeface="Tahoma"/>
              </a:rPr>
              <a:t>("O", "X"))</a:t>
            </a:r>
            <a:endParaRPr lang="pt-BR" sz="2800" b="1">
              <a:latin typeface="Arial"/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  <a:buNone/>
            </a:pPr>
            <a:endParaRPr lang="pt-BR" sz="2800" b="1" dirty="0">
              <a:latin typeface="Arial"/>
              <a:ea typeface="Tahoma"/>
              <a:cs typeface="Tahoma"/>
            </a:endParaRPr>
          </a:p>
          <a:p>
            <a:pPr>
              <a:buNone/>
            </a:pPr>
            <a:endParaRPr lang="pt-BR" b="1" dirty="0">
              <a:latin typeface="Arial"/>
              <a:ea typeface="Tahoma"/>
              <a:cs typeface="Tahoma"/>
            </a:endParaRPr>
          </a:p>
          <a:p>
            <a:pPr>
              <a:buNone/>
            </a:pPr>
            <a:endParaRPr lang="pt-BR" b="1" dirty="0">
              <a:latin typeface="Arial"/>
              <a:ea typeface="Tahoma"/>
              <a:cs typeface="Tahoma"/>
            </a:endParaRPr>
          </a:p>
          <a:p>
            <a:pPr>
              <a:buNone/>
            </a:pPr>
            <a:endParaRPr lang="pt-BR" sz="2800" b="1" dirty="0">
              <a:solidFill>
                <a:srgbClr val="000000"/>
              </a:solidFill>
              <a:latin typeface="Arial"/>
              <a:ea typeface="Tahoma"/>
              <a:cs typeface="Tahoma"/>
            </a:endParaRPr>
          </a:p>
          <a:p>
            <a:pPr>
              <a:buNone/>
            </a:pPr>
            <a:endParaRPr lang="pt-BR" b="1" dirty="0">
              <a:solidFill>
                <a:srgbClr val="000000"/>
              </a:solidFill>
              <a:latin typeface="Arial"/>
              <a:ea typeface="Tahoma"/>
              <a:cs typeface="Tahoma"/>
            </a:endParaRPr>
          </a:p>
          <a:p>
            <a:pPr algn="just">
              <a:spcBef>
                <a:spcPct val="0"/>
              </a:spcBef>
              <a:buFont typeface="Wingdings" panose="05000000000000000000" pitchFamily="2" charset="2"/>
              <a:buNone/>
            </a:pPr>
            <a:endParaRPr lang="pt-BR" b="1" cap="all" dirty="0">
              <a:solidFill>
                <a:srgbClr val="262673"/>
              </a:solidFill>
              <a:latin typeface="Book Antiqua"/>
              <a:ea typeface="Tahoma"/>
              <a:cs typeface="Tahoma"/>
            </a:endParaRPr>
          </a:p>
          <a:p>
            <a:pPr algn="just">
              <a:spcBef>
                <a:spcPct val="0"/>
              </a:spcBef>
              <a:buNone/>
            </a:pPr>
            <a:endParaRPr lang="pt-BR" b="1" cap="all" dirty="0">
              <a:solidFill>
                <a:srgbClr val="262673"/>
              </a:solidFill>
              <a:latin typeface="Book Antiqua"/>
              <a:ea typeface="Tahoma"/>
              <a:cs typeface="Tahoma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endParaRPr lang="pt-BR" b="1" cap="all" dirty="0">
              <a:solidFill>
                <a:srgbClr val="262673"/>
              </a:solidFill>
              <a:latin typeface="Book Antiqua"/>
              <a:ea typeface="Tahoma"/>
              <a:cs typeface="Tahoma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endParaRPr lang="pt-BR" b="1" dirty="0">
              <a:solidFill>
                <a:srgbClr val="000000"/>
              </a:solidFill>
              <a:latin typeface="Arial" panose="020B0604020202020204" pitchFamily="34" charset="0"/>
              <a:ea typeface="Tahoma"/>
              <a:cs typeface="Tahoma"/>
            </a:endParaRPr>
          </a:p>
          <a:p>
            <a:pPr algn="just">
              <a:spcBef>
                <a:spcPct val="0"/>
              </a:spcBef>
              <a:spcAft>
                <a:spcPts val="600"/>
              </a:spcAft>
              <a:buNone/>
            </a:pPr>
            <a:endParaRPr lang="pt-BR" b="1" dirty="0">
              <a:solidFill>
                <a:schemeClr val="bg2"/>
              </a:solidFill>
              <a:latin typeface="Arial" panose="020B0604020202020204" pitchFamily="34" charset="0"/>
              <a:ea typeface="Tahoma"/>
              <a:cs typeface="Tahoma"/>
            </a:endParaRPr>
          </a:p>
          <a:p>
            <a:pPr>
              <a:buNone/>
            </a:pPr>
            <a:endParaRPr lang="pt-BR" altLang="pt-BR" b="1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5D4B5DBC-C5AC-9AAD-5B86-1E275CFA73CD}"/>
              </a:ext>
            </a:extLst>
          </p:cNvPr>
          <p:cNvSpPr/>
          <p:nvPr/>
        </p:nvSpPr>
        <p:spPr bwMode="auto">
          <a:xfrm>
            <a:off x="6281740" y="3638548"/>
            <a:ext cx="4879179" cy="997741"/>
          </a:xfrm>
          <a:prstGeom prst="roundRect">
            <a:avLst/>
          </a:prstGeom>
          <a:solidFill>
            <a:schemeClr val="accent5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pt-BR" sz="1000" b="1" dirty="0">
              <a:latin typeface="Arial"/>
              <a:ea typeface="+mn-lt"/>
              <a:cs typeface="+mn-lt"/>
            </a:endParaRPr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r>
              <a:rPr lang="pt-BR" sz="3200" b="1" dirty="0">
                <a:latin typeface="Arial"/>
                <a:ea typeface="+mn-lt"/>
                <a:cs typeface="+mn-lt"/>
              </a:rPr>
              <a:t>HELLX WXRLD!</a:t>
            </a:r>
            <a:endParaRPr lang="pt-BR" b="1" dirty="0">
              <a:latin typeface="Arial"/>
            </a:endParaRPr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pt-BR" sz="3200" b="1" dirty="0">
              <a:latin typeface="Arial"/>
              <a:ea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4159275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ço Reservado para Número de Slide 1">
            <a:extLst>
              <a:ext uri="{FF2B5EF4-FFF2-40B4-BE49-F238E27FC236}">
                <a16:creationId xmlns:a16="http://schemas.microsoft.com/office/drawing/2014/main" id="{846FC07F-CBC4-0358-81FD-5B9C93232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5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2D7088D8-A4D7-4903-8B13-19ACD6824B27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pt-BR" altLang="pt-BR" sz="1400"/>
          </a:p>
        </p:txBody>
      </p:sp>
      <p:sp>
        <p:nvSpPr>
          <p:cNvPr id="7171" name="Text Box 2">
            <a:extLst>
              <a:ext uri="{FF2B5EF4-FFF2-40B4-BE49-F238E27FC236}">
                <a16:creationId xmlns:a16="http://schemas.microsoft.com/office/drawing/2014/main" id="{B6C17CBE-4E41-4E16-74F0-856972B47F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7488" y="141288"/>
            <a:ext cx="9144001" cy="1415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 dirty="0">
                <a:latin typeface="Arial"/>
                <a:cs typeface="Arial"/>
              </a:rPr>
              <a:t>LINGUAGEM DE PROG. PYTHON</a:t>
            </a:r>
          </a:p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pt-BR" altLang="pt-BR" sz="4200" b="1" dirty="0" err="1">
                <a:latin typeface="Arial"/>
                <a:cs typeface="Arial"/>
              </a:rPr>
              <a:t>Strings</a:t>
            </a:r>
            <a:r>
              <a:rPr lang="pt-BR" altLang="pt-BR" sz="4200" b="1" dirty="0">
                <a:latin typeface="Arial"/>
                <a:cs typeface="Arial"/>
              </a:rPr>
              <a:t> – Método strip()</a:t>
            </a: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827178E-6D40-D08D-39C1-7011F46AC6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946" y="2238376"/>
            <a:ext cx="11498260" cy="46458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None/>
            </a:pPr>
            <a:r>
              <a:rPr lang="pt-BR" sz="2800" b="1" dirty="0">
                <a:latin typeface="Arial"/>
                <a:ea typeface="Tahoma"/>
                <a:cs typeface="Tahoma"/>
              </a:rPr>
              <a:t>O método strip retorna uma </a:t>
            </a:r>
            <a:r>
              <a:rPr lang="pt-BR" sz="2800" b="1" dirty="0" err="1">
                <a:latin typeface="Arial"/>
                <a:ea typeface="Tahoma"/>
                <a:cs typeface="Tahoma"/>
              </a:rPr>
              <a:t>string</a:t>
            </a:r>
            <a:r>
              <a:rPr lang="pt-BR" sz="2800" b="1" dirty="0">
                <a:latin typeface="Arial"/>
                <a:ea typeface="Tahoma"/>
                <a:cs typeface="Tahoma"/>
              </a:rPr>
              <a:t> sem os brancos e mudança de linhas no início e no final de uma </a:t>
            </a:r>
            <a:r>
              <a:rPr lang="pt-BR" sz="2800" b="1" dirty="0" err="1">
                <a:latin typeface="Arial"/>
                <a:ea typeface="Tahoma"/>
                <a:cs typeface="Tahoma"/>
              </a:rPr>
              <a:t>string</a:t>
            </a:r>
            <a:r>
              <a:rPr lang="pt-BR" sz="2800" b="1" dirty="0">
                <a:latin typeface="Arial"/>
                <a:ea typeface="Tahoma"/>
                <a:cs typeface="Tahoma"/>
              </a:rPr>
              <a:t>.  Retira espaços em branco no começo e no fim </a:t>
            </a:r>
            <a:endParaRPr lang="pt-BR" sz="2800" dirty="0">
              <a:latin typeface="Arial"/>
              <a:ea typeface="Tahoma"/>
              <a:cs typeface="Tahoma"/>
            </a:endParaRPr>
          </a:p>
          <a:p>
            <a:pPr>
              <a:buNone/>
            </a:pPr>
            <a:r>
              <a:rPr lang="pt-BR" b="1" dirty="0">
                <a:latin typeface="Arial"/>
                <a:ea typeface="Tahoma"/>
                <a:cs typeface="Tahoma"/>
              </a:rPr>
              <a:t>Exemplo:</a:t>
            </a:r>
          </a:p>
          <a:p>
            <a:pPr>
              <a:spcBef>
                <a:spcPct val="0"/>
              </a:spcBef>
              <a:spcAft>
                <a:spcPct val="0"/>
              </a:spcAft>
              <a:buNone/>
            </a:pPr>
            <a:r>
              <a:rPr lang="pt-BR" b="1" dirty="0">
                <a:latin typeface="Arial"/>
                <a:ea typeface="Tahoma"/>
                <a:cs typeface="Tahoma"/>
              </a:rPr>
              <a:t>TEXTO = "    O texto veio com espaços no início e final    " </a:t>
            </a:r>
            <a:endParaRPr lang="en-US" b="1" dirty="0">
              <a:latin typeface="Arial"/>
              <a:ea typeface="Tahoma"/>
              <a:cs typeface="Tahoma"/>
            </a:endParaRPr>
          </a:p>
          <a:p>
            <a:pPr>
              <a:spcBef>
                <a:spcPct val="0"/>
              </a:spcBef>
              <a:spcAft>
                <a:spcPct val="0"/>
              </a:spcAft>
              <a:buNone/>
            </a:pPr>
            <a:r>
              <a:rPr lang="pt-BR" b="1" dirty="0">
                <a:latin typeface="Arial"/>
                <a:ea typeface="Tahoma"/>
                <a:cs typeface="Tahoma"/>
              </a:rPr>
              <a:t>print(</a:t>
            </a:r>
            <a:r>
              <a:rPr lang="pt-BR" b="1" dirty="0" err="1">
                <a:latin typeface="Arial"/>
                <a:ea typeface="Tahoma"/>
                <a:cs typeface="Tahoma"/>
              </a:rPr>
              <a:t>TEXTO.strip</a:t>
            </a:r>
            <a:r>
              <a:rPr lang="pt-BR" b="1" dirty="0">
                <a:latin typeface="Arial"/>
                <a:ea typeface="Tahoma"/>
                <a:cs typeface="Tahoma"/>
              </a:rPr>
              <a:t>())</a:t>
            </a:r>
          </a:p>
          <a:p>
            <a:pPr>
              <a:buNone/>
            </a:pPr>
            <a:endParaRPr lang="pt-BR" b="1" dirty="0">
              <a:latin typeface="Arial"/>
              <a:ea typeface="Tahoma"/>
              <a:cs typeface="Tahoma"/>
            </a:endParaRPr>
          </a:p>
          <a:p>
            <a:pPr>
              <a:buNone/>
            </a:pPr>
            <a:endParaRPr lang="pt-BR" b="1" dirty="0">
              <a:latin typeface="Arial"/>
              <a:ea typeface="Tahoma"/>
              <a:cs typeface="Tahoma"/>
            </a:endParaRPr>
          </a:p>
          <a:p>
            <a:pPr>
              <a:buNone/>
            </a:pPr>
            <a:endParaRPr lang="pt-BR" sz="2800" b="1" dirty="0">
              <a:solidFill>
                <a:srgbClr val="000000"/>
              </a:solidFill>
              <a:latin typeface="Arial"/>
              <a:ea typeface="Tahoma"/>
              <a:cs typeface="Tahoma"/>
            </a:endParaRPr>
          </a:p>
          <a:p>
            <a:pPr>
              <a:buNone/>
            </a:pPr>
            <a:endParaRPr lang="pt-BR" b="1" dirty="0">
              <a:solidFill>
                <a:srgbClr val="000000"/>
              </a:solidFill>
              <a:latin typeface="Arial"/>
              <a:ea typeface="Tahoma"/>
              <a:cs typeface="Tahoma"/>
            </a:endParaRPr>
          </a:p>
          <a:p>
            <a:pPr algn="just">
              <a:spcBef>
                <a:spcPct val="0"/>
              </a:spcBef>
              <a:buFont typeface="Wingdings" panose="05000000000000000000" pitchFamily="2" charset="2"/>
              <a:buNone/>
            </a:pPr>
            <a:endParaRPr lang="pt-BR" b="1" cap="all" dirty="0">
              <a:solidFill>
                <a:srgbClr val="262673"/>
              </a:solidFill>
              <a:latin typeface="Book Antiqua"/>
              <a:ea typeface="Tahoma"/>
              <a:cs typeface="Tahoma"/>
            </a:endParaRPr>
          </a:p>
          <a:p>
            <a:pPr algn="just">
              <a:spcBef>
                <a:spcPct val="0"/>
              </a:spcBef>
              <a:buNone/>
            </a:pPr>
            <a:endParaRPr lang="pt-BR" b="1" cap="all" dirty="0">
              <a:solidFill>
                <a:srgbClr val="262673"/>
              </a:solidFill>
              <a:latin typeface="Book Antiqua"/>
              <a:ea typeface="Tahoma"/>
              <a:cs typeface="Tahoma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endParaRPr lang="pt-BR" b="1" cap="all" dirty="0">
              <a:solidFill>
                <a:srgbClr val="262673"/>
              </a:solidFill>
              <a:latin typeface="Book Antiqua"/>
              <a:ea typeface="Tahoma"/>
              <a:cs typeface="Tahoma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endParaRPr lang="pt-BR" b="1" dirty="0">
              <a:solidFill>
                <a:srgbClr val="000000"/>
              </a:solidFill>
              <a:latin typeface="Arial" panose="020B0604020202020204" pitchFamily="34" charset="0"/>
              <a:ea typeface="Tahoma"/>
              <a:cs typeface="Tahoma"/>
            </a:endParaRPr>
          </a:p>
          <a:p>
            <a:pPr algn="just">
              <a:spcBef>
                <a:spcPct val="0"/>
              </a:spcBef>
              <a:spcAft>
                <a:spcPts val="600"/>
              </a:spcAft>
              <a:buNone/>
            </a:pPr>
            <a:endParaRPr lang="pt-BR" b="1" dirty="0">
              <a:solidFill>
                <a:schemeClr val="bg2"/>
              </a:solidFill>
              <a:latin typeface="Arial" panose="020B0604020202020204" pitchFamily="34" charset="0"/>
              <a:ea typeface="Tahoma"/>
              <a:cs typeface="Tahoma"/>
            </a:endParaRPr>
          </a:p>
          <a:p>
            <a:pPr>
              <a:buNone/>
            </a:pPr>
            <a:endParaRPr lang="pt-BR" altLang="pt-BR" b="1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5D4B5DBC-C5AC-9AAD-5B86-1E275CFA73CD}"/>
              </a:ext>
            </a:extLst>
          </p:cNvPr>
          <p:cNvSpPr/>
          <p:nvPr/>
        </p:nvSpPr>
        <p:spPr bwMode="auto">
          <a:xfrm>
            <a:off x="935834" y="5531642"/>
            <a:ext cx="10820397" cy="997741"/>
          </a:xfrm>
          <a:prstGeom prst="roundRect">
            <a:avLst/>
          </a:prstGeom>
          <a:solidFill>
            <a:schemeClr val="accent5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pt-BR" sz="1200" b="1" dirty="0">
              <a:latin typeface="Arial"/>
              <a:ea typeface="+mn-lt"/>
              <a:cs typeface="+mn-lt"/>
            </a:endParaRPr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r>
              <a:rPr lang="pt-BR" sz="3200" b="1" dirty="0">
                <a:latin typeface="Arial"/>
                <a:ea typeface="Tahoma"/>
                <a:cs typeface="Arial"/>
              </a:rPr>
              <a:t>O texto veio com espaços no início e final</a:t>
            </a:r>
            <a:endParaRPr lang="pt-BR" dirty="0"/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pt-BR" sz="3200" b="1" dirty="0">
              <a:latin typeface="Arial"/>
              <a:ea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2000589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ço Reservado para Número de Slide 1">
            <a:extLst>
              <a:ext uri="{FF2B5EF4-FFF2-40B4-BE49-F238E27FC236}">
                <a16:creationId xmlns:a16="http://schemas.microsoft.com/office/drawing/2014/main" id="{846FC07F-CBC4-0358-81FD-5B9C93232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5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2D7088D8-A4D7-4903-8B13-19ACD6824B27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pt-BR" altLang="pt-BR" sz="1400"/>
          </a:p>
        </p:txBody>
      </p:sp>
      <p:sp>
        <p:nvSpPr>
          <p:cNvPr id="7171" name="Text Box 2">
            <a:extLst>
              <a:ext uri="{FF2B5EF4-FFF2-40B4-BE49-F238E27FC236}">
                <a16:creationId xmlns:a16="http://schemas.microsoft.com/office/drawing/2014/main" id="{B6C17CBE-4E41-4E16-74F0-856972B47F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7488" y="141288"/>
            <a:ext cx="9144001" cy="1415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 dirty="0">
                <a:latin typeface="Arial"/>
                <a:cs typeface="Arial"/>
              </a:rPr>
              <a:t>LINGUAGEM DE PROG. PYTHON</a:t>
            </a:r>
          </a:p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pt-BR" altLang="pt-BR" sz="4200" b="1" dirty="0" err="1">
                <a:latin typeface="Arial"/>
                <a:cs typeface="Arial"/>
              </a:rPr>
              <a:t>Strings</a:t>
            </a:r>
            <a:r>
              <a:rPr lang="pt-BR" altLang="pt-BR" sz="4200" b="1" dirty="0">
                <a:latin typeface="Arial"/>
                <a:cs typeface="Arial"/>
              </a:rPr>
              <a:t> – Método </a:t>
            </a:r>
            <a:r>
              <a:rPr lang="pt-BR" altLang="pt-BR" sz="4200" b="1" dirty="0" err="1">
                <a:latin typeface="Arial"/>
                <a:cs typeface="Arial"/>
              </a:rPr>
              <a:t>isalpha</a:t>
            </a:r>
            <a:r>
              <a:rPr lang="pt-BR" altLang="pt-BR" sz="4200" b="1" dirty="0">
                <a:latin typeface="Arial"/>
                <a:cs typeface="Arial"/>
              </a:rPr>
              <a:t>()</a:t>
            </a: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827178E-6D40-D08D-39C1-7011F46AC6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946" y="2238376"/>
            <a:ext cx="11498260" cy="46458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None/>
            </a:pPr>
            <a:r>
              <a:rPr lang="pt-BR" b="1" dirty="0">
                <a:latin typeface="Arial"/>
                <a:ea typeface="Tahoma"/>
                <a:cs typeface="Tahoma"/>
              </a:rPr>
              <a:t>O método </a:t>
            </a:r>
            <a:r>
              <a:rPr lang="pt-BR" b="1" dirty="0" err="1">
                <a:latin typeface="Arial"/>
                <a:ea typeface="Tahoma"/>
                <a:cs typeface="Tahoma"/>
              </a:rPr>
              <a:t>isalpha</a:t>
            </a:r>
            <a:r>
              <a:rPr lang="pt-BR" b="1" dirty="0">
                <a:latin typeface="Arial"/>
                <a:ea typeface="Tahoma"/>
                <a:cs typeface="Tahoma"/>
              </a:rPr>
              <a:t> retorna False se a </a:t>
            </a:r>
            <a:r>
              <a:rPr lang="pt-BR" b="1" dirty="0" err="1">
                <a:latin typeface="Arial"/>
                <a:ea typeface="Tahoma"/>
                <a:cs typeface="Tahoma"/>
              </a:rPr>
              <a:t>string</a:t>
            </a:r>
            <a:r>
              <a:rPr lang="pt-BR" b="1" dirty="0">
                <a:latin typeface="Arial"/>
                <a:ea typeface="Tahoma"/>
                <a:cs typeface="Tahoma"/>
              </a:rPr>
              <a:t> contiver algum </a:t>
            </a:r>
            <a:r>
              <a:rPr lang="pt-BR" b="1" dirty="0" err="1">
                <a:latin typeface="Arial"/>
                <a:ea typeface="Tahoma"/>
                <a:cs typeface="Tahoma"/>
              </a:rPr>
              <a:t>caracter</a:t>
            </a:r>
            <a:r>
              <a:rPr lang="pt-BR" b="1" dirty="0">
                <a:latin typeface="Arial"/>
                <a:ea typeface="Tahoma"/>
                <a:cs typeface="Tahoma"/>
              </a:rPr>
              <a:t> que não seja letras.</a:t>
            </a:r>
            <a:endParaRPr lang="pt-BR" dirty="0">
              <a:latin typeface="Arial"/>
              <a:ea typeface="Tahoma"/>
              <a:cs typeface="Tahoma"/>
            </a:endParaRPr>
          </a:p>
          <a:p>
            <a:pPr>
              <a:buNone/>
            </a:pPr>
            <a:r>
              <a:rPr lang="pt-BR" b="1" dirty="0">
                <a:latin typeface="Arial"/>
                <a:ea typeface="Tahoma"/>
                <a:cs typeface="Tahoma"/>
              </a:rPr>
              <a:t>Exemplo:</a:t>
            </a:r>
          </a:p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lang="pt-BR" b="1" dirty="0">
                <a:latin typeface="Arial"/>
                <a:ea typeface="Tahoma"/>
                <a:cs typeface="Tahoma"/>
              </a:rPr>
              <a:t>                “A</a:t>
            </a:r>
            <a:r>
              <a:rPr lang="pt-BR" b="1" cap="all" dirty="0">
                <a:latin typeface="Arial"/>
                <a:ea typeface="Tahoma"/>
                <a:cs typeface="Tahoma"/>
              </a:rPr>
              <a:t>BC".</a:t>
            </a:r>
            <a:r>
              <a:rPr lang="pt-BR" b="1" dirty="0" err="1">
                <a:latin typeface="Arial"/>
                <a:ea typeface="Tahoma"/>
                <a:cs typeface="Tahoma"/>
              </a:rPr>
              <a:t>isalpha</a:t>
            </a:r>
            <a:r>
              <a:rPr lang="pt-BR" b="1" cap="all" dirty="0">
                <a:latin typeface="Arial"/>
                <a:ea typeface="Tahoma"/>
                <a:cs typeface="Tahoma"/>
              </a:rPr>
              <a:t>() </a:t>
            </a:r>
            <a:endParaRPr lang="en-US" b="1">
              <a:latin typeface="Arial"/>
              <a:ea typeface="Tahoma"/>
              <a:cs typeface="Tahoma"/>
            </a:endParaRPr>
          </a:p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lang="pt-BR" b="1" cap="all" dirty="0">
                <a:latin typeface="Arial"/>
                <a:ea typeface="Tahoma"/>
                <a:cs typeface="Tahoma"/>
              </a:rPr>
              <a:t>                "1FG".</a:t>
            </a:r>
            <a:r>
              <a:rPr lang="pt-BR" b="1" dirty="0">
                <a:latin typeface="Arial"/>
                <a:ea typeface="Tahoma"/>
                <a:cs typeface="Tahoma"/>
              </a:rPr>
              <a:t>isalpha</a:t>
            </a:r>
            <a:r>
              <a:rPr lang="pt-BR" b="1" cap="all" dirty="0">
                <a:latin typeface="Arial"/>
                <a:ea typeface="Tahoma"/>
                <a:cs typeface="Tahoma"/>
              </a:rPr>
              <a:t>() </a:t>
            </a:r>
            <a:endParaRPr lang="en-US" b="1" dirty="0">
              <a:latin typeface="Arial"/>
              <a:ea typeface="Tahoma"/>
              <a:cs typeface="Tahoma"/>
            </a:endParaRPr>
          </a:p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lang="pt-BR" b="1" cap="all" dirty="0">
                <a:latin typeface="Arial"/>
                <a:ea typeface="Tahoma"/>
                <a:cs typeface="Tahoma"/>
              </a:rPr>
              <a:t>                "123".</a:t>
            </a:r>
            <a:r>
              <a:rPr lang="pt-BR" b="1" dirty="0">
                <a:latin typeface="Arial"/>
                <a:ea typeface="Tahoma"/>
                <a:cs typeface="Tahoma"/>
              </a:rPr>
              <a:t>isalpha</a:t>
            </a:r>
            <a:r>
              <a:rPr lang="pt-BR" b="1" cap="all" dirty="0">
                <a:latin typeface="Arial"/>
                <a:ea typeface="Tahoma"/>
                <a:cs typeface="Tahoma"/>
              </a:rPr>
              <a:t>() </a:t>
            </a:r>
            <a:endParaRPr lang="en-US" b="1" dirty="0">
              <a:latin typeface="Arial"/>
              <a:ea typeface="Tahoma"/>
              <a:cs typeface="Tahoma"/>
            </a:endParaRPr>
          </a:p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lang="pt-BR" b="1" cap="all" dirty="0">
                <a:latin typeface="Arial"/>
                <a:ea typeface="Tahoma"/>
                <a:cs typeface="Tahoma"/>
              </a:rPr>
              <a:t>                "/+)".</a:t>
            </a:r>
            <a:r>
              <a:rPr lang="pt-BR" b="1" dirty="0" err="1">
                <a:latin typeface="Arial"/>
                <a:ea typeface="Tahoma"/>
                <a:cs typeface="Tahoma"/>
              </a:rPr>
              <a:t>isalpha</a:t>
            </a:r>
            <a:r>
              <a:rPr lang="pt-BR" b="1" cap="all" dirty="0">
                <a:latin typeface="Arial"/>
                <a:ea typeface="Tahoma"/>
                <a:cs typeface="Tahoma"/>
              </a:rPr>
              <a:t>()</a:t>
            </a:r>
            <a:endParaRPr lang="pt-BR" b="1" dirty="0">
              <a:latin typeface="Arial"/>
              <a:cs typeface="Arial"/>
            </a:endParaRPr>
          </a:p>
          <a:p>
            <a:pPr>
              <a:buNone/>
            </a:pPr>
            <a:endParaRPr lang="pt-BR" b="1" dirty="0">
              <a:latin typeface="Arial"/>
              <a:ea typeface="Tahoma"/>
              <a:cs typeface="Tahoma"/>
            </a:endParaRPr>
          </a:p>
          <a:p>
            <a:pPr>
              <a:buNone/>
            </a:pPr>
            <a:endParaRPr lang="pt-BR" b="1" dirty="0">
              <a:solidFill>
                <a:srgbClr val="000000"/>
              </a:solidFill>
              <a:latin typeface="Arial"/>
              <a:ea typeface="Tahoma"/>
              <a:cs typeface="Tahoma"/>
            </a:endParaRPr>
          </a:p>
          <a:p>
            <a:pPr>
              <a:buNone/>
            </a:pPr>
            <a:endParaRPr lang="pt-BR" sz="2800" b="1" dirty="0">
              <a:solidFill>
                <a:srgbClr val="000000"/>
              </a:solidFill>
              <a:latin typeface="Arial"/>
              <a:ea typeface="Tahoma"/>
              <a:cs typeface="Tahoma"/>
            </a:endParaRPr>
          </a:p>
          <a:p>
            <a:pPr>
              <a:buFont typeface="Wingdings" panose="05000000000000000000" pitchFamily="2" charset="2"/>
              <a:buNone/>
            </a:pPr>
            <a:endParaRPr lang="pt-BR" b="1" dirty="0">
              <a:solidFill>
                <a:srgbClr val="000000"/>
              </a:solidFill>
              <a:latin typeface="Arial"/>
              <a:ea typeface="Tahoma"/>
              <a:cs typeface="Tahoma"/>
            </a:endParaRPr>
          </a:p>
          <a:p>
            <a:pPr algn="just">
              <a:spcBef>
                <a:spcPct val="0"/>
              </a:spcBef>
              <a:buNone/>
            </a:pPr>
            <a:endParaRPr lang="pt-BR" b="1" cap="all" dirty="0">
              <a:solidFill>
                <a:srgbClr val="262673"/>
              </a:solidFill>
              <a:latin typeface="Book Antiqua"/>
              <a:ea typeface="Tahoma"/>
              <a:cs typeface="Tahoma"/>
            </a:endParaRPr>
          </a:p>
          <a:p>
            <a:pPr algn="just">
              <a:spcBef>
                <a:spcPct val="0"/>
              </a:spcBef>
              <a:buNone/>
            </a:pPr>
            <a:endParaRPr lang="pt-BR" b="1" cap="all" dirty="0">
              <a:solidFill>
                <a:srgbClr val="262673"/>
              </a:solidFill>
              <a:latin typeface="Book Antiqua"/>
              <a:ea typeface="Tahoma"/>
              <a:cs typeface="Tahoma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endParaRPr lang="pt-BR" b="1" cap="all" dirty="0">
              <a:solidFill>
                <a:srgbClr val="262673"/>
              </a:solidFill>
              <a:latin typeface="Book Antiqua"/>
              <a:ea typeface="Tahoma"/>
              <a:cs typeface="Tahoma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endParaRPr lang="pt-BR" b="1" dirty="0">
              <a:solidFill>
                <a:srgbClr val="000000"/>
              </a:solidFill>
              <a:latin typeface="Arial" panose="020B0604020202020204" pitchFamily="34" charset="0"/>
              <a:ea typeface="Tahoma"/>
              <a:cs typeface="Tahoma"/>
            </a:endParaRPr>
          </a:p>
          <a:p>
            <a:pPr algn="just">
              <a:spcBef>
                <a:spcPct val="0"/>
              </a:spcBef>
              <a:spcAft>
                <a:spcPts val="600"/>
              </a:spcAft>
              <a:buNone/>
            </a:pPr>
            <a:endParaRPr lang="pt-BR" b="1" dirty="0">
              <a:solidFill>
                <a:schemeClr val="bg2"/>
              </a:solidFill>
              <a:latin typeface="Arial" panose="020B0604020202020204" pitchFamily="34" charset="0"/>
              <a:ea typeface="Tahoma"/>
              <a:cs typeface="Tahoma"/>
            </a:endParaRPr>
          </a:p>
          <a:p>
            <a:pPr>
              <a:buNone/>
            </a:pPr>
            <a:endParaRPr lang="pt-BR" altLang="pt-BR" b="1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5D4B5DBC-C5AC-9AAD-5B86-1E275CFA73CD}"/>
              </a:ext>
            </a:extLst>
          </p:cNvPr>
          <p:cNvSpPr/>
          <p:nvPr/>
        </p:nvSpPr>
        <p:spPr bwMode="auto">
          <a:xfrm>
            <a:off x="9258302" y="3090861"/>
            <a:ext cx="2497929" cy="3438522"/>
          </a:xfrm>
          <a:prstGeom prst="roundRect">
            <a:avLst/>
          </a:prstGeom>
          <a:solidFill>
            <a:schemeClr val="accent5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pt-BR" sz="1200" b="1" dirty="0">
              <a:latin typeface="Arial"/>
              <a:ea typeface="+mn-lt"/>
              <a:cs typeface="+mn-lt"/>
            </a:endParaRPr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r>
              <a:rPr lang="pt-BR" sz="3200" b="1" dirty="0" err="1">
                <a:latin typeface="Arial"/>
                <a:ea typeface="Tahoma"/>
                <a:cs typeface="Arial"/>
              </a:rPr>
              <a:t>True</a:t>
            </a:r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pt-BR" sz="1200" b="1" dirty="0">
              <a:latin typeface="Arial"/>
              <a:ea typeface="Tahoma"/>
              <a:cs typeface="Arial"/>
            </a:endParaRPr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r>
              <a:rPr lang="pt-BR" sz="3200" b="1" dirty="0">
                <a:latin typeface="Arial"/>
                <a:ea typeface="Tahoma"/>
                <a:cs typeface="Arial"/>
              </a:rPr>
              <a:t>False</a:t>
            </a:r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pt-BR" sz="1200" b="1" dirty="0">
              <a:latin typeface="Arial"/>
              <a:ea typeface="Tahoma"/>
              <a:cs typeface="Arial"/>
            </a:endParaRPr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r>
              <a:rPr lang="pt-BR" sz="3200" b="1" dirty="0">
                <a:latin typeface="Arial"/>
                <a:ea typeface="Tahoma"/>
                <a:cs typeface="Arial"/>
              </a:rPr>
              <a:t>False</a:t>
            </a:r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pt-BR" sz="1200" b="1" dirty="0">
              <a:latin typeface="Arial"/>
              <a:ea typeface="Tahoma"/>
              <a:cs typeface="Arial"/>
            </a:endParaRPr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r>
              <a:rPr lang="pt-BR" sz="3200" b="1" dirty="0">
                <a:latin typeface="Arial"/>
                <a:ea typeface="Tahoma"/>
                <a:cs typeface="Arial"/>
              </a:rPr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23807979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ço Reservado para Número de Slide 1">
            <a:extLst>
              <a:ext uri="{FF2B5EF4-FFF2-40B4-BE49-F238E27FC236}">
                <a16:creationId xmlns:a16="http://schemas.microsoft.com/office/drawing/2014/main" id="{655E57AD-4D40-88C3-9663-F06EAD559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A74C893-E328-4D6B-96B7-E879A3B7419D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pt-BR" altLang="pt-BR" sz="140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4B9815D-7BB8-799A-5F6E-1A0C90051E00}"/>
              </a:ext>
            </a:extLst>
          </p:cNvPr>
          <p:cNvSpPr txBox="1">
            <a:spLocks noChangeArrowheads="1"/>
          </p:cNvSpPr>
          <p:nvPr/>
        </p:nvSpPr>
        <p:spPr>
          <a:xfrm>
            <a:off x="1770064" y="2133600"/>
            <a:ext cx="8897937" cy="3887788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spcBef>
                <a:spcPts val="0"/>
              </a:spcBef>
              <a:buNone/>
              <a:defRPr/>
            </a:pPr>
            <a:endParaRPr lang="pt-BR" altLang="pt-BR" sz="4600" b="1" kern="0" dirty="0">
              <a:latin typeface="Arial Black" panose="020B0A04020102020204" pitchFamily="34" charset="0"/>
            </a:endParaRPr>
          </a:p>
          <a:p>
            <a:pPr marL="0" indent="0" algn="ctr">
              <a:spcBef>
                <a:spcPts val="0"/>
              </a:spcBef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EXERCÍCIOS</a:t>
            </a:r>
          </a:p>
        </p:txBody>
      </p:sp>
      <p:sp>
        <p:nvSpPr>
          <p:cNvPr id="10244" name="Text Box 2">
            <a:extLst>
              <a:ext uri="{FF2B5EF4-FFF2-40B4-BE49-F238E27FC236}">
                <a16:creationId xmlns:a16="http://schemas.microsoft.com/office/drawing/2014/main" id="{75911CAE-40E7-9D77-59B4-587AF3737C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7488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 dirty="0">
                <a:latin typeface="Arial"/>
                <a:cs typeface="Arial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 dirty="0" err="1">
                <a:latin typeface="Arial"/>
                <a:cs typeface="Arial"/>
              </a:rPr>
              <a:t>Strings</a:t>
            </a:r>
            <a:endParaRPr lang="pt-BR" altLang="pt-BR" sz="4200" b="1" dirty="0" err="1">
              <a:latin typeface="Arial" panose="020B0604020202020204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287871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>
            <a:extLst>
              <a:ext uri="{FF2B5EF4-FFF2-40B4-BE49-F238E27FC236}">
                <a16:creationId xmlns:a16="http://schemas.microsoft.com/office/drawing/2014/main" id="{497CA33C-C48A-4216-F5BC-0E4631F79D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289" y="2238376"/>
            <a:ext cx="10700542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None/>
            </a:pPr>
            <a:r>
              <a:rPr lang="pt-BR" altLang="pt-BR" sz="2800" b="1" dirty="0">
                <a:latin typeface="Arial"/>
                <a:cs typeface="Arial"/>
              </a:rPr>
              <a:t>Desenvolver um programa em Python que peça para o usuário digitar uma </a:t>
            </a:r>
            <a:r>
              <a:rPr lang="pt-BR" altLang="pt-BR" sz="2800" b="1" dirty="0" err="1">
                <a:latin typeface="Arial"/>
                <a:cs typeface="Arial"/>
              </a:rPr>
              <a:t>string</a:t>
            </a:r>
            <a:r>
              <a:rPr lang="pt-BR" altLang="pt-BR" sz="2800" b="1" dirty="0">
                <a:latin typeface="Arial"/>
                <a:cs typeface="Arial"/>
              </a:rPr>
              <a:t> e imprima:</a:t>
            </a:r>
          </a:p>
          <a:p>
            <a:pPr marL="457200" indent="-457200"/>
            <a:r>
              <a:rPr lang="pt-BR" altLang="pt-BR" sz="2800" b="1" dirty="0">
                <a:latin typeface="Arial"/>
                <a:cs typeface="Arial"/>
              </a:rPr>
              <a:t>O número de caracteres da </a:t>
            </a:r>
            <a:r>
              <a:rPr lang="pt-BR" altLang="pt-BR" sz="2800" b="1" dirty="0" err="1">
                <a:latin typeface="Arial"/>
                <a:cs typeface="Arial"/>
              </a:rPr>
              <a:t>string</a:t>
            </a:r>
            <a:r>
              <a:rPr lang="pt-BR" altLang="pt-BR" sz="2800" b="1" dirty="0">
                <a:latin typeface="Arial"/>
                <a:cs typeface="Arial"/>
              </a:rPr>
              <a:t>;</a:t>
            </a:r>
          </a:p>
          <a:p>
            <a:pPr marL="457200" indent="-457200"/>
            <a:r>
              <a:rPr lang="pt-BR" altLang="pt-BR" sz="2800" b="1" dirty="0">
                <a:latin typeface="Arial"/>
                <a:cs typeface="Arial"/>
              </a:rPr>
              <a:t>A </a:t>
            </a:r>
            <a:r>
              <a:rPr lang="pt-BR" altLang="pt-BR" sz="2800" b="1" dirty="0" err="1">
                <a:latin typeface="Arial"/>
                <a:cs typeface="Arial"/>
              </a:rPr>
              <a:t>string</a:t>
            </a:r>
            <a:r>
              <a:rPr lang="pt-BR" altLang="pt-BR" sz="2800" b="1" dirty="0">
                <a:latin typeface="Arial"/>
                <a:cs typeface="Arial"/>
              </a:rPr>
              <a:t> com todas as suas letras em maiúsculo;</a:t>
            </a:r>
          </a:p>
          <a:p>
            <a:pPr marL="457200" indent="-457200"/>
            <a:r>
              <a:rPr lang="pt-BR" altLang="pt-BR" sz="2800" b="1" dirty="0">
                <a:latin typeface="Arial"/>
                <a:cs typeface="Arial"/>
              </a:rPr>
              <a:t>O número de vogais da </a:t>
            </a:r>
            <a:r>
              <a:rPr lang="pt-BR" altLang="pt-BR" sz="2800" b="1" dirty="0" err="1">
                <a:latin typeface="Arial"/>
                <a:cs typeface="Arial"/>
              </a:rPr>
              <a:t>string</a:t>
            </a:r>
            <a:r>
              <a:rPr lang="pt-BR" altLang="pt-BR" sz="2800" b="1" dirty="0">
                <a:latin typeface="Arial"/>
                <a:cs typeface="Arial"/>
              </a:rPr>
              <a:t>;</a:t>
            </a:r>
          </a:p>
          <a:p>
            <a:pPr marL="457200" indent="-457200"/>
            <a:r>
              <a:rPr lang="pt-BR" altLang="pt-BR" sz="2800" b="1" dirty="0">
                <a:latin typeface="Arial"/>
                <a:cs typeface="Arial"/>
              </a:rPr>
              <a:t>Se a </a:t>
            </a:r>
            <a:r>
              <a:rPr lang="pt-BR" altLang="pt-BR" sz="2800" b="1" dirty="0" err="1">
                <a:latin typeface="Arial"/>
                <a:cs typeface="Arial"/>
              </a:rPr>
              <a:t>string</a:t>
            </a:r>
            <a:r>
              <a:rPr lang="pt-BR" altLang="pt-BR" sz="2800" b="1" dirty="0">
                <a:latin typeface="Arial"/>
                <a:cs typeface="Arial"/>
              </a:rPr>
              <a:t> digitada começa com a letra "A".</a:t>
            </a:r>
          </a:p>
        </p:txBody>
      </p:sp>
      <p:sp>
        <p:nvSpPr>
          <p:cNvPr id="11267" name="Espaço Reservado para Número de Slide 1">
            <a:extLst>
              <a:ext uri="{FF2B5EF4-FFF2-40B4-BE49-F238E27FC236}">
                <a16:creationId xmlns:a16="http://schemas.microsoft.com/office/drawing/2014/main" id="{2A3B5753-F19D-007D-45C1-88A3AFDD7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5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642E43E5-FA9E-4CD8-B495-C14FEEBBAA77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pt-BR" altLang="pt-BR" sz="1400"/>
          </a:p>
        </p:txBody>
      </p:sp>
      <p:sp>
        <p:nvSpPr>
          <p:cNvPr id="11268" name="Text Box 2">
            <a:extLst>
              <a:ext uri="{FF2B5EF4-FFF2-40B4-BE49-F238E27FC236}">
                <a16:creationId xmlns:a16="http://schemas.microsoft.com/office/drawing/2014/main" id="{C69A96AF-8033-7E4C-EEA8-3B5DC90A3B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7488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 dirty="0">
                <a:latin typeface="Arial"/>
                <a:cs typeface="Arial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 dirty="0">
                <a:latin typeface="Arial"/>
                <a:cs typeface="Arial"/>
              </a:rPr>
              <a:t>Exercício 01</a:t>
            </a:r>
          </a:p>
        </p:txBody>
      </p:sp>
    </p:spTree>
    <p:extLst>
      <p:ext uri="{BB962C8B-B14F-4D97-AF65-F5344CB8AC3E}">
        <p14:creationId xmlns:p14="http://schemas.microsoft.com/office/powerpoint/2010/main" val="12778666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>
            <a:extLst>
              <a:ext uri="{FF2B5EF4-FFF2-40B4-BE49-F238E27FC236}">
                <a16:creationId xmlns:a16="http://schemas.microsoft.com/office/drawing/2014/main" id="{497CA33C-C48A-4216-F5BC-0E4631F79D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289" y="2238376"/>
            <a:ext cx="10700542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None/>
            </a:pPr>
            <a:r>
              <a:rPr lang="pt-BR" altLang="pt-BR" b="1" dirty="0">
                <a:latin typeface="Arial"/>
                <a:cs typeface="Arial"/>
              </a:rPr>
              <a:t>Desenvolver um programa em Python que </a:t>
            </a:r>
            <a:r>
              <a:rPr lang="pt-BR" b="1" dirty="0">
                <a:latin typeface="Arial"/>
                <a:ea typeface="Tahoma"/>
                <a:cs typeface="Tahoma"/>
              </a:rPr>
              <a:t>receba uma </a:t>
            </a:r>
            <a:r>
              <a:rPr lang="pt-BR" b="1" dirty="0" err="1">
                <a:latin typeface="Arial"/>
                <a:ea typeface="Tahoma"/>
                <a:cs typeface="Tahoma"/>
              </a:rPr>
              <a:t>string</a:t>
            </a:r>
            <a:r>
              <a:rPr lang="pt-BR" b="1" dirty="0">
                <a:latin typeface="Arial"/>
                <a:ea typeface="Tahoma"/>
                <a:cs typeface="Tahoma"/>
              </a:rPr>
              <a:t> e um caractere, e retorne o número de vezes que esse caractere aparece na </a:t>
            </a:r>
            <a:r>
              <a:rPr lang="pt-BR" b="1" dirty="0" err="1">
                <a:latin typeface="Arial"/>
                <a:ea typeface="Tahoma"/>
                <a:cs typeface="Tahoma"/>
              </a:rPr>
              <a:t>string</a:t>
            </a:r>
            <a:r>
              <a:rPr lang="pt-BR" b="1" dirty="0">
                <a:latin typeface="Arial"/>
                <a:ea typeface="Tahoma"/>
                <a:cs typeface="Tahoma"/>
              </a:rPr>
              <a:t>.</a:t>
            </a:r>
            <a:endParaRPr lang="pt-BR" b="1" dirty="0">
              <a:latin typeface="Arial"/>
            </a:endParaRPr>
          </a:p>
        </p:txBody>
      </p:sp>
      <p:sp>
        <p:nvSpPr>
          <p:cNvPr id="11267" name="Espaço Reservado para Número de Slide 1">
            <a:extLst>
              <a:ext uri="{FF2B5EF4-FFF2-40B4-BE49-F238E27FC236}">
                <a16:creationId xmlns:a16="http://schemas.microsoft.com/office/drawing/2014/main" id="{2A3B5753-F19D-007D-45C1-88A3AFDD7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5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642E43E5-FA9E-4CD8-B495-C14FEEBBAA77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pt-BR" altLang="pt-BR" sz="1400"/>
          </a:p>
        </p:txBody>
      </p:sp>
      <p:sp>
        <p:nvSpPr>
          <p:cNvPr id="11268" name="Text Box 2">
            <a:extLst>
              <a:ext uri="{FF2B5EF4-FFF2-40B4-BE49-F238E27FC236}">
                <a16:creationId xmlns:a16="http://schemas.microsoft.com/office/drawing/2014/main" id="{C69A96AF-8033-7E4C-EEA8-3B5DC90A3B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7488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 dirty="0">
                <a:latin typeface="Arial"/>
                <a:cs typeface="Arial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 dirty="0">
                <a:latin typeface="Arial"/>
                <a:cs typeface="Arial"/>
              </a:rPr>
              <a:t>Exercício 02</a:t>
            </a:r>
          </a:p>
        </p:txBody>
      </p:sp>
    </p:spTree>
    <p:extLst>
      <p:ext uri="{BB962C8B-B14F-4D97-AF65-F5344CB8AC3E}">
        <p14:creationId xmlns:p14="http://schemas.microsoft.com/office/powerpoint/2010/main" val="35262919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>
            <a:extLst>
              <a:ext uri="{FF2B5EF4-FFF2-40B4-BE49-F238E27FC236}">
                <a16:creationId xmlns:a16="http://schemas.microsoft.com/office/drawing/2014/main" id="{497CA33C-C48A-4216-F5BC-0E4631F79D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289" y="2238376"/>
            <a:ext cx="10700542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None/>
            </a:pPr>
            <a:r>
              <a:rPr lang="pt-BR" sz="2800" b="1" dirty="0">
                <a:latin typeface="Arial"/>
                <a:ea typeface="Tahoma"/>
                <a:cs typeface="Tahoma"/>
              </a:rPr>
              <a:t>Entre com um nome e imprima o nome somente se a primeira letra do nome começar por vogal.</a:t>
            </a:r>
          </a:p>
        </p:txBody>
      </p:sp>
      <p:sp>
        <p:nvSpPr>
          <p:cNvPr id="11267" name="Espaço Reservado para Número de Slide 1">
            <a:extLst>
              <a:ext uri="{FF2B5EF4-FFF2-40B4-BE49-F238E27FC236}">
                <a16:creationId xmlns:a16="http://schemas.microsoft.com/office/drawing/2014/main" id="{2A3B5753-F19D-007D-45C1-88A3AFDD7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5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642E43E5-FA9E-4CD8-B495-C14FEEBBAA77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pt-BR" altLang="pt-BR" sz="1400"/>
          </a:p>
        </p:txBody>
      </p:sp>
      <p:sp>
        <p:nvSpPr>
          <p:cNvPr id="11268" name="Text Box 2">
            <a:extLst>
              <a:ext uri="{FF2B5EF4-FFF2-40B4-BE49-F238E27FC236}">
                <a16:creationId xmlns:a16="http://schemas.microsoft.com/office/drawing/2014/main" id="{C69A96AF-8033-7E4C-EEA8-3B5DC90A3B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7488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 dirty="0">
                <a:latin typeface="Arial"/>
                <a:cs typeface="Arial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 dirty="0">
                <a:latin typeface="Arial"/>
                <a:cs typeface="Arial"/>
              </a:rPr>
              <a:t>Exercício 03</a:t>
            </a:r>
          </a:p>
        </p:txBody>
      </p:sp>
    </p:spTree>
    <p:extLst>
      <p:ext uri="{BB962C8B-B14F-4D97-AF65-F5344CB8AC3E}">
        <p14:creationId xmlns:p14="http://schemas.microsoft.com/office/powerpoint/2010/main" val="32114517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>
            <a:extLst>
              <a:ext uri="{FF2B5EF4-FFF2-40B4-BE49-F238E27FC236}">
                <a16:creationId xmlns:a16="http://schemas.microsoft.com/office/drawing/2014/main" id="{497CA33C-C48A-4216-F5BC-0E4631F79D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289" y="2238376"/>
            <a:ext cx="10700542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None/>
            </a:pPr>
            <a:r>
              <a:rPr lang="pt-BR" sz="2800" b="1" dirty="0">
                <a:latin typeface="Arial"/>
                <a:ea typeface="Tahoma"/>
                <a:cs typeface="Tahoma"/>
              </a:rPr>
              <a:t>Desenvolva um programa que leia duas </a:t>
            </a:r>
            <a:r>
              <a:rPr lang="pt-BR" sz="2800" b="1" dirty="0" err="1">
                <a:latin typeface="Arial"/>
                <a:ea typeface="Tahoma"/>
                <a:cs typeface="Tahoma"/>
              </a:rPr>
              <a:t>strings</a:t>
            </a:r>
            <a:r>
              <a:rPr lang="pt-BR" sz="2800" b="1" dirty="0">
                <a:latin typeface="Arial"/>
                <a:ea typeface="Tahoma"/>
                <a:cs typeface="Tahoma"/>
              </a:rPr>
              <a:t> fornecidas pelo usuário e verifique se a segunda </a:t>
            </a:r>
            <a:r>
              <a:rPr lang="pt-BR" sz="2800" b="1" dirty="0" err="1">
                <a:latin typeface="Arial"/>
                <a:ea typeface="Tahoma"/>
                <a:cs typeface="Tahoma"/>
              </a:rPr>
              <a:t>string</a:t>
            </a:r>
            <a:r>
              <a:rPr lang="pt-BR" sz="2800" b="1" dirty="0">
                <a:latin typeface="Arial"/>
                <a:ea typeface="Tahoma"/>
                <a:cs typeface="Tahoma"/>
              </a:rPr>
              <a:t> lida está contida na primeira, retornando o resultado da verificação (está contida ou não está contida). </a:t>
            </a:r>
            <a:endParaRPr lang="pt-BR" sz="2800" b="1">
              <a:latin typeface="Arial"/>
              <a:cs typeface="Arial"/>
            </a:endParaRPr>
          </a:p>
        </p:txBody>
      </p:sp>
      <p:sp>
        <p:nvSpPr>
          <p:cNvPr id="11267" name="Espaço Reservado para Número de Slide 1">
            <a:extLst>
              <a:ext uri="{FF2B5EF4-FFF2-40B4-BE49-F238E27FC236}">
                <a16:creationId xmlns:a16="http://schemas.microsoft.com/office/drawing/2014/main" id="{2A3B5753-F19D-007D-45C1-88A3AFDD7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5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642E43E5-FA9E-4CD8-B495-C14FEEBBAA77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pt-BR" altLang="pt-BR" sz="1400"/>
          </a:p>
        </p:txBody>
      </p:sp>
      <p:sp>
        <p:nvSpPr>
          <p:cNvPr id="11268" name="Text Box 2">
            <a:extLst>
              <a:ext uri="{FF2B5EF4-FFF2-40B4-BE49-F238E27FC236}">
                <a16:creationId xmlns:a16="http://schemas.microsoft.com/office/drawing/2014/main" id="{C69A96AF-8033-7E4C-EEA8-3B5DC90A3B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7488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 dirty="0">
                <a:latin typeface="Arial"/>
                <a:cs typeface="Arial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 dirty="0">
                <a:latin typeface="Arial"/>
                <a:cs typeface="Arial"/>
              </a:rPr>
              <a:t>Exercício 04</a:t>
            </a:r>
          </a:p>
        </p:txBody>
      </p:sp>
    </p:spTree>
    <p:extLst>
      <p:ext uri="{BB962C8B-B14F-4D97-AF65-F5344CB8AC3E}">
        <p14:creationId xmlns:p14="http://schemas.microsoft.com/office/powerpoint/2010/main" val="36979363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>
            <a:extLst>
              <a:ext uri="{FF2B5EF4-FFF2-40B4-BE49-F238E27FC236}">
                <a16:creationId xmlns:a16="http://schemas.microsoft.com/office/drawing/2014/main" id="{497CA33C-C48A-4216-F5BC-0E4631F79D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289" y="2238376"/>
            <a:ext cx="10700542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None/>
            </a:pPr>
            <a:r>
              <a:rPr lang="pt-BR" sz="2800" b="1" dirty="0">
                <a:latin typeface="Arial"/>
                <a:ea typeface="Tahoma"/>
                <a:cs typeface="Tahoma"/>
              </a:rPr>
              <a:t>Leia duas cadeias de caracteres A e B. Determine quantas vezes a cadeia A ocorre na cadeia B. </a:t>
            </a:r>
            <a:endParaRPr lang="pt-BR" sz="2800" b="1">
              <a:latin typeface="Arial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None/>
            </a:pPr>
            <a:endParaRPr lang="pt-BR" sz="2800" b="1" dirty="0">
              <a:latin typeface="Arial"/>
              <a:ea typeface="Tahoma"/>
              <a:cs typeface="Tahoma"/>
            </a:endParaRPr>
          </a:p>
          <a:p>
            <a:pPr>
              <a:buNone/>
            </a:pPr>
            <a:r>
              <a:rPr lang="pt-BR" sz="2800" b="1" dirty="0">
                <a:latin typeface="Arial"/>
                <a:ea typeface="Tahoma"/>
                <a:cs typeface="Tahoma"/>
              </a:rPr>
              <a:t>Exemplo: </a:t>
            </a:r>
          </a:p>
          <a:p>
            <a:pPr>
              <a:buNone/>
            </a:pPr>
            <a:endParaRPr lang="pt-BR" sz="2800" b="1" dirty="0">
              <a:latin typeface="Arial"/>
              <a:ea typeface="Tahoma"/>
              <a:cs typeface="Tahoma"/>
            </a:endParaRPr>
          </a:p>
          <a:p>
            <a:pPr>
              <a:buNone/>
            </a:pPr>
            <a:r>
              <a:rPr lang="pt-BR" sz="2800" b="1" dirty="0">
                <a:latin typeface="Arial"/>
                <a:ea typeface="Tahoma"/>
                <a:cs typeface="Tahoma"/>
              </a:rPr>
              <a:t>A = </a:t>
            </a:r>
            <a:r>
              <a:rPr lang="pt-BR" sz="2800" b="1" dirty="0" err="1">
                <a:latin typeface="Arial"/>
                <a:ea typeface="Tahoma"/>
                <a:cs typeface="Tahoma"/>
              </a:rPr>
              <a:t>ana</a:t>
            </a:r>
            <a:r>
              <a:rPr lang="pt-BR" sz="2800" b="1" dirty="0">
                <a:latin typeface="Arial"/>
                <a:ea typeface="Tahoma"/>
                <a:cs typeface="Tahoma"/>
              </a:rPr>
              <a:t> banana</a:t>
            </a:r>
          </a:p>
          <a:p>
            <a:pPr>
              <a:buNone/>
            </a:pPr>
            <a:r>
              <a:rPr lang="pt-BR" sz="2800" b="1" dirty="0">
                <a:latin typeface="Arial"/>
                <a:ea typeface="Tahoma"/>
                <a:cs typeface="Tahoma"/>
              </a:rPr>
              <a:t>B = </a:t>
            </a:r>
            <a:r>
              <a:rPr lang="pt-BR" sz="2800" b="1" dirty="0" err="1">
                <a:latin typeface="Arial"/>
                <a:ea typeface="Tahoma"/>
                <a:cs typeface="Tahoma"/>
              </a:rPr>
              <a:t>ana</a:t>
            </a:r>
            <a:endParaRPr lang="pt-BR" sz="2800" b="1" dirty="0">
              <a:latin typeface="Arial"/>
              <a:ea typeface="Tahoma"/>
              <a:cs typeface="Tahoma"/>
            </a:endParaRPr>
          </a:p>
        </p:txBody>
      </p:sp>
      <p:sp>
        <p:nvSpPr>
          <p:cNvPr id="11267" name="Espaço Reservado para Número de Slide 1">
            <a:extLst>
              <a:ext uri="{FF2B5EF4-FFF2-40B4-BE49-F238E27FC236}">
                <a16:creationId xmlns:a16="http://schemas.microsoft.com/office/drawing/2014/main" id="{2A3B5753-F19D-007D-45C1-88A3AFDD7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5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642E43E5-FA9E-4CD8-B495-C14FEEBBAA77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pt-BR" altLang="pt-BR" sz="1400"/>
          </a:p>
        </p:txBody>
      </p:sp>
      <p:sp>
        <p:nvSpPr>
          <p:cNvPr id="11268" name="Text Box 2">
            <a:extLst>
              <a:ext uri="{FF2B5EF4-FFF2-40B4-BE49-F238E27FC236}">
                <a16:creationId xmlns:a16="http://schemas.microsoft.com/office/drawing/2014/main" id="{C69A96AF-8033-7E4C-EEA8-3B5DC90A3B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7488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 dirty="0">
                <a:latin typeface="Arial"/>
                <a:cs typeface="Arial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 dirty="0">
                <a:latin typeface="Arial"/>
                <a:cs typeface="Arial"/>
              </a:rPr>
              <a:t>Exercício 05</a:t>
            </a:r>
          </a:p>
        </p:txBody>
      </p:sp>
    </p:spTree>
    <p:extLst>
      <p:ext uri="{BB962C8B-B14F-4D97-AF65-F5344CB8AC3E}">
        <p14:creationId xmlns:p14="http://schemas.microsoft.com/office/powerpoint/2010/main" val="9426920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>
            <a:extLst>
              <a:ext uri="{FF2B5EF4-FFF2-40B4-BE49-F238E27FC236}">
                <a16:creationId xmlns:a16="http://schemas.microsoft.com/office/drawing/2014/main" id="{497CA33C-C48A-4216-F5BC-0E4631F79D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289" y="2238376"/>
            <a:ext cx="10700542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None/>
            </a:pPr>
            <a:r>
              <a:rPr lang="pt-BR" sz="2800" b="1" dirty="0">
                <a:latin typeface="Arial"/>
                <a:ea typeface="Tahoma"/>
                <a:cs typeface="Tahoma"/>
              </a:rPr>
              <a:t>Leia uma cadeia de caracteres no formato “DD/MM/AAAA” e copie o dia, mês e ano para 3 variáveis inteiras.  Antes disso, verifique se os números lidos são válidos.</a:t>
            </a:r>
            <a:endParaRPr lang="pt-BR" sz="2800" b="1">
              <a:latin typeface="Arial"/>
              <a:ea typeface="Tahoma"/>
              <a:cs typeface="Tahoma"/>
            </a:endParaRPr>
          </a:p>
        </p:txBody>
      </p:sp>
      <p:sp>
        <p:nvSpPr>
          <p:cNvPr id="11267" name="Espaço Reservado para Número de Slide 1">
            <a:extLst>
              <a:ext uri="{FF2B5EF4-FFF2-40B4-BE49-F238E27FC236}">
                <a16:creationId xmlns:a16="http://schemas.microsoft.com/office/drawing/2014/main" id="{2A3B5753-F19D-007D-45C1-88A3AFDD7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5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642E43E5-FA9E-4CD8-B495-C14FEEBBAA77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pt-BR" altLang="pt-BR" sz="1400"/>
          </a:p>
        </p:txBody>
      </p:sp>
      <p:sp>
        <p:nvSpPr>
          <p:cNvPr id="11268" name="Text Box 2">
            <a:extLst>
              <a:ext uri="{FF2B5EF4-FFF2-40B4-BE49-F238E27FC236}">
                <a16:creationId xmlns:a16="http://schemas.microsoft.com/office/drawing/2014/main" id="{C69A96AF-8033-7E4C-EEA8-3B5DC90A3B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7488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 dirty="0">
                <a:latin typeface="Arial"/>
                <a:cs typeface="Arial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 dirty="0">
                <a:latin typeface="Arial"/>
                <a:cs typeface="Arial"/>
              </a:rPr>
              <a:t>Exercício 06</a:t>
            </a:r>
          </a:p>
        </p:txBody>
      </p:sp>
    </p:spTree>
    <p:extLst>
      <p:ext uri="{BB962C8B-B14F-4D97-AF65-F5344CB8AC3E}">
        <p14:creationId xmlns:p14="http://schemas.microsoft.com/office/powerpoint/2010/main" val="11336414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>
            <a:extLst>
              <a:ext uri="{FF2B5EF4-FFF2-40B4-BE49-F238E27FC236}">
                <a16:creationId xmlns:a16="http://schemas.microsoft.com/office/drawing/2014/main" id="{497CA33C-C48A-4216-F5BC-0E4631F79D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289" y="2238376"/>
            <a:ext cx="10700542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None/>
            </a:pPr>
            <a:r>
              <a:rPr lang="pt-BR" sz="2800" b="1" dirty="0">
                <a:latin typeface="Arial"/>
                <a:ea typeface="Arial"/>
                <a:cs typeface="Arial"/>
              </a:rPr>
              <a:t>Desenvolva um programa para ler uma </a:t>
            </a:r>
            <a:r>
              <a:rPr lang="pt-BR" sz="2800" b="1" dirty="0" err="1">
                <a:latin typeface="Arial"/>
                <a:ea typeface="Arial"/>
                <a:cs typeface="Arial"/>
              </a:rPr>
              <a:t>string</a:t>
            </a:r>
            <a:r>
              <a:rPr lang="pt-BR" sz="2800" b="1" dirty="0">
                <a:latin typeface="Arial"/>
                <a:ea typeface="Arial"/>
                <a:cs typeface="Arial"/>
              </a:rPr>
              <a:t>, e mostrar  quais são os caracteres repetidos dentro da </a:t>
            </a:r>
            <a:r>
              <a:rPr lang="pt-BR" sz="2800" b="1" dirty="0" err="1">
                <a:latin typeface="Arial"/>
                <a:ea typeface="Arial"/>
                <a:cs typeface="Arial"/>
              </a:rPr>
              <a:t>string</a:t>
            </a:r>
            <a:r>
              <a:rPr lang="pt-BR" sz="2800" b="1" dirty="0">
                <a:latin typeface="Arial"/>
                <a:ea typeface="Arial"/>
                <a:cs typeface="Arial"/>
              </a:rPr>
              <a:t> lida.</a:t>
            </a:r>
            <a:endParaRPr lang="pt-BR" sz="2800" b="1">
              <a:latin typeface="Arial"/>
              <a:ea typeface="Tahoma"/>
              <a:cs typeface="Tahoma"/>
            </a:endParaRPr>
          </a:p>
        </p:txBody>
      </p:sp>
      <p:sp>
        <p:nvSpPr>
          <p:cNvPr id="11267" name="Espaço Reservado para Número de Slide 1">
            <a:extLst>
              <a:ext uri="{FF2B5EF4-FFF2-40B4-BE49-F238E27FC236}">
                <a16:creationId xmlns:a16="http://schemas.microsoft.com/office/drawing/2014/main" id="{2A3B5753-F19D-007D-45C1-88A3AFDD7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5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642E43E5-FA9E-4CD8-B495-C14FEEBBAA77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pt-BR" altLang="pt-BR" sz="1400"/>
          </a:p>
        </p:txBody>
      </p:sp>
      <p:sp>
        <p:nvSpPr>
          <p:cNvPr id="11268" name="Text Box 2">
            <a:extLst>
              <a:ext uri="{FF2B5EF4-FFF2-40B4-BE49-F238E27FC236}">
                <a16:creationId xmlns:a16="http://schemas.microsoft.com/office/drawing/2014/main" id="{C69A96AF-8033-7E4C-EEA8-3B5DC90A3B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7488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 dirty="0">
                <a:latin typeface="Arial"/>
                <a:cs typeface="Arial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 dirty="0">
                <a:latin typeface="Arial"/>
                <a:cs typeface="Arial"/>
              </a:rPr>
              <a:t>Exercício 07</a:t>
            </a:r>
          </a:p>
        </p:txBody>
      </p:sp>
    </p:spTree>
    <p:extLst>
      <p:ext uri="{BB962C8B-B14F-4D97-AF65-F5344CB8AC3E}">
        <p14:creationId xmlns:p14="http://schemas.microsoft.com/office/powerpoint/2010/main" val="5623060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>
            <a:extLst>
              <a:ext uri="{FF2B5EF4-FFF2-40B4-BE49-F238E27FC236}">
                <a16:creationId xmlns:a16="http://schemas.microsoft.com/office/drawing/2014/main" id="{497CA33C-C48A-4216-F5BC-0E4631F79D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289" y="2238376"/>
            <a:ext cx="10700542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None/>
            </a:pPr>
            <a:r>
              <a:rPr lang="pt-BR" sz="2800" b="1" dirty="0">
                <a:latin typeface="Arial"/>
                <a:ea typeface="Tahoma"/>
                <a:cs typeface="Tahoma"/>
              </a:rPr>
              <a:t>Desenvolva um programa que leia uma </a:t>
            </a:r>
            <a:r>
              <a:rPr lang="pt-BR" sz="2800" b="1" dirty="0" err="1">
                <a:latin typeface="Arial"/>
                <a:ea typeface="Tahoma"/>
                <a:cs typeface="Tahoma"/>
              </a:rPr>
              <a:t>string</a:t>
            </a:r>
            <a:r>
              <a:rPr lang="pt-BR" sz="2800" b="1" dirty="0">
                <a:latin typeface="Arial"/>
                <a:ea typeface="Tahoma"/>
                <a:cs typeface="Tahoma"/>
              </a:rPr>
              <a:t> e a apresente escrita de trás para frente.</a:t>
            </a:r>
            <a:endParaRPr lang="pt-BR" sz="2800" b="1">
              <a:latin typeface="Arial"/>
              <a:ea typeface="Tahoma"/>
              <a:cs typeface="Tahoma"/>
            </a:endParaRPr>
          </a:p>
        </p:txBody>
      </p:sp>
      <p:sp>
        <p:nvSpPr>
          <p:cNvPr id="11267" name="Espaço Reservado para Número de Slide 1">
            <a:extLst>
              <a:ext uri="{FF2B5EF4-FFF2-40B4-BE49-F238E27FC236}">
                <a16:creationId xmlns:a16="http://schemas.microsoft.com/office/drawing/2014/main" id="{2A3B5753-F19D-007D-45C1-88A3AFDD7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5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642E43E5-FA9E-4CD8-B495-C14FEEBBAA77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pt-BR" altLang="pt-BR" sz="1400"/>
          </a:p>
        </p:txBody>
      </p:sp>
      <p:sp>
        <p:nvSpPr>
          <p:cNvPr id="11268" name="Text Box 2">
            <a:extLst>
              <a:ext uri="{FF2B5EF4-FFF2-40B4-BE49-F238E27FC236}">
                <a16:creationId xmlns:a16="http://schemas.microsoft.com/office/drawing/2014/main" id="{C69A96AF-8033-7E4C-EEA8-3B5DC90A3B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7488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 dirty="0">
                <a:latin typeface="Arial"/>
                <a:cs typeface="Arial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 dirty="0">
                <a:latin typeface="Arial"/>
                <a:cs typeface="Arial"/>
              </a:rPr>
              <a:t>Exercício 08</a:t>
            </a:r>
          </a:p>
        </p:txBody>
      </p:sp>
    </p:spTree>
    <p:extLst>
      <p:ext uri="{BB962C8B-B14F-4D97-AF65-F5344CB8AC3E}">
        <p14:creationId xmlns:p14="http://schemas.microsoft.com/office/powerpoint/2010/main" val="18525907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>
            <a:extLst>
              <a:ext uri="{FF2B5EF4-FFF2-40B4-BE49-F238E27FC236}">
                <a16:creationId xmlns:a16="http://schemas.microsoft.com/office/drawing/2014/main" id="{497CA33C-C48A-4216-F5BC-0E4631F79D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289" y="2238376"/>
            <a:ext cx="10700542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None/>
            </a:pPr>
            <a:r>
              <a:rPr lang="pt-BR" sz="2800" b="1" dirty="0">
                <a:latin typeface="Arial"/>
                <a:ea typeface="Tahoma"/>
                <a:cs typeface="Tahoma"/>
              </a:rPr>
              <a:t>Faça um programa que lê uma </a:t>
            </a:r>
            <a:r>
              <a:rPr lang="pt-BR" sz="2800" b="1" dirty="0" err="1">
                <a:latin typeface="Arial"/>
                <a:ea typeface="Tahoma"/>
                <a:cs typeface="Tahoma"/>
              </a:rPr>
              <a:t>string</a:t>
            </a:r>
            <a:r>
              <a:rPr lang="pt-BR" sz="2800" b="1" dirty="0">
                <a:latin typeface="Arial"/>
                <a:ea typeface="Tahoma"/>
                <a:cs typeface="Tahoma"/>
              </a:rPr>
              <a:t> e imprime “Palíndromo” caso a </a:t>
            </a:r>
            <a:r>
              <a:rPr lang="pt-BR" sz="2800" b="1" dirty="0" err="1">
                <a:latin typeface="Arial"/>
                <a:ea typeface="Tahoma"/>
                <a:cs typeface="Tahoma"/>
              </a:rPr>
              <a:t>string</a:t>
            </a:r>
            <a:r>
              <a:rPr lang="pt-BR" sz="2800" b="1" dirty="0">
                <a:latin typeface="Arial"/>
                <a:ea typeface="Tahoma"/>
                <a:cs typeface="Tahoma"/>
              </a:rPr>
              <a:t> seja um palíndromo e “Não é palíndromo” caso não seja. </a:t>
            </a:r>
            <a:endParaRPr lang="pt-BR" sz="2800" b="1">
              <a:latin typeface="Arial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None/>
            </a:pPr>
            <a:r>
              <a:rPr lang="pt-BR" sz="2800" b="1" dirty="0">
                <a:latin typeface="Arial"/>
                <a:ea typeface="Tahoma"/>
                <a:cs typeface="Tahoma"/>
              </a:rPr>
              <a:t>○ Assuma que a entrada não tem acentos e que todas as letras são minúsculas. </a:t>
            </a:r>
          </a:p>
          <a:p>
            <a:pPr>
              <a:buNone/>
            </a:pPr>
            <a:r>
              <a:rPr lang="pt-BR" sz="2800" b="1" dirty="0">
                <a:latin typeface="Arial"/>
                <a:ea typeface="Tahoma"/>
                <a:cs typeface="Tahoma"/>
              </a:rPr>
              <a:t>● </a:t>
            </a:r>
            <a:r>
              <a:rPr lang="pt-BR" sz="2800" b="1" dirty="0" err="1">
                <a:latin typeface="Arial"/>
                <a:ea typeface="Tahoma"/>
                <a:cs typeface="Tahoma"/>
              </a:rPr>
              <a:t>Obs</a:t>
            </a:r>
            <a:r>
              <a:rPr lang="pt-BR" sz="2800" b="1" dirty="0">
                <a:latin typeface="Arial"/>
                <a:ea typeface="Tahoma"/>
                <a:cs typeface="Tahoma"/>
              </a:rPr>
              <a:t>: Um palíndromo é uma palavra ou frase, que é igual quando lida da esquerda para a direita ou da direita para a esquerda (espaços em brancos são descartados). ○ Exemplos de palíndromo: “ovo”, “reviver”, “mega bobagem”, “anotaram a data da maratona” </a:t>
            </a:r>
          </a:p>
        </p:txBody>
      </p:sp>
      <p:sp>
        <p:nvSpPr>
          <p:cNvPr id="11267" name="Espaço Reservado para Número de Slide 1">
            <a:extLst>
              <a:ext uri="{FF2B5EF4-FFF2-40B4-BE49-F238E27FC236}">
                <a16:creationId xmlns:a16="http://schemas.microsoft.com/office/drawing/2014/main" id="{2A3B5753-F19D-007D-45C1-88A3AFDD7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5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642E43E5-FA9E-4CD8-B495-C14FEEBBAA77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pt-BR" altLang="pt-BR" sz="1400"/>
          </a:p>
        </p:txBody>
      </p:sp>
      <p:sp>
        <p:nvSpPr>
          <p:cNvPr id="11268" name="Text Box 2">
            <a:extLst>
              <a:ext uri="{FF2B5EF4-FFF2-40B4-BE49-F238E27FC236}">
                <a16:creationId xmlns:a16="http://schemas.microsoft.com/office/drawing/2014/main" id="{C69A96AF-8033-7E4C-EEA8-3B5DC90A3B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7488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 dirty="0">
                <a:latin typeface="Arial"/>
                <a:cs typeface="Arial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 dirty="0">
                <a:latin typeface="Arial"/>
                <a:cs typeface="Arial"/>
              </a:rPr>
              <a:t>Exercício 09</a:t>
            </a:r>
          </a:p>
        </p:txBody>
      </p:sp>
    </p:spTree>
    <p:extLst>
      <p:ext uri="{BB962C8B-B14F-4D97-AF65-F5344CB8AC3E}">
        <p14:creationId xmlns:p14="http://schemas.microsoft.com/office/powerpoint/2010/main" val="4427868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>
            <a:extLst>
              <a:ext uri="{FF2B5EF4-FFF2-40B4-BE49-F238E27FC236}">
                <a16:creationId xmlns:a16="http://schemas.microsoft.com/office/drawing/2014/main" id="{497CA33C-C48A-4216-F5BC-0E4631F79D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289" y="2238376"/>
            <a:ext cx="10700542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None/>
            </a:pPr>
            <a:r>
              <a:rPr lang="pt-BR" sz="2800" b="1" dirty="0">
                <a:latin typeface="Arial"/>
                <a:ea typeface="Tahoma"/>
                <a:cs typeface="Tahoma"/>
              </a:rPr>
              <a:t>Exemplos de palíndromo: “ovo”, “reviver”, “mega bobagem”, “anotaram a data da maratona” </a:t>
            </a:r>
          </a:p>
          <a:p>
            <a:pPr>
              <a:buNone/>
            </a:pPr>
            <a:endParaRPr lang="pt-BR" dirty="0">
              <a:ea typeface="Tahoma"/>
              <a:cs typeface="Tahoma"/>
            </a:endParaRPr>
          </a:p>
        </p:txBody>
      </p:sp>
      <p:sp>
        <p:nvSpPr>
          <p:cNvPr id="11267" name="Espaço Reservado para Número de Slide 1">
            <a:extLst>
              <a:ext uri="{FF2B5EF4-FFF2-40B4-BE49-F238E27FC236}">
                <a16:creationId xmlns:a16="http://schemas.microsoft.com/office/drawing/2014/main" id="{2A3B5753-F19D-007D-45C1-88A3AFDD7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5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642E43E5-FA9E-4CD8-B495-C14FEEBBAA77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pt-BR" altLang="pt-BR" sz="1400"/>
          </a:p>
        </p:txBody>
      </p:sp>
      <p:sp>
        <p:nvSpPr>
          <p:cNvPr id="11268" name="Text Box 2">
            <a:extLst>
              <a:ext uri="{FF2B5EF4-FFF2-40B4-BE49-F238E27FC236}">
                <a16:creationId xmlns:a16="http://schemas.microsoft.com/office/drawing/2014/main" id="{C69A96AF-8033-7E4C-EEA8-3B5DC90A3B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7488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 dirty="0">
                <a:latin typeface="Arial"/>
                <a:cs typeface="Arial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 dirty="0">
                <a:latin typeface="Arial"/>
                <a:cs typeface="Arial"/>
              </a:rPr>
              <a:t>Exercício 09</a:t>
            </a:r>
          </a:p>
        </p:txBody>
      </p:sp>
    </p:spTree>
    <p:extLst>
      <p:ext uri="{BB962C8B-B14F-4D97-AF65-F5344CB8AC3E}">
        <p14:creationId xmlns:p14="http://schemas.microsoft.com/office/powerpoint/2010/main" val="33537254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Geometrico">
  <a:themeElements>
    <a:clrScheme name="Geometrico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Geometrico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Geometrico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ometrico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ometrico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ometrico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ometrico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ometrico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ometrico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96FFDBFEEF43744B28FED0BED27951C" ma:contentTypeVersion="3" ma:contentTypeDescription="Crie um novo documento." ma:contentTypeScope="" ma:versionID="6b6c4c5daaee2a632d6b67adcf0c1dcb">
  <xsd:schema xmlns:xsd="http://www.w3.org/2001/XMLSchema" xmlns:xs="http://www.w3.org/2001/XMLSchema" xmlns:p="http://schemas.microsoft.com/office/2006/metadata/properties" xmlns:ns2="b8c6fbff-0035-4a65-874c-c953b48de930" targetNamespace="http://schemas.microsoft.com/office/2006/metadata/properties" ma:root="true" ma:fieldsID="baff7f672380be738a5ef06f0e14aaff" ns2:_="">
    <xsd:import namespace="b8c6fbff-0035-4a65-874c-c953b48de93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c6fbff-0035-4a65-874c-c953b48de9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2B87ABA-8625-476B-B239-0FDB19570DE6}"/>
</file>

<file path=customXml/itemProps2.xml><?xml version="1.0" encoding="utf-8"?>
<ds:datastoreItem xmlns:ds="http://schemas.openxmlformats.org/officeDocument/2006/customXml" ds:itemID="{92F9E8D2-2ED6-4034-8183-D6FBE7EA850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75DAEF7-7C27-47DE-AA48-A9F7EC22DF93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3216</TotalTime>
  <Words>790</Words>
  <Application>Microsoft Office PowerPoint</Application>
  <PresentationFormat>Widescreen</PresentationFormat>
  <Paragraphs>647</Paragraphs>
  <Slides>36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36</vt:i4>
      </vt:variant>
    </vt:vector>
  </HeadingPairs>
  <TitlesOfParts>
    <vt:vector size="45" baseType="lpstr">
      <vt:lpstr>Arial</vt:lpstr>
      <vt:lpstr>Arial Black</vt:lpstr>
      <vt:lpstr>Book Antiqua</vt:lpstr>
      <vt:lpstr>Tahoma</vt:lpstr>
      <vt:lpstr>Trebuchet MS</vt:lpstr>
      <vt:lpstr>Tw Cen MT</vt:lpstr>
      <vt:lpstr>Wingdings</vt:lpstr>
      <vt:lpstr>Circuito</vt:lpstr>
      <vt:lpstr>Geometrico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sTRINGS</dc:title>
  <dc:creator>Marcos Antonio Junior</dc:creator>
  <cp:lastModifiedBy>MESTRE</cp:lastModifiedBy>
  <cp:revision>720</cp:revision>
  <dcterms:created xsi:type="dcterms:W3CDTF">2019-10-15T22:22:01Z</dcterms:created>
  <dcterms:modified xsi:type="dcterms:W3CDTF">2026-10-07T22:27:14Z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0x010100296FFDBFEEF43744B28FED0BED27951C</vt:lpwstr>
  </property>
</Properties>
</file>