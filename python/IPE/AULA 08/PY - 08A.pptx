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notesMasterIdLst>
    <p:notesMasterId r:id="rId40"/>
  </p:notesMasterIdLst>
  <p:sldIdLst>
    <p:sldId id="256" r:id="rId5"/>
    <p:sldId id="371" r:id="rId6"/>
    <p:sldId id="398" r:id="rId7"/>
    <p:sldId id="422" r:id="rId8"/>
    <p:sldId id="423" r:id="rId9"/>
    <p:sldId id="427" r:id="rId10"/>
    <p:sldId id="424" r:id="rId11"/>
    <p:sldId id="425" r:id="rId12"/>
    <p:sldId id="428" r:id="rId13"/>
    <p:sldId id="426" r:id="rId14"/>
    <p:sldId id="429" r:id="rId15"/>
    <p:sldId id="430" r:id="rId16"/>
    <p:sldId id="431" r:id="rId17"/>
    <p:sldId id="420" r:id="rId18"/>
    <p:sldId id="432" r:id="rId19"/>
    <p:sldId id="433" r:id="rId20"/>
    <p:sldId id="434" r:id="rId21"/>
    <p:sldId id="437" r:id="rId22"/>
    <p:sldId id="436" r:id="rId23"/>
    <p:sldId id="435" r:id="rId24"/>
    <p:sldId id="441" r:id="rId25"/>
    <p:sldId id="442" r:id="rId26"/>
    <p:sldId id="443" r:id="rId27"/>
    <p:sldId id="439" r:id="rId28"/>
    <p:sldId id="438" r:id="rId29"/>
    <p:sldId id="440" r:id="rId30"/>
    <p:sldId id="444" r:id="rId31"/>
    <p:sldId id="445" r:id="rId32"/>
    <p:sldId id="446" r:id="rId33"/>
    <p:sldId id="447" r:id="rId34"/>
    <p:sldId id="470" r:id="rId35"/>
    <p:sldId id="471" r:id="rId36"/>
    <p:sldId id="472" r:id="rId37"/>
    <p:sldId id="473" r:id="rId38"/>
    <p:sldId id="299" r:id="rId39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CC"/>
    <a:srgbClr val="FFCC00"/>
    <a:srgbClr val="50FAEA"/>
    <a:srgbClr val="99FFCC"/>
    <a:srgbClr val="FFCC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8" autoAdjust="0"/>
    <p:restoredTop sz="90854" autoAdjust="0"/>
  </p:normalViewPr>
  <p:slideViewPr>
    <p:cSldViewPr>
      <p:cViewPr varScale="1">
        <p:scale>
          <a:sx n="66" d="100"/>
          <a:sy n="66" d="100"/>
        </p:scale>
        <p:origin x="175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0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4363AC8-CDA4-4DBA-BCEC-4E085FDFDC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C71D822-B9E4-442B-A0EA-BE98C24684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3D944D3-8F97-4DB8-AF00-4B7E4C4A763E}" type="datetimeFigureOut">
              <a:rPr lang="pt-BR"/>
              <a:pPr>
                <a:defRPr/>
              </a:pPr>
              <a:t>07/10/2026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E543C53F-D090-4910-9494-3F46E78B88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83A7EEE5-9254-46AD-BC6B-38E3E1B64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CC989C-A219-42F2-B074-EF3616CC49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BED7A3-B933-4996-ACFE-7966B0061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F158A0D-25B7-4314-B3E6-DBC6EF4BAA06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1126B7-8AE6-FD8B-5CF1-ACA01DD1811D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F34DF11-55AD-16EE-BB70-0DB350F1CE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410364E0-F13D-669D-F0A2-97D707FBAB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6E4DA1F6-5788-90EF-07C4-BF10E12C46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3EC041DC-BB88-6062-BF35-1AA8A82898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3EF9128-DA6B-5CD6-76BE-A0D6DF9E3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CC200B4-3819-FB5E-FE20-64854C446B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8DFB5F78-9CBE-0316-7628-4D6C6F578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AD5070A4-3B86-CBAF-67E0-3C155D22A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B95C7716-BDF9-AE5E-16B9-265BE5C8393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2C311B23-D146-0DCA-7922-6EB92FC16B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D36E9280-10EE-A8ED-75AB-BA4260F36B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559D3A85-D08E-9655-47DB-509B5D844C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18D271B-3DC9-480E-BEB9-69A94FF2D0D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03006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31D9A259-0E3C-DE55-0501-8035F44E45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827B2DFE-06FA-5E9E-4678-38ADF6B1C2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0A8E9B6C-D3B1-B134-D31A-3CC36D6BA1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6BDA80-7FFC-4A29-9036-E8EF4705BC8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64980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C4FB7E63-00B8-7C18-C0FB-47A540814E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8C2DF5EE-E17C-4D8F-2845-29BB9BF4BF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325FCE1A-3CC0-DEE1-D073-5D6340351B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8D1DD5-CE02-4FC5-AD1B-6C5885D5A44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74463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9A6EAAC0-C5D3-53BF-6E52-997D4325E4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E1463E8A-414B-0279-AA83-1C78AECC66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492EE382-FE8A-CD59-CBDF-EB8019A64F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FC9F1A-84E6-4E1F-8FB3-907396A7802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50299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1035">
            <a:extLst>
              <a:ext uri="{FF2B5EF4-FFF2-40B4-BE49-F238E27FC236}">
                <a16:creationId xmlns:a16="http://schemas.microsoft.com/office/drawing/2014/main" id="{5083B101-132B-C861-090E-340D8D06E2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1036">
            <a:extLst>
              <a:ext uri="{FF2B5EF4-FFF2-40B4-BE49-F238E27FC236}">
                <a16:creationId xmlns:a16="http://schemas.microsoft.com/office/drawing/2014/main" id="{8BC5C2FE-FA79-BBBA-E391-3DD6795526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1037">
            <a:extLst>
              <a:ext uri="{FF2B5EF4-FFF2-40B4-BE49-F238E27FC236}">
                <a16:creationId xmlns:a16="http://schemas.microsoft.com/office/drawing/2014/main" id="{59E68E4D-86EB-E60F-1FFD-2095C64769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FC6656-4A11-4826-A9AB-6A7378C6D43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52972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1035">
            <a:extLst>
              <a:ext uri="{FF2B5EF4-FFF2-40B4-BE49-F238E27FC236}">
                <a16:creationId xmlns:a16="http://schemas.microsoft.com/office/drawing/2014/main" id="{4355986C-A53B-507B-5CB7-9375D093B6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36">
            <a:extLst>
              <a:ext uri="{FF2B5EF4-FFF2-40B4-BE49-F238E27FC236}">
                <a16:creationId xmlns:a16="http://schemas.microsoft.com/office/drawing/2014/main" id="{61DA735A-0A31-B284-30A2-D2D3983B59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7">
            <a:extLst>
              <a:ext uri="{FF2B5EF4-FFF2-40B4-BE49-F238E27FC236}">
                <a16:creationId xmlns:a16="http://schemas.microsoft.com/office/drawing/2014/main" id="{8F078E86-A44F-39AB-6938-71B8E6BE5D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830213-11D2-497E-B13C-222C8CBE69D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4156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5">
            <a:extLst>
              <a:ext uri="{FF2B5EF4-FFF2-40B4-BE49-F238E27FC236}">
                <a16:creationId xmlns:a16="http://schemas.microsoft.com/office/drawing/2014/main" id="{3C29D743-2A9B-39CC-4784-F0A72B381C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1036">
            <a:extLst>
              <a:ext uri="{FF2B5EF4-FFF2-40B4-BE49-F238E27FC236}">
                <a16:creationId xmlns:a16="http://schemas.microsoft.com/office/drawing/2014/main" id="{44D6B338-8AF7-33FD-35C7-B16E58AB47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37">
            <a:extLst>
              <a:ext uri="{FF2B5EF4-FFF2-40B4-BE49-F238E27FC236}">
                <a16:creationId xmlns:a16="http://schemas.microsoft.com/office/drawing/2014/main" id="{3746F6A8-3935-0709-6921-E9BDAC91E7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6CB58-8415-4F12-BC0C-50DC1F56780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51813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AE909A2A-8B11-9991-E6C9-6FDCD246C7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54661271-57E3-B33F-6152-34B8B8B0A8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C155871C-57E7-D838-D69A-1C12EDF24A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CCDA6B-8CE8-4B18-A214-C6E415C38F9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46952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0279E99E-D5A7-5855-113B-33AACA4924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F6B04BA2-20F7-83E5-9B3D-0BED324AF1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84D8D1A6-B3C1-B8B3-4EF3-24E4DDBF93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65D949-0162-4A60-B2E8-4745EFF0C8B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68769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5F0B377C-E6C9-9048-DA6B-F995B872D6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B75BECEA-826E-AA5A-C62C-170E541ED2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8742767A-0112-C6E2-6A53-2BB90D07D1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5EC195-D2B7-4C64-B8A4-2401E5DA85B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07870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EF53EAD5-2F20-51AD-5C8A-18995C41C7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4A461BB2-ACF4-6494-4882-A68167F1EC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5786523C-B6CA-4994-8DE2-6ECB37BDCC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007C34-90E8-4FDA-8B5B-22D957C821F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1737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>
            <a:extLst>
              <a:ext uri="{FF2B5EF4-FFF2-40B4-BE49-F238E27FC236}">
                <a16:creationId xmlns:a16="http://schemas.microsoft.com/office/drawing/2014/main" id="{FBA89211-03BB-4E74-9B07-AFC50817ED2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7" name="Rectangle 1027">
            <a:extLst>
              <a:ext uri="{FF2B5EF4-FFF2-40B4-BE49-F238E27FC236}">
                <a16:creationId xmlns:a16="http://schemas.microsoft.com/office/drawing/2014/main" id="{EAF5671D-4A41-4D55-A3B2-4704DC2C436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8" name="Rectangle 1028">
            <a:extLst>
              <a:ext uri="{FF2B5EF4-FFF2-40B4-BE49-F238E27FC236}">
                <a16:creationId xmlns:a16="http://schemas.microsoft.com/office/drawing/2014/main" id="{CD7F6770-B1BF-45A3-B846-E90864BDC4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9" name="Rectangle 1029">
            <a:extLst>
              <a:ext uri="{FF2B5EF4-FFF2-40B4-BE49-F238E27FC236}">
                <a16:creationId xmlns:a16="http://schemas.microsoft.com/office/drawing/2014/main" id="{912F4071-C77C-4711-B6CC-8318D87A70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0" name="Rectangle 1030">
            <a:extLst>
              <a:ext uri="{FF2B5EF4-FFF2-40B4-BE49-F238E27FC236}">
                <a16:creationId xmlns:a16="http://schemas.microsoft.com/office/drawing/2014/main" id="{760538BD-1CD1-49BA-B62A-63B07791CF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1" name="Rectangle 1031">
            <a:extLst>
              <a:ext uri="{FF2B5EF4-FFF2-40B4-BE49-F238E27FC236}">
                <a16:creationId xmlns:a16="http://schemas.microsoft.com/office/drawing/2014/main" id="{1CBAAF11-5C7D-4922-9E5F-560ABDF75E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2" name="Rectangle 1032">
            <a:extLst>
              <a:ext uri="{FF2B5EF4-FFF2-40B4-BE49-F238E27FC236}">
                <a16:creationId xmlns:a16="http://schemas.microsoft.com/office/drawing/2014/main" id="{D8C651CA-584C-4942-AF35-8CE874B9C6F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3" name="Rectangle 1033">
            <a:extLst>
              <a:ext uri="{FF2B5EF4-FFF2-40B4-BE49-F238E27FC236}">
                <a16:creationId xmlns:a16="http://schemas.microsoft.com/office/drawing/2014/main" id="{C952A31F-526A-4BD7-D61A-E7A2A5C8CB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34" name="Rectangle 1034">
            <a:extLst>
              <a:ext uri="{FF2B5EF4-FFF2-40B4-BE49-F238E27FC236}">
                <a16:creationId xmlns:a16="http://schemas.microsoft.com/office/drawing/2014/main" id="{2BCE563F-9E0E-F949-AA4B-060CEFA541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3083" name="Rectangle 1035">
            <a:extLst>
              <a:ext uri="{FF2B5EF4-FFF2-40B4-BE49-F238E27FC236}">
                <a16:creationId xmlns:a16="http://schemas.microsoft.com/office/drawing/2014/main" id="{641DDB03-A9CD-4287-BFBC-C9A3A09B5E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84" name="Rectangle 1036">
            <a:extLst>
              <a:ext uri="{FF2B5EF4-FFF2-40B4-BE49-F238E27FC236}">
                <a16:creationId xmlns:a16="http://schemas.microsoft.com/office/drawing/2014/main" id="{A509AD49-59A7-49E7-AF16-D0C4AE3405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85" name="Rectangle 1037">
            <a:extLst>
              <a:ext uri="{FF2B5EF4-FFF2-40B4-BE49-F238E27FC236}">
                <a16:creationId xmlns:a16="http://schemas.microsoft.com/office/drawing/2014/main" id="{942C8B03-B793-4436-9A4D-CECC1CEAF8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D6CDC455-0B1A-4413-AA42-0A840F5E9540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6" r:id="rId1"/>
    <p:sldLayoutId id="2147484646" r:id="rId2"/>
    <p:sldLayoutId id="2147484647" r:id="rId3"/>
    <p:sldLayoutId id="2147484648" r:id="rId4"/>
    <p:sldLayoutId id="2147484649" r:id="rId5"/>
    <p:sldLayoutId id="2147484650" r:id="rId6"/>
    <p:sldLayoutId id="2147484651" r:id="rId7"/>
    <p:sldLayoutId id="2147484652" r:id="rId8"/>
    <p:sldLayoutId id="2147484653" r:id="rId9"/>
    <p:sldLayoutId id="2147484654" r:id="rId10"/>
    <p:sldLayoutId id="214748465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>
            <a:extLst>
              <a:ext uri="{FF2B5EF4-FFF2-40B4-BE49-F238E27FC236}">
                <a16:creationId xmlns:a16="http://schemas.microsoft.com/office/drawing/2014/main" id="{836B8628-38DC-03FC-9192-F2B296499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381750"/>
            <a:ext cx="5727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>
                <a:latin typeface="Arial" panose="020B0604020202020204" pitchFamily="34" charset="0"/>
              </a:rPr>
              <a:t>Prof. Marcos Antonio e Marcos Junior</a:t>
            </a:r>
          </a:p>
        </p:txBody>
      </p:sp>
      <p:sp>
        <p:nvSpPr>
          <p:cNvPr id="4099" name="Text Box 2">
            <a:extLst>
              <a:ext uri="{FF2B5EF4-FFF2-40B4-BE49-F238E27FC236}">
                <a16:creationId xmlns:a16="http://schemas.microsoft.com/office/drawing/2014/main" id="{5768CF31-A481-AB5D-5B86-6891C1226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989138"/>
            <a:ext cx="9144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 dirty="0">
                <a:latin typeface="Arial Black" panose="020B0A04020102020204" pitchFamily="34" charset="0"/>
              </a:rPr>
              <a:t>LINGUAGEM DE PROGRAMAÇÃO ORIENTADA A OBJETOS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 dirty="0">
                <a:latin typeface="Arial Black" panose="020B0A04020102020204" pitchFamily="34" charset="0"/>
              </a:rPr>
              <a:t>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4800" b="1" dirty="0">
              <a:latin typeface="Arial Black" panose="020B0A040201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 smtClean="0">
                <a:latin typeface="Arial Black" panose="020B0A04020102020204" pitchFamily="34" charset="0"/>
              </a:rPr>
              <a:t>08A</a:t>
            </a:r>
            <a:endParaRPr lang="pt-BR" altLang="pt-BR" sz="48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Número de Slide 1">
            <a:extLst>
              <a:ext uri="{FF2B5EF4-FFF2-40B4-BE49-F238E27FC236}">
                <a16:creationId xmlns:a16="http://schemas.microsoft.com/office/drawing/2014/main" id="{5F486849-82CF-A56C-7844-809910404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9F973C-DE46-4AE2-84CC-46CB4F0C3EC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439EDFB-9EE5-8114-44C0-902D8189C353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DICIONÁRIOS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ço Reservado para Número de Slide 1">
            <a:extLst>
              <a:ext uri="{FF2B5EF4-FFF2-40B4-BE49-F238E27FC236}">
                <a16:creationId xmlns:a16="http://schemas.microsoft.com/office/drawing/2014/main" id="{7B9E00DE-1E13-4584-AC87-A10B2907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9DA696CC-E5B0-42C2-83A0-E91BBC6AA93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pt-BR" altLang="pt-BR" sz="1400"/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288379B8-48A0-99BC-E03F-342D91293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Dicionários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35384D06-DEF2-0CE1-9D65-937491F2E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É um tipo de dados integrado, e é um dos melhores recursos do Python.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Um dicionário se parece com uma lista, mas é mais geral.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32F51E4E-9A64-5D87-F27B-39F553F4E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E523692E-B80B-495B-8121-6BAA1C52304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4F057D29-C1B3-4074-94F1-65D290CCA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Dicionários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6F8C1F60-A07F-2AD1-9268-F6023C9F4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Em uma lista, os índices têm que ser números inteiros; em um dicionário, eles podem ser de qualquer tipo.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Um dicionário é composto por uma coleção de índices, que se chamam chaves e uma coleção de valores.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Número de Slide 1">
            <a:extLst>
              <a:ext uri="{FF2B5EF4-FFF2-40B4-BE49-F238E27FC236}">
                <a16:creationId xmlns:a16="http://schemas.microsoft.com/office/drawing/2014/main" id="{BA09236F-6ADD-D7A7-8FC5-164E71A0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53C8D066-005D-490B-A495-AE2CD05BE1B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pt-BR" altLang="pt-BR" sz="1400"/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99D0AE7E-548C-B407-A7EC-3CF9C5117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Dicionários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D993452-EF2F-9779-4EDB-0C536108F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Cada chave é associada com um único valor.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A associação de uma chave e um valor chama-se par chave-valor ou item.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ço Reservado para Número de Slide 1">
            <a:extLst>
              <a:ext uri="{FF2B5EF4-FFF2-40B4-BE49-F238E27FC236}">
                <a16:creationId xmlns:a16="http://schemas.microsoft.com/office/drawing/2014/main" id="{81247574-5A06-7F5B-B687-03FED486D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804A50-13DF-49C0-ADC4-490191C57A3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7F3ADA-B29A-FB90-D94C-D52756819028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Como Criar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Um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Dicionário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ço Reservado para Número de Slide 1">
            <a:extLst>
              <a:ext uri="{FF2B5EF4-FFF2-40B4-BE49-F238E27FC236}">
                <a16:creationId xmlns:a16="http://schemas.microsoft.com/office/drawing/2014/main" id="{54BB38C1-CA0D-0BE8-7728-96FA6A7C7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8859DE96-A972-428F-9AE0-2F1DBE4CAEC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pt-BR" altLang="pt-BR" sz="1400"/>
          </a:p>
        </p:txBody>
      </p:sp>
      <p:sp>
        <p:nvSpPr>
          <p:cNvPr id="10243" name="Text Box 2">
            <a:extLst>
              <a:ext uri="{FF2B5EF4-FFF2-40B4-BE49-F238E27FC236}">
                <a16:creationId xmlns:a16="http://schemas.microsoft.com/office/drawing/2014/main" id="{C4019F3D-149A-EFF0-0B35-D1D8C32F1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Dicionários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118DCBDE-7259-D8F2-32ED-2BFA67AB9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Como exemplo, vamos construir um dicionário que faz o mapa de palavras do inglês ao português, portanto as chaves e os valores são todos strings.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ço Reservado para Número de Slide 1">
            <a:extLst>
              <a:ext uri="{FF2B5EF4-FFF2-40B4-BE49-F238E27FC236}">
                <a16:creationId xmlns:a16="http://schemas.microsoft.com/office/drawing/2014/main" id="{F02A2756-AEB8-FB47-71FF-F5525C5F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BAABFFAC-1BAB-46B5-AC06-91225CE3FA0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pt-BR" altLang="pt-BR" sz="1400"/>
          </a:p>
        </p:txBody>
      </p:sp>
      <p:sp>
        <p:nvSpPr>
          <p:cNvPr id="11267" name="Text Box 2">
            <a:extLst>
              <a:ext uri="{FF2B5EF4-FFF2-40B4-BE49-F238E27FC236}">
                <a16:creationId xmlns:a16="http://schemas.microsoft.com/office/drawing/2014/main" id="{2646DBB6-B6E5-5CCB-F7BC-ADC32BF0A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29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61A18DAD-76F3-637B-A4E1-704B12DA5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A função dict cria um novo dicionário sem itens.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IngPort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= dict()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IngPort</a:t>
            </a:r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A Resposta será: {}</a:t>
            </a: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o Explicativo Retangular com Cantos Arredondados 1">
            <a:extLst>
              <a:ext uri="{FF2B5EF4-FFF2-40B4-BE49-F238E27FC236}">
                <a16:creationId xmlns:a16="http://schemas.microsoft.com/office/drawing/2014/main" id="{817111AF-B30D-6F62-8405-BCEA78D36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3284538"/>
            <a:ext cx="2160587" cy="1223962"/>
          </a:xfrm>
          <a:prstGeom prst="wedgeRoundRectCallout">
            <a:avLst>
              <a:gd name="adj1" fmla="val -150046"/>
              <a:gd name="adj2" fmla="val 41532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/>
              <a:t>Um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/>
              <a:t>Dicionário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/>
              <a:t>vazio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ço Reservado para Número de Slide 1">
            <a:extLst>
              <a:ext uri="{FF2B5EF4-FFF2-40B4-BE49-F238E27FC236}">
                <a16:creationId xmlns:a16="http://schemas.microsoft.com/office/drawing/2014/main" id="{CAEF4EF2-D355-13B7-D0CB-190F6B81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C78306-1998-43AA-A790-E0FF4E183C33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6D9A2E4-0EC3-6B27-FFD7-2865DED1C624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Como Adicionar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Dados em um 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Dicionário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Número de Slide 1">
            <a:extLst>
              <a:ext uri="{FF2B5EF4-FFF2-40B4-BE49-F238E27FC236}">
                <a16:creationId xmlns:a16="http://schemas.microsoft.com/office/drawing/2014/main" id="{9E1AD21A-8924-BB35-BE9A-8BE9F0C6D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B93BF7C8-9EE2-4325-9DB0-9436837318CB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pt-BR" altLang="pt-BR" sz="1400"/>
          </a:p>
        </p:txBody>
      </p:sp>
      <p:sp>
        <p:nvSpPr>
          <p:cNvPr id="13315" name="Text Box 2">
            <a:extLst>
              <a:ext uri="{FF2B5EF4-FFF2-40B4-BE49-F238E27FC236}">
                <a16:creationId xmlns:a16="http://schemas.microsoft.com/office/drawing/2014/main" id="{58EF04F0-5D1A-08B1-B96B-2B29463DE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30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5E9702DA-6BE3-E012-CE9F-BAD4A3B71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Para acrescentar itens ao dicionário: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IngPort[“one”] = “um”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IngPort“two”] = “dois”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IngPort[“three”] = “três”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IngPort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A Resposta será: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{'one': 'um', 'two': 'dois', 'three': 'três'}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Número de Slide 1">
            <a:extLst>
              <a:ext uri="{FF2B5EF4-FFF2-40B4-BE49-F238E27FC236}">
                <a16:creationId xmlns:a16="http://schemas.microsoft.com/office/drawing/2014/main" id="{03B3E383-6C75-1C38-910A-5D1DF298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4FCA3E7E-7FDB-440E-8A6B-DB85BC8C5CA3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pt-BR" altLang="pt-BR" sz="1400"/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F791FD0F-ECA4-43F8-6A86-629E595EC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31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4F8301A4-9318-F9EE-90EF-23F2A4378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Também pode ser: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IngPort = {“one”:“um”, “two”:“dois”, “three”:“três”}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IngPort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A Resposta será: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{'one': 'um', 'three': 'três', 'two': 'dois'}</a:t>
            </a:r>
          </a:p>
        </p:txBody>
      </p:sp>
      <p:sp>
        <p:nvSpPr>
          <p:cNvPr id="3" name="Texto Explicativo Retangular com Cantos Arredondados 2">
            <a:extLst>
              <a:ext uri="{FF2B5EF4-FFF2-40B4-BE49-F238E27FC236}">
                <a16:creationId xmlns:a16="http://schemas.microsoft.com/office/drawing/2014/main" id="{744F4BFF-781D-C4FE-3BA0-A59E8563E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3500438"/>
            <a:ext cx="3382963" cy="1873250"/>
          </a:xfrm>
          <a:prstGeom prst="wedgeRoundRectCallout">
            <a:avLst>
              <a:gd name="adj1" fmla="val -86245"/>
              <a:gd name="adj2" fmla="val 59074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/>
              <a:t>Em geral, a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/>
              <a:t>ordem dos itens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/>
              <a:t>em um dicionário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/>
              <a:t>é imprevisível.</a:t>
            </a:r>
            <a:endParaRPr lang="pt-BR" altLang="pt-BR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ço Reservado para Número de Slide 1">
            <a:extLst>
              <a:ext uri="{FF2B5EF4-FFF2-40B4-BE49-F238E27FC236}">
                <a16:creationId xmlns:a16="http://schemas.microsoft.com/office/drawing/2014/main" id="{1EA1221D-F264-0DF9-53EF-3ED08588F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CCCFB9A-B9A2-41DF-AE3F-C17807850C8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pt-BR" altLang="pt-BR" sz="1400"/>
          </a:p>
        </p:txBody>
      </p:sp>
      <p:sp>
        <p:nvSpPr>
          <p:cNvPr id="15363" name="Text Box 2">
            <a:extLst>
              <a:ext uri="{FF2B5EF4-FFF2-40B4-BE49-F238E27FC236}">
                <a16:creationId xmlns:a16="http://schemas.microsoft.com/office/drawing/2014/main" id="{36E704D2-ED69-363E-9E68-E321A3C3F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32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3A5F783-D217-9605-EE5B-F21A6FD4B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Para acessar um par chave-valor pode ser usado: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IngPort[“two”]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A Resposta será: 'dois'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ço Reservado para Número de Slide 1">
            <a:extLst>
              <a:ext uri="{FF2B5EF4-FFF2-40B4-BE49-F238E27FC236}">
                <a16:creationId xmlns:a16="http://schemas.microsoft.com/office/drawing/2014/main" id="{728542BF-34D9-C511-C976-6B66FBC95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08FBE717-DB8D-4662-8F5F-C3BE70A0061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pt-BR" altLang="pt-BR" sz="1400"/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988222F9-A786-F134-900A-BBE029C33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33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CF39DDE-BCA1-D572-94F9-D2A86020E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Se a chave não estiver no dicionário, recebe-se uma exceção: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IngPort['four']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A Resposta será: KeyError: 'four'</a:t>
            </a:r>
            <a:endParaRPr lang="pt-BR" alt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Número de Slide 1">
            <a:extLst>
              <a:ext uri="{FF2B5EF4-FFF2-40B4-BE49-F238E27FC236}">
                <a16:creationId xmlns:a16="http://schemas.microsoft.com/office/drawing/2014/main" id="{011154C9-A49E-9E47-1C48-3FA37340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D49A99-FAB7-440D-B22E-08E936F366F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79492D4-4F95-3AFC-CACA-C90E3F052B50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Função </a:t>
            </a:r>
            <a:r>
              <a:rPr lang="pt-BR" altLang="pt-BR" sz="4600" b="1" kern="0" dirty="0" err="1">
                <a:latin typeface="Arial Black" panose="020B0A04020102020204" pitchFamily="34" charset="0"/>
              </a:rPr>
              <a:t>len</a:t>
            </a:r>
            <a:endParaRPr lang="pt-BR" altLang="pt-BR" sz="4600" b="1" kern="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Número de Slide 1">
            <a:extLst>
              <a:ext uri="{FF2B5EF4-FFF2-40B4-BE49-F238E27FC236}">
                <a16:creationId xmlns:a16="http://schemas.microsoft.com/office/drawing/2014/main" id="{7837F135-289D-1E57-15E6-A2542F5C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AB9F800B-BA25-4DCE-89F2-7D8E22C2F37B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pt-BR" altLang="pt-BR" sz="1400"/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A45018E5-ADE9-AC48-F823-CE80A1D4C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34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3CF5F867-DCEF-90FE-7175-36C338627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Ela devolve o número de pares chave-valor:</a:t>
            </a:r>
            <a:endParaRPr lang="pt-BR" altLang="pt-BR" sz="4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len(IngPort)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A Resposta será: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ço Reservado para Número de Slide 1">
            <a:extLst>
              <a:ext uri="{FF2B5EF4-FFF2-40B4-BE49-F238E27FC236}">
                <a16:creationId xmlns:a16="http://schemas.microsoft.com/office/drawing/2014/main" id="{21500937-4F3D-81EA-A7F7-C140D9CA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52BFD5-55B1-43E0-B622-AC3ACDFCF1D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A45DBB-0738-4DAE-6529-46628C777FC5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Utilizando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Operador 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Número de Slide 1">
            <a:extLst>
              <a:ext uri="{FF2B5EF4-FFF2-40B4-BE49-F238E27FC236}">
                <a16:creationId xmlns:a16="http://schemas.microsoft.com/office/drawing/2014/main" id="{A4CA3798-563B-D212-6A52-CCD9AA17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EACEF0B7-8779-4CDE-8150-48C6D415E27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pt-BR" altLang="pt-BR" sz="1400"/>
          </a:p>
        </p:txBody>
      </p:sp>
      <p:sp>
        <p:nvSpPr>
          <p:cNvPr id="20483" name="Text Box 2">
            <a:extLst>
              <a:ext uri="{FF2B5EF4-FFF2-40B4-BE49-F238E27FC236}">
                <a16:creationId xmlns:a16="http://schemas.microsoft.com/office/drawing/2014/main" id="{CD6FE60F-6E07-0FB8-9D8C-4BC2E7DC0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Operador in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9202B58-EF30-2075-9BCF-73EF28242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O operador in acusa se algo aparece como chave no dicionário:</a:t>
            </a:r>
            <a:endParaRPr lang="pt-BR" altLang="pt-BR" sz="4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   ‘dois' in IngPort</a:t>
            </a:r>
            <a:endParaRPr lang="pt-BR" altLang="pt-BR" sz="4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   A Resposta será: True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4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   ‘two' in IngPort</a:t>
            </a:r>
            <a:endParaRPr lang="pt-BR" altLang="pt-BR" sz="4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   A Resoista será: False</a:t>
            </a:r>
            <a:endParaRPr lang="pt-BR" alt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Número de Slide 1">
            <a:extLst>
              <a:ext uri="{FF2B5EF4-FFF2-40B4-BE49-F238E27FC236}">
                <a16:creationId xmlns:a16="http://schemas.microsoft.com/office/drawing/2014/main" id="{27020442-F2DE-4578-FAD1-C1189306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CA3589-E6B9-4383-8BB8-CD4229FEA8D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72BA3E3-C38D-EDFC-F2DE-027EF0E216B2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Método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 err="1">
                <a:latin typeface="Arial Black" panose="020B0A04020102020204" pitchFamily="34" charset="0"/>
              </a:rPr>
              <a:t>values</a:t>
            </a:r>
            <a:endParaRPr lang="pt-BR" altLang="pt-BR" sz="4600" b="1" kern="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Número de Slide 1">
            <a:extLst>
              <a:ext uri="{FF2B5EF4-FFF2-40B4-BE49-F238E27FC236}">
                <a16:creationId xmlns:a16="http://schemas.microsoft.com/office/drawing/2014/main" id="{6C630FBF-5746-24E7-CFE7-3CF306C7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F2E180A-B267-4216-81E7-607C170A765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pt-BR" altLang="pt-BR" sz="1400"/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EFD321A9-6C92-7E50-9132-F8A88214E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Metodo values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BE19A18-B68D-F394-8A9C-951AD6F39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Para ver se algum valor aparece em um dicionário, pode-se usar o método values, que devolve todos os valores do dicionário, e então usar o operador in: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ço Reservado para Número de Slide 1">
            <a:extLst>
              <a:ext uri="{FF2B5EF4-FFF2-40B4-BE49-F238E27FC236}">
                <a16:creationId xmlns:a16="http://schemas.microsoft.com/office/drawing/2014/main" id="{86B0C02B-39C6-491E-DBC8-E0D3CABA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D8AA12E4-7E3C-4C4F-9F53-615C65AEEEF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pt-BR" altLang="pt-BR" sz="1400"/>
          </a:p>
        </p:txBody>
      </p:sp>
      <p:sp>
        <p:nvSpPr>
          <p:cNvPr id="23555" name="Text Box 2">
            <a:extLst>
              <a:ext uri="{FF2B5EF4-FFF2-40B4-BE49-F238E27FC236}">
                <a16:creationId xmlns:a16="http://schemas.microsoft.com/office/drawing/2014/main" id="{2C0FCBA3-FCDC-F1DB-D17C-C49BFF743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35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80230625-40E7-27A1-5BEA-65AD40801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IngPort = {"one":"um", "two":"dois", "three":"três"}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valores = IngPort.values()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 Resposta será: dict_values(['um', 'dois', 'três'])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1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"dois" in valores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 Resposta será: True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“two" in valores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 Resposta será: False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ço Reservado para Número de Slide 1">
            <a:extLst>
              <a:ext uri="{FF2B5EF4-FFF2-40B4-BE49-F238E27FC236}">
                <a16:creationId xmlns:a16="http://schemas.microsoft.com/office/drawing/2014/main" id="{7E0ABEE2-1A13-3DDE-C76C-31F488AA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27E612-2170-425A-9080-136C8FC7173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515DC3C-5418-E213-2E75-242DE3238B06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Função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 err="1">
                <a:latin typeface="Arial Black" panose="020B0A04020102020204" pitchFamily="34" charset="0"/>
              </a:rPr>
              <a:t>get</a:t>
            </a:r>
            <a:endParaRPr lang="pt-BR" altLang="pt-BR" sz="4600" b="1" kern="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ço Reservado para Número de Slide 1">
            <a:extLst>
              <a:ext uri="{FF2B5EF4-FFF2-40B4-BE49-F238E27FC236}">
                <a16:creationId xmlns:a16="http://schemas.microsoft.com/office/drawing/2014/main" id="{547D777E-29B3-8FB7-1CCA-FF4D864D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9141B5CC-9C60-4366-9FD5-C2FFDB581F6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pt-BR" altLang="pt-BR" sz="1400"/>
          </a:p>
        </p:txBody>
      </p:sp>
      <p:sp>
        <p:nvSpPr>
          <p:cNvPr id="25603" name="Text Box 2">
            <a:extLst>
              <a:ext uri="{FF2B5EF4-FFF2-40B4-BE49-F238E27FC236}">
                <a16:creationId xmlns:a16="http://schemas.microsoft.com/office/drawing/2014/main" id="{9C1655FB-167D-6E18-7884-DAC893CE5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 get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3C04595C-B67C-0CD4-ED1B-9E6E9FC95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Obtém o conteúdo de chave. Não causa erro caso a chave não  exista: retorna o valor.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1">
            <a:extLst>
              <a:ext uri="{FF2B5EF4-FFF2-40B4-BE49-F238E27FC236}">
                <a16:creationId xmlns:a16="http://schemas.microsoft.com/office/drawing/2014/main" id="{C164F187-2658-99DA-E56A-E26DF971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19691196-565F-43B5-B0DF-2EE16E18D3B8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pt-BR" altLang="pt-BR" sz="1400"/>
          </a:p>
        </p:txBody>
      </p:sp>
      <p:sp>
        <p:nvSpPr>
          <p:cNvPr id="26627" name="Text Box 2">
            <a:extLst>
              <a:ext uri="{FF2B5EF4-FFF2-40B4-BE49-F238E27FC236}">
                <a16:creationId xmlns:a16="http://schemas.microsoft.com/office/drawing/2014/main" id="{98F1A19B-9797-D1ED-2BB3-8EA1A04E5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36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91B928D-33BB-D037-CD7D-551DF0049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IngPort = {"one":"um", "two":"dois", "three":"três"}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chave = input("Digite um Número em Inglês: 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print(IngPort.get(chave))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o Explicativo Retangular com Cantos Arredondados 1">
            <a:extLst>
              <a:ext uri="{FF2B5EF4-FFF2-40B4-BE49-F238E27FC236}">
                <a16:creationId xmlns:a16="http://schemas.microsoft.com/office/drawing/2014/main" id="{F3E05861-CE58-D78C-CDAC-C65DD45A3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005263"/>
            <a:ext cx="4105275" cy="1439862"/>
          </a:xfrm>
          <a:prstGeom prst="wedgeRoundRectCallout">
            <a:avLst>
              <a:gd name="adj1" fmla="val -48972"/>
              <a:gd name="adj2" fmla="val -77852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Por exemplo: two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Aresposta será: dois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ço Reservado para Número de Slide 1">
            <a:extLst>
              <a:ext uri="{FF2B5EF4-FFF2-40B4-BE49-F238E27FC236}">
                <a16:creationId xmlns:a16="http://schemas.microsoft.com/office/drawing/2014/main" id="{07756215-0B3C-B90C-61D3-910C28431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11DD91-2047-4ED0-9359-9D44F60BB268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A4FE95B-5D86-F628-6F0A-AF334D867796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Um Exemplo Criando o Dicionário e Utilizando-o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Número de Slide 1">
            <a:extLst>
              <a:ext uri="{FF2B5EF4-FFF2-40B4-BE49-F238E27FC236}">
                <a16:creationId xmlns:a16="http://schemas.microsoft.com/office/drawing/2014/main" id="{21EAFB5C-FBC4-D355-D5C8-26A7794A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19787DC3-6630-42E3-B0AA-A6BD5EC1421B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pt-BR" altLang="pt-BR" sz="1400"/>
          </a:p>
        </p:txBody>
      </p:sp>
      <p:sp>
        <p:nvSpPr>
          <p:cNvPr id="28675" name="Text Box 2">
            <a:extLst>
              <a:ext uri="{FF2B5EF4-FFF2-40B4-BE49-F238E27FC236}">
                <a16:creationId xmlns:a16="http://schemas.microsoft.com/office/drawing/2014/main" id="{8DB7ADEC-6B1B-8F30-2989-26269AB1C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38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3655C33-E333-3C18-C493-24022C0C1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peça para o usupario digitar 10 números de Nota Fiscal e o valor, armazenando-os no dicionário.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Depois o usuário informa o número da Nota Fiscal e o programa retorna o valo, parando a digitação quando for digitado um npumero 0.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Número de Slide 1">
            <a:extLst>
              <a:ext uri="{FF2B5EF4-FFF2-40B4-BE49-F238E27FC236}">
                <a16:creationId xmlns:a16="http://schemas.microsoft.com/office/drawing/2014/main" id="{B07D20D2-62F3-0C3A-F049-D846198A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537C749B-7793-4564-B821-DDE7B362956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pt-BR" altLang="pt-BR" sz="1400"/>
          </a:p>
        </p:txBody>
      </p:sp>
      <p:sp>
        <p:nvSpPr>
          <p:cNvPr id="29699" name="Text Box 2">
            <a:extLst>
              <a:ext uri="{FF2B5EF4-FFF2-40B4-BE49-F238E27FC236}">
                <a16:creationId xmlns:a16="http://schemas.microsoft.com/office/drawing/2014/main" id="{133AE116-3B4D-ECE9-47CC-1E5F8B840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38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EB11E0F5-1870-A1A6-A94A-7315CF38E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88" y="1908175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nf = dict()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for i in range(0,5):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nrnf_texto = input("Digite o Número da Nota: 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valor_texto = input("Digite o Valor da Nota: 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nrnf = int(nrnf_texto)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valor = float(valor_texto)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nf.update({nrnf:valor})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ço Reservado para Número de Slide 1">
            <a:extLst>
              <a:ext uri="{FF2B5EF4-FFF2-40B4-BE49-F238E27FC236}">
                <a16:creationId xmlns:a16="http://schemas.microsoft.com/office/drawing/2014/main" id="{CFE7A895-70EE-B8E7-BA07-67B20325C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C1D7CDA0-707F-4996-B191-BC66CF0B22C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pt-BR" altLang="pt-BR" sz="140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769115BB-CCB4-487A-788F-4A50E680A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cont = 1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while(cont != 0):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nmpesq_texto = input("Digite o número a ser pesquisado: 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nmpesq = int(nmpesq_texto)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if nmpesq == 0: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print("ENCERRANDO")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break</a:t>
            </a:r>
          </a:p>
        </p:txBody>
      </p:sp>
      <p:sp>
        <p:nvSpPr>
          <p:cNvPr id="30724" name="Text Box 2">
            <a:extLst>
              <a:ext uri="{FF2B5EF4-FFF2-40B4-BE49-F238E27FC236}">
                <a16:creationId xmlns:a16="http://schemas.microsoft.com/office/drawing/2014/main" id="{4A8AB977-65AE-1888-42AE-411FDC705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ço Reservado para Número de Slide 1">
            <a:extLst>
              <a:ext uri="{FF2B5EF4-FFF2-40B4-BE49-F238E27FC236}">
                <a16:creationId xmlns:a16="http://schemas.microsoft.com/office/drawing/2014/main" id="{16C327D6-AE0D-8AFD-5DA8-25641DCA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CDA29FFB-85DF-4FE5-9979-E366E082B83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pt-BR" altLang="pt-BR" sz="1400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FB6E97F-E798-B56C-9815-945585BC8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if nmpesq not in nf: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print("O Número NÃO está Cadastrado")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else: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print("O número: ",nmpesq, " tem o valor: ",nf.get(nmpesq))</a:t>
            </a:r>
          </a:p>
        </p:txBody>
      </p:sp>
      <p:sp>
        <p:nvSpPr>
          <p:cNvPr id="31748" name="Text Box 2">
            <a:extLst>
              <a:ext uri="{FF2B5EF4-FFF2-40B4-BE49-F238E27FC236}">
                <a16:creationId xmlns:a16="http://schemas.microsoft.com/office/drawing/2014/main" id="{079B1830-4442-C8D0-211D-3D9A7EB9B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ço Reservado para Número de Slide 1">
            <a:extLst>
              <a:ext uri="{FF2B5EF4-FFF2-40B4-BE49-F238E27FC236}">
                <a16:creationId xmlns:a16="http://schemas.microsoft.com/office/drawing/2014/main" id="{F3F7F563-EA10-68E1-12AE-FE2C2D2B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D07FD9-BC45-4C90-96A9-E96C770D74FB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93092DB-4CE0-D3A1-CA9E-BA370254F9A8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TUPLA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ço Reservado para Número de Slide 1">
            <a:extLst>
              <a:ext uri="{FF2B5EF4-FFF2-40B4-BE49-F238E27FC236}">
                <a16:creationId xmlns:a16="http://schemas.microsoft.com/office/drawing/2014/main" id="{FE98FC57-4FDB-5BC1-618A-7E4537D6C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A5A7171A-B58F-4322-BB05-D41EB20AD58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pt-BR" altLang="pt-BR" sz="1400"/>
          </a:p>
        </p:txBody>
      </p:sp>
      <p:sp>
        <p:nvSpPr>
          <p:cNvPr id="33795" name="Text Box 2">
            <a:extLst>
              <a:ext uri="{FF2B5EF4-FFF2-40B4-BE49-F238E27FC236}">
                <a16:creationId xmlns:a16="http://schemas.microsoft.com/office/drawing/2014/main" id="{DD88C46B-E2FA-43A6-A3A2-9EA2CB735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Tupla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01339F89-1BDE-376C-3D0B-35906DB12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Tupla é uma estrutura de dados semelhante a lista.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Porém, ela tem a característica de ser imutável, ou seja, após uma tupla ser criada, ela não pode ser alterada.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Número de Slide 1">
            <a:extLst>
              <a:ext uri="{FF2B5EF4-FFF2-40B4-BE49-F238E27FC236}">
                <a16:creationId xmlns:a16="http://schemas.microsoft.com/office/drawing/2014/main" id="{278C5610-ED10-356B-0C6C-33CA2A1BE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FFE1452C-61D4-4797-BBBA-D5CC2F50DB9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BF9A6A4-F2F9-F014-82E2-6FEB02322B61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2133600"/>
            <a:ext cx="8897937" cy="3887788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EXERCÍCIOS</a:t>
            </a:r>
          </a:p>
        </p:txBody>
      </p:sp>
      <p:sp>
        <p:nvSpPr>
          <p:cNvPr id="56324" name="Text Box 2">
            <a:extLst>
              <a:ext uri="{FF2B5EF4-FFF2-40B4-BE49-F238E27FC236}">
                <a16:creationId xmlns:a16="http://schemas.microsoft.com/office/drawing/2014/main" id="{192AD3F1-3533-0F07-D865-8262425C8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 panose="020B0604020202020204" pitchFamily="34" charset="0"/>
              </a:rPr>
              <a:t>LINGUAGEM DE </a:t>
            </a:r>
            <a:r>
              <a:rPr lang="pt-BR" altLang="pt-BR" sz="4400" b="1" dirty="0" err="1">
                <a:latin typeface="Arial" panose="020B0604020202020204" pitchFamily="34" charset="0"/>
              </a:rPr>
              <a:t>PROG</a:t>
            </a:r>
            <a:r>
              <a:rPr lang="pt-BR" altLang="pt-BR" sz="4400" b="1" dirty="0">
                <a:latin typeface="Arial" panose="020B0604020202020204" pitchFamily="34" charset="0"/>
              </a:rPr>
              <a:t>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 panose="020B0604020202020204" pitchFamily="34" charset="0"/>
              </a:rPr>
              <a:t>Dicionário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ço Reservado para Número de Slide 1">
            <a:extLst>
              <a:ext uri="{FF2B5EF4-FFF2-40B4-BE49-F238E27FC236}">
                <a16:creationId xmlns:a16="http://schemas.microsoft.com/office/drawing/2014/main" id="{E95AC1DF-C426-66C9-FCCE-2FCAF8927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F66FC351-F3E3-4D4D-88E9-EF05C98D06E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pt-BR" altLang="pt-BR" sz="1400"/>
          </a:p>
        </p:txBody>
      </p:sp>
      <p:sp>
        <p:nvSpPr>
          <p:cNvPr id="57347" name="Text Box 2">
            <a:extLst>
              <a:ext uri="{FF2B5EF4-FFF2-40B4-BE49-F238E27FC236}">
                <a16:creationId xmlns:a16="http://schemas.microsoft.com/office/drawing/2014/main" id="{8C233E52-ECF9-2A8B-07D2-896506F25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 panose="020B0604020202020204" pitchFamily="34" charset="0"/>
              </a:rPr>
              <a:t>LINGUAGEM DE </a:t>
            </a:r>
            <a:r>
              <a:rPr lang="pt-BR" altLang="pt-BR" sz="4400" b="1" dirty="0" err="1">
                <a:latin typeface="Arial" panose="020B0604020202020204" pitchFamily="34" charset="0"/>
              </a:rPr>
              <a:t>PROG</a:t>
            </a:r>
            <a:r>
              <a:rPr lang="pt-BR" altLang="pt-BR" sz="4400" b="1" dirty="0">
                <a:latin typeface="Arial" panose="020B0604020202020204" pitchFamily="34" charset="0"/>
              </a:rPr>
              <a:t>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 panose="020B0604020202020204" pitchFamily="34" charset="0"/>
              </a:rPr>
              <a:t>Exercício 31 - Dicionário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6535D319-D9D3-76DF-7437-AFCCAF4B8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572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Faça um dicionário com as 5 pessoas mais perto de você, tendo o nome como chave e a cor da camisa que está usando como valor.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Imprima no fim.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ço Reservado para Número de Slide 1">
            <a:extLst>
              <a:ext uri="{FF2B5EF4-FFF2-40B4-BE49-F238E27FC236}">
                <a16:creationId xmlns:a16="http://schemas.microsoft.com/office/drawing/2014/main" id="{E45AB97F-25B3-5EDE-9B69-1AA426B6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3125FDCC-B32C-4DEC-AD12-5E9391B5765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pt-BR" altLang="pt-BR" sz="1400"/>
          </a:p>
        </p:txBody>
      </p:sp>
      <p:sp>
        <p:nvSpPr>
          <p:cNvPr id="58371" name="Text Box 2">
            <a:extLst>
              <a:ext uri="{FF2B5EF4-FFF2-40B4-BE49-F238E27FC236}">
                <a16:creationId xmlns:a16="http://schemas.microsoft.com/office/drawing/2014/main" id="{B03D6A71-C818-08E5-5704-9A07D77F5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 panose="020B0604020202020204" pitchFamily="34" charset="0"/>
              </a:rPr>
              <a:t>LINGUAGEM DE </a:t>
            </a:r>
            <a:r>
              <a:rPr lang="pt-BR" altLang="pt-BR" sz="4400" b="1" dirty="0" err="1">
                <a:latin typeface="Arial" panose="020B0604020202020204" pitchFamily="34" charset="0"/>
              </a:rPr>
              <a:t>PROG</a:t>
            </a:r>
            <a:r>
              <a:rPr lang="pt-BR" altLang="pt-BR" sz="4400" b="1" dirty="0">
                <a:latin typeface="Arial" panose="020B0604020202020204" pitchFamily="34" charset="0"/>
              </a:rPr>
              <a:t>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 err="1">
                <a:latin typeface="Arial" panose="020B0604020202020204" pitchFamily="34" charset="0"/>
              </a:rPr>
              <a:t>Exercicio</a:t>
            </a:r>
            <a:r>
              <a:rPr lang="pt-BR" altLang="pt-BR" sz="4200" b="1" dirty="0">
                <a:latin typeface="Arial" panose="020B0604020202020204" pitchFamily="34" charset="0"/>
              </a:rPr>
              <a:t> 32 - Dicionário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F0022475-8806-9C88-DE80-3327306E2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989138"/>
            <a:ext cx="8999984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572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Crie um dicionário vazio:  semana = {}.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Complete-o com uma chave para cada dia da semana, tendo como seu valor uma aula do dia,  (sábado e domingo recebem “Descanso”). Possibilite a inclusão de dias.  Imprima no final.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Número de Slide 1">
            <a:extLst>
              <a:ext uri="{FF2B5EF4-FFF2-40B4-BE49-F238E27FC236}">
                <a16:creationId xmlns:a16="http://schemas.microsoft.com/office/drawing/2014/main" id="{3D0C6FD6-5F33-799C-A530-FC0956CCD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129426A4-0220-4C7D-9FAE-6E42E3FEC49B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pt-BR" altLang="pt-BR" sz="1400"/>
          </a:p>
        </p:txBody>
      </p:sp>
      <p:sp>
        <p:nvSpPr>
          <p:cNvPr id="59395" name="Text Box 2">
            <a:extLst>
              <a:ext uri="{FF2B5EF4-FFF2-40B4-BE49-F238E27FC236}">
                <a16:creationId xmlns:a16="http://schemas.microsoft.com/office/drawing/2014/main" id="{21AEFC0A-54A5-B7B6-D4BE-09890397A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 panose="020B0604020202020204" pitchFamily="34" charset="0"/>
              </a:rPr>
              <a:t>LINGUAGEM DE </a:t>
            </a:r>
            <a:r>
              <a:rPr lang="pt-BR" altLang="pt-BR" sz="4400" b="1" dirty="0" err="1">
                <a:latin typeface="Arial" panose="020B0604020202020204" pitchFamily="34" charset="0"/>
              </a:rPr>
              <a:t>PROG</a:t>
            </a:r>
            <a:r>
              <a:rPr lang="pt-BR" altLang="pt-BR" sz="4400" b="1" dirty="0">
                <a:latin typeface="Arial" panose="020B0604020202020204" pitchFamily="34" charset="0"/>
              </a:rPr>
              <a:t>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 panose="020B0604020202020204" pitchFamily="34" charset="0"/>
              </a:rPr>
              <a:t>Exercício 33 - Dicionário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FCA2312A-861E-FFEA-8E50-9354E4A69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989138"/>
            <a:ext cx="8999984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572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Crie um dicionário vazio: filmes = {}. 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Utilize o nome de um filme como chave. E, como valor o nome do ator principal.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Possibilite inclusão e exclusão de filmes e atores, imprimindo no final.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extLst>
              <a:ext uri="{FF2B5EF4-FFF2-40B4-BE49-F238E27FC236}">
                <a16:creationId xmlns:a16="http://schemas.microsoft.com/office/drawing/2014/main" id="{CBCB67D3-0829-FCF3-DBE7-930B31CDB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4813"/>
            <a:ext cx="91440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</a:rPr>
              <a:t>LINGUAGEM DE PROGRAMAÇÃO OO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>
              <a:latin typeface="Arial" panose="020B0604020202020204" pitchFamily="34" charset="0"/>
            </a:endParaRPr>
          </a:p>
        </p:txBody>
      </p:sp>
      <p:sp>
        <p:nvSpPr>
          <p:cNvPr id="61443" name="Espaço Reservado para Número de Slide 1">
            <a:extLst>
              <a:ext uri="{FF2B5EF4-FFF2-40B4-BE49-F238E27FC236}">
                <a16:creationId xmlns:a16="http://schemas.microsoft.com/office/drawing/2014/main" id="{29C02887-6C65-B8E4-663D-98FE01822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9005F4-CF0F-4F4F-A5EE-9548A5BDD30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pt-BR" altLang="pt-BR" sz="1400"/>
          </a:p>
        </p:txBody>
      </p:sp>
      <p:graphicFrame>
        <p:nvGraphicFramePr>
          <p:cNvPr id="61444" name="Objeto 1">
            <a:extLst>
              <a:ext uri="{FF2B5EF4-FFF2-40B4-BE49-F238E27FC236}">
                <a16:creationId xmlns:a16="http://schemas.microsoft.com/office/drawing/2014/main" id="{C9220D26-6B0E-668B-40F9-84335FE343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2060575"/>
          <a:ext cx="5184775" cy="396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Imagem de Bitmap" r:id="rId3" imgW="0" imgH="0" progId="Paint.Picture">
                  <p:embed/>
                </p:oleObj>
              </mc:Choice>
              <mc:Fallback>
                <p:oleObj name="Imagem de Bitmap" r:id="rId3" imgW="0" imgH="0" progId="Paint.Picture">
                  <p:embed/>
                  <p:pic>
                    <p:nvPicPr>
                      <p:cNvPr id="0" name="Objeto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060575"/>
                        <a:ext cx="5184775" cy="396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Geometrico">
  <a:themeElements>
    <a:clrScheme name="Geometrico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Geometric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Geometrico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96FFDBFEEF43744B28FED0BED27951C" ma:contentTypeVersion="3" ma:contentTypeDescription="Crie um novo documento." ma:contentTypeScope="" ma:versionID="6b6c4c5daaee2a632d6b67adcf0c1dcb">
  <xsd:schema xmlns:xsd="http://www.w3.org/2001/XMLSchema" xmlns:xs="http://www.w3.org/2001/XMLSchema" xmlns:p="http://schemas.microsoft.com/office/2006/metadata/properties" xmlns:ns2="b8c6fbff-0035-4a65-874c-c953b48de930" targetNamespace="http://schemas.microsoft.com/office/2006/metadata/properties" ma:root="true" ma:fieldsID="baff7f672380be738a5ef06f0e14aaff" ns2:_="">
    <xsd:import namespace="b8c6fbff-0035-4a65-874c-c953b48de9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c6fbff-0035-4a65-874c-c953b48de9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155DFF-8A8D-4A34-8E12-697EE1DBFB03}"/>
</file>

<file path=customXml/itemProps2.xml><?xml version="1.0" encoding="utf-8"?>
<ds:datastoreItem xmlns:ds="http://schemas.openxmlformats.org/officeDocument/2006/customXml" ds:itemID="{99C03D72-2802-4689-B77E-667054E3E05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28EB5C4-5B1D-49A1-A44D-83858A1E28E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apresentação\Geometrico.pot</Template>
  <TotalTime>5028</TotalTime>
  <Words>946</Words>
  <Application>Microsoft Office PowerPoint</Application>
  <PresentationFormat>Apresentação na tela (4:3)</PresentationFormat>
  <Paragraphs>344</Paragraphs>
  <Slides>35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3" baseType="lpstr">
      <vt:lpstr>Arial</vt:lpstr>
      <vt:lpstr>Arial Black</vt:lpstr>
      <vt:lpstr>Calibri</vt:lpstr>
      <vt:lpstr>Tahoma</vt:lpstr>
      <vt:lpstr>Times New Roman</vt:lpstr>
      <vt:lpstr>Wingdings</vt:lpstr>
      <vt:lpstr>Geometrico</vt:lpstr>
      <vt:lpstr>Imagem de Bitmap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MA Inform[atica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Antonio Rodrigues da Silva</dc:creator>
  <cp:lastModifiedBy>MESTRE</cp:lastModifiedBy>
  <cp:revision>403</cp:revision>
  <dcterms:created xsi:type="dcterms:W3CDTF">2003-02-25T17:31:44Z</dcterms:created>
  <dcterms:modified xsi:type="dcterms:W3CDTF">2026-10-07T22:27:51Z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0x010100296FFDBFEEF43744B28FED0BED27951C</vt:lpwstr>
  </property>
</Properties>
</file>