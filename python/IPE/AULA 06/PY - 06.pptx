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12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6"/>
  </p:notesMasterIdLst>
  <p:sldIdLst>
    <p:sldId id="256" r:id="rId2"/>
    <p:sldId id="371" r:id="rId3"/>
    <p:sldId id="398" r:id="rId4"/>
    <p:sldId id="407" r:id="rId5"/>
    <p:sldId id="408" r:id="rId6"/>
    <p:sldId id="409" r:id="rId7"/>
    <p:sldId id="402" r:id="rId8"/>
    <p:sldId id="411" r:id="rId9"/>
    <p:sldId id="412" r:id="rId10"/>
    <p:sldId id="410" r:id="rId11"/>
    <p:sldId id="421" r:id="rId12"/>
    <p:sldId id="413" r:id="rId13"/>
    <p:sldId id="414" r:id="rId14"/>
    <p:sldId id="420" r:id="rId15"/>
    <p:sldId id="422" r:id="rId16"/>
    <p:sldId id="416" r:id="rId17"/>
    <p:sldId id="418" r:id="rId18"/>
    <p:sldId id="427" r:id="rId19"/>
    <p:sldId id="405" r:id="rId20"/>
    <p:sldId id="406" r:id="rId21"/>
    <p:sldId id="426" r:id="rId22"/>
    <p:sldId id="424" r:id="rId23"/>
    <p:sldId id="425" r:id="rId24"/>
    <p:sldId id="423" r:id="rId25"/>
  </p:sldIdLst>
  <p:sldSz cx="9144000" cy="6858000" type="screen4x3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CC"/>
    <a:srgbClr val="FFCC00"/>
    <a:srgbClr val="50FAEA"/>
    <a:srgbClr val="99FFCC"/>
    <a:srgbClr val="FFCCFF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58" autoAdjust="0"/>
    <p:restoredTop sz="90854" autoAdjust="0"/>
  </p:normalViewPr>
  <p:slideViewPr>
    <p:cSldViewPr>
      <p:cViewPr varScale="1">
        <p:scale>
          <a:sx n="66" d="100"/>
          <a:sy n="66" d="100"/>
        </p:scale>
        <p:origin x="175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184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E4363AC8-CDA4-4DBA-BCEC-4E085FDFDC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C71D822-B9E4-442B-A0EA-BE98C246841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CB06E6A-2534-4BF9-A30F-661FD231B0A9}" type="datetimeFigureOut">
              <a:rPr lang="pt-BR"/>
              <a:pPr>
                <a:defRPr/>
              </a:pPr>
              <a:t>07/10/2026</a:t>
            </a:fld>
            <a:endParaRPr lang="pt-BR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E543C53F-D090-4910-9494-3F46E78B88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83A7EEE5-9254-46AD-BC6B-38E3E1B649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Clique para editar 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ACC989C-A219-42F2-B074-EF3616CC49A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BED7A3-B933-4996-ACFE-7966B0061E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F6720024-FD0B-4906-891D-9BB4E81269C5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F37E2C0-9039-8A25-F25A-FC4AABCB96A6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8DBAC88A-1DA6-5133-D79E-112388B09F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02E0600F-D9D9-79B6-59EB-1CB95048B9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039ED04D-3F8E-A6D3-45DE-1E8C5FD7F6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6AB10494-152C-7B47-CA9D-C9E648BF4C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5610BAF-6E5C-24BC-9BB5-7A9BE6EAAA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40E4112-95F3-7680-1CD3-80BC4B3C97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234638C4-94DC-1782-6ECE-5CE231A4D2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pt-BR" altLang="pt-BR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6FF5D3EF-878B-C7A1-FD7F-CB237B3BD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pt-BR" altLang="pt-BR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7E88F6DD-B58C-479A-A4CA-D43D989A6D7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pt-BR" altLang="pt-BR"/>
            </a:p>
          </p:txBody>
        </p:sp>
      </p:grpSp>
      <p:sp>
        <p:nvSpPr>
          <p:cNvPr id="410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15E8E5FE-C56A-6ECB-D3E3-3FE05A6F24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D5B3A057-90FC-3EFA-CFFA-F8323D656C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BDB85940-EFF2-88DE-0483-F07171F45F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BBFAE59-E3E8-4101-A4C1-DC9BDF5BA3A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733927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035">
            <a:extLst>
              <a:ext uri="{FF2B5EF4-FFF2-40B4-BE49-F238E27FC236}">
                <a16:creationId xmlns:a16="http://schemas.microsoft.com/office/drawing/2014/main" id="{932855B6-625B-6730-C159-7D1204B8A8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36">
            <a:extLst>
              <a:ext uri="{FF2B5EF4-FFF2-40B4-BE49-F238E27FC236}">
                <a16:creationId xmlns:a16="http://schemas.microsoft.com/office/drawing/2014/main" id="{B86D6786-A96E-916A-3600-0FE439D023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7">
            <a:extLst>
              <a:ext uri="{FF2B5EF4-FFF2-40B4-BE49-F238E27FC236}">
                <a16:creationId xmlns:a16="http://schemas.microsoft.com/office/drawing/2014/main" id="{2E075DCB-B41C-A292-01A7-01F0206C2E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844314-E538-4DDA-A5EC-05AAC86B07CA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596402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1035">
            <a:extLst>
              <a:ext uri="{FF2B5EF4-FFF2-40B4-BE49-F238E27FC236}">
                <a16:creationId xmlns:a16="http://schemas.microsoft.com/office/drawing/2014/main" id="{89321D68-35C6-DFF7-A921-C1ABCBEF6A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36">
            <a:extLst>
              <a:ext uri="{FF2B5EF4-FFF2-40B4-BE49-F238E27FC236}">
                <a16:creationId xmlns:a16="http://schemas.microsoft.com/office/drawing/2014/main" id="{5E3C171C-7356-C59D-62F5-CCEB1A6BE1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7">
            <a:extLst>
              <a:ext uri="{FF2B5EF4-FFF2-40B4-BE49-F238E27FC236}">
                <a16:creationId xmlns:a16="http://schemas.microsoft.com/office/drawing/2014/main" id="{E46CA64A-4DF1-70EB-5047-42F3B7F1A2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BE02D4-E253-417A-B1AC-24DFD827A6DB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526351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1035">
            <a:extLst>
              <a:ext uri="{FF2B5EF4-FFF2-40B4-BE49-F238E27FC236}">
                <a16:creationId xmlns:a16="http://schemas.microsoft.com/office/drawing/2014/main" id="{37C90D5F-AA0A-52BC-0BF9-9B4C2ECC98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6">
            <a:extLst>
              <a:ext uri="{FF2B5EF4-FFF2-40B4-BE49-F238E27FC236}">
                <a16:creationId xmlns:a16="http://schemas.microsoft.com/office/drawing/2014/main" id="{9699A8FF-5C51-9E6F-39A1-473E146042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1037">
            <a:extLst>
              <a:ext uri="{FF2B5EF4-FFF2-40B4-BE49-F238E27FC236}">
                <a16:creationId xmlns:a16="http://schemas.microsoft.com/office/drawing/2014/main" id="{A76811F1-831D-7937-D1AF-C328CA2729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4583BB-CEAF-4725-B958-D7B5499F515B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930301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1035">
            <a:extLst>
              <a:ext uri="{FF2B5EF4-FFF2-40B4-BE49-F238E27FC236}">
                <a16:creationId xmlns:a16="http://schemas.microsoft.com/office/drawing/2014/main" id="{5DA19782-7226-26EF-163E-53B4187D47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1036">
            <a:extLst>
              <a:ext uri="{FF2B5EF4-FFF2-40B4-BE49-F238E27FC236}">
                <a16:creationId xmlns:a16="http://schemas.microsoft.com/office/drawing/2014/main" id="{CA00DEC2-2415-6843-4FBA-5D7E6CD65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1037">
            <a:extLst>
              <a:ext uri="{FF2B5EF4-FFF2-40B4-BE49-F238E27FC236}">
                <a16:creationId xmlns:a16="http://schemas.microsoft.com/office/drawing/2014/main" id="{14D46C81-0544-04C8-3596-5C2A5DADC3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C913D1-3D40-42C9-BA08-2FB5D9C5F54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78787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1035">
            <a:extLst>
              <a:ext uri="{FF2B5EF4-FFF2-40B4-BE49-F238E27FC236}">
                <a16:creationId xmlns:a16="http://schemas.microsoft.com/office/drawing/2014/main" id="{89332E17-47E3-7443-966B-498FF1F92E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1036">
            <a:extLst>
              <a:ext uri="{FF2B5EF4-FFF2-40B4-BE49-F238E27FC236}">
                <a16:creationId xmlns:a16="http://schemas.microsoft.com/office/drawing/2014/main" id="{9CBB3591-2971-472A-57B1-93DF54DBF4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37">
            <a:extLst>
              <a:ext uri="{FF2B5EF4-FFF2-40B4-BE49-F238E27FC236}">
                <a16:creationId xmlns:a16="http://schemas.microsoft.com/office/drawing/2014/main" id="{68A2AD18-6CE3-4D21-F399-842003B03C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3ACEC7-1785-46A3-97A9-C642D7D963ED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464668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5">
            <a:extLst>
              <a:ext uri="{FF2B5EF4-FFF2-40B4-BE49-F238E27FC236}">
                <a16:creationId xmlns:a16="http://schemas.microsoft.com/office/drawing/2014/main" id="{6477B235-A206-B79C-F4A9-B3A9433CF1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1036">
            <a:extLst>
              <a:ext uri="{FF2B5EF4-FFF2-40B4-BE49-F238E27FC236}">
                <a16:creationId xmlns:a16="http://schemas.microsoft.com/office/drawing/2014/main" id="{A03D60E5-78B6-6BD3-9140-FEF975CD19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1037">
            <a:extLst>
              <a:ext uri="{FF2B5EF4-FFF2-40B4-BE49-F238E27FC236}">
                <a16:creationId xmlns:a16="http://schemas.microsoft.com/office/drawing/2014/main" id="{BF6CE266-1C32-B09F-D101-BF1A124FAA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CFFD05-9000-4381-8E65-F95330D47F2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109892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1035">
            <a:extLst>
              <a:ext uri="{FF2B5EF4-FFF2-40B4-BE49-F238E27FC236}">
                <a16:creationId xmlns:a16="http://schemas.microsoft.com/office/drawing/2014/main" id="{1860A009-C5DA-CDBC-3BD2-294C7185C5E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6">
            <a:extLst>
              <a:ext uri="{FF2B5EF4-FFF2-40B4-BE49-F238E27FC236}">
                <a16:creationId xmlns:a16="http://schemas.microsoft.com/office/drawing/2014/main" id="{773F847C-54C5-D4C4-56CC-F71E020C61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1037">
            <a:extLst>
              <a:ext uri="{FF2B5EF4-FFF2-40B4-BE49-F238E27FC236}">
                <a16:creationId xmlns:a16="http://schemas.microsoft.com/office/drawing/2014/main" id="{240BD7F3-1930-15DB-B422-36EB8B7A47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2469CD-ECAB-4AB4-A3DC-7236E7A0B79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27577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1035">
            <a:extLst>
              <a:ext uri="{FF2B5EF4-FFF2-40B4-BE49-F238E27FC236}">
                <a16:creationId xmlns:a16="http://schemas.microsoft.com/office/drawing/2014/main" id="{EDD8B311-46C6-BC0D-B1A2-6FCBCB3EAA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6">
            <a:extLst>
              <a:ext uri="{FF2B5EF4-FFF2-40B4-BE49-F238E27FC236}">
                <a16:creationId xmlns:a16="http://schemas.microsoft.com/office/drawing/2014/main" id="{A5267B4B-FD3D-EAAC-2595-70C74C7B3C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1037">
            <a:extLst>
              <a:ext uri="{FF2B5EF4-FFF2-40B4-BE49-F238E27FC236}">
                <a16:creationId xmlns:a16="http://schemas.microsoft.com/office/drawing/2014/main" id="{812AF575-3BD7-F11C-F3E8-535D0E76C9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3C53BA-6B8B-4456-9EA0-E5536DC7901B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975092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035">
            <a:extLst>
              <a:ext uri="{FF2B5EF4-FFF2-40B4-BE49-F238E27FC236}">
                <a16:creationId xmlns:a16="http://schemas.microsoft.com/office/drawing/2014/main" id="{2A53E482-6198-D91B-F22F-55FC75B9D2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36">
            <a:extLst>
              <a:ext uri="{FF2B5EF4-FFF2-40B4-BE49-F238E27FC236}">
                <a16:creationId xmlns:a16="http://schemas.microsoft.com/office/drawing/2014/main" id="{22ECDB3D-91BF-1D96-D8F2-2532D2EF53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7">
            <a:extLst>
              <a:ext uri="{FF2B5EF4-FFF2-40B4-BE49-F238E27FC236}">
                <a16:creationId xmlns:a16="http://schemas.microsoft.com/office/drawing/2014/main" id="{9064DF40-EBDD-5846-D5BF-1A73B9B839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38AD88-3511-4ECD-904F-C42A13D5B4FD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86660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035">
            <a:extLst>
              <a:ext uri="{FF2B5EF4-FFF2-40B4-BE49-F238E27FC236}">
                <a16:creationId xmlns:a16="http://schemas.microsoft.com/office/drawing/2014/main" id="{C0EF5110-A0ED-2890-CEAF-0B03EB7CDB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36">
            <a:extLst>
              <a:ext uri="{FF2B5EF4-FFF2-40B4-BE49-F238E27FC236}">
                <a16:creationId xmlns:a16="http://schemas.microsoft.com/office/drawing/2014/main" id="{A198AAE3-565A-5A58-4975-B5E7E1225C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7">
            <a:extLst>
              <a:ext uri="{FF2B5EF4-FFF2-40B4-BE49-F238E27FC236}">
                <a16:creationId xmlns:a16="http://schemas.microsoft.com/office/drawing/2014/main" id="{1DDB86D3-BB1E-60A0-CB2D-EFD3840D1F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34FC0C-2813-4410-BD22-AF36969713C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04741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>
            <a:extLst>
              <a:ext uri="{FF2B5EF4-FFF2-40B4-BE49-F238E27FC236}">
                <a16:creationId xmlns:a16="http://schemas.microsoft.com/office/drawing/2014/main" id="{FBA89211-03BB-4E74-9B07-AFC50817ED2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27" name="Rectangle 1027">
            <a:extLst>
              <a:ext uri="{FF2B5EF4-FFF2-40B4-BE49-F238E27FC236}">
                <a16:creationId xmlns:a16="http://schemas.microsoft.com/office/drawing/2014/main" id="{EAF5671D-4A41-4D55-A3B2-4704DC2C436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28" name="Rectangle 1028">
            <a:extLst>
              <a:ext uri="{FF2B5EF4-FFF2-40B4-BE49-F238E27FC236}">
                <a16:creationId xmlns:a16="http://schemas.microsoft.com/office/drawing/2014/main" id="{CD7F6770-B1BF-45A3-B846-E90864BDC42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29" name="Rectangle 1029">
            <a:extLst>
              <a:ext uri="{FF2B5EF4-FFF2-40B4-BE49-F238E27FC236}">
                <a16:creationId xmlns:a16="http://schemas.microsoft.com/office/drawing/2014/main" id="{912F4071-C77C-4711-B6CC-8318D87A708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30" name="Rectangle 1030">
            <a:extLst>
              <a:ext uri="{FF2B5EF4-FFF2-40B4-BE49-F238E27FC236}">
                <a16:creationId xmlns:a16="http://schemas.microsoft.com/office/drawing/2014/main" id="{760538BD-1CD1-49BA-B62A-63B07791CFB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31" name="Rectangle 1031">
            <a:extLst>
              <a:ext uri="{FF2B5EF4-FFF2-40B4-BE49-F238E27FC236}">
                <a16:creationId xmlns:a16="http://schemas.microsoft.com/office/drawing/2014/main" id="{1CBAAF11-5C7D-4922-9E5F-560ABDF75E93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32" name="Rectangle 1032">
            <a:extLst>
              <a:ext uri="{FF2B5EF4-FFF2-40B4-BE49-F238E27FC236}">
                <a16:creationId xmlns:a16="http://schemas.microsoft.com/office/drawing/2014/main" id="{D8C651CA-584C-4942-AF35-8CE874B9C6F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33" name="Rectangle 1033">
            <a:extLst>
              <a:ext uri="{FF2B5EF4-FFF2-40B4-BE49-F238E27FC236}">
                <a16:creationId xmlns:a16="http://schemas.microsoft.com/office/drawing/2014/main" id="{4AECF2AE-195D-3881-25EE-520C5741D4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34" name="Rectangle 1034">
            <a:extLst>
              <a:ext uri="{FF2B5EF4-FFF2-40B4-BE49-F238E27FC236}">
                <a16:creationId xmlns:a16="http://schemas.microsoft.com/office/drawing/2014/main" id="{FAF81018-E134-D288-47E7-B53092339A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3083" name="Rectangle 1035">
            <a:extLst>
              <a:ext uri="{FF2B5EF4-FFF2-40B4-BE49-F238E27FC236}">
                <a16:creationId xmlns:a16="http://schemas.microsoft.com/office/drawing/2014/main" id="{641DDB03-A9CD-4287-BFBC-C9A3A09B5E9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84" name="Rectangle 1036">
            <a:extLst>
              <a:ext uri="{FF2B5EF4-FFF2-40B4-BE49-F238E27FC236}">
                <a16:creationId xmlns:a16="http://schemas.microsoft.com/office/drawing/2014/main" id="{A509AD49-59A7-49E7-AF16-D0C4AE34052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85" name="Rectangle 1037">
            <a:extLst>
              <a:ext uri="{FF2B5EF4-FFF2-40B4-BE49-F238E27FC236}">
                <a16:creationId xmlns:a16="http://schemas.microsoft.com/office/drawing/2014/main" id="{942C8B03-B793-4436-9A4D-CECC1CEAF86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A0DFD4AC-B686-4C27-B807-927C9E5EB9B5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52" r:id="rId1"/>
    <p:sldLayoutId id="2147484442" r:id="rId2"/>
    <p:sldLayoutId id="2147484443" r:id="rId3"/>
    <p:sldLayoutId id="2147484444" r:id="rId4"/>
    <p:sldLayoutId id="2147484445" r:id="rId5"/>
    <p:sldLayoutId id="2147484446" r:id="rId6"/>
    <p:sldLayoutId id="2147484447" r:id="rId7"/>
    <p:sldLayoutId id="2147484448" r:id="rId8"/>
    <p:sldLayoutId id="2147484449" r:id="rId9"/>
    <p:sldLayoutId id="2147484450" r:id="rId10"/>
    <p:sldLayoutId id="214748445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3">
            <a:extLst>
              <a:ext uri="{FF2B5EF4-FFF2-40B4-BE49-F238E27FC236}">
                <a16:creationId xmlns:a16="http://schemas.microsoft.com/office/drawing/2014/main" id="{0CDE9278-2CB8-54AB-A66B-50B0472DC5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381750"/>
            <a:ext cx="57277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400" b="1">
                <a:latin typeface="Arial" panose="020B0604020202020204" pitchFamily="34" charset="0"/>
              </a:rPr>
              <a:t>Prof. Marcos Antonio e Marcos Junior</a:t>
            </a:r>
          </a:p>
        </p:txBody>
      </p:sp>
      <p:sp>
        <p:nvSpPr>
          <p:cNvPr id="4099" name="Text Box 2">
            <a:extLst>
              <a:ext uri="{FF2B5EF4-FFF2-40B4-BE49-F238E27FC236}">
                <a16:creationId xmlns:a16="http://schemas.microsoft.com/office/drawing/2014/main" id="{007F1667-9994-3E3A-2318-3ABCF7F374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1989138"/>
            <a:ext cx="91440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800" b="1">
                <a:latin typeface="Arial Black" panose="020B0A04020102020204" pitchFamily="34" charset="0"/>
              </a:rPr>
              <a:t>INTRODUÇÃO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800" b="1">
                <a:latin typeface="Arial Black" panose="020B0A04020102020204" pitchFamily="34" charset="0"/>
              </a:rPr>
              <a:t>À</a:t>
            </a:r>
            <a:br>
              <a:rPr lang="pt-BR" altLang="pt-BR" sz="4800" b="1">
                <a:latin typeface="Arial Black" panose="020B0A04020102020204" pitchFamily="34" charset="0"/>
              </a:rPr>
            </a:br>
            <a:r>
              <a:rPr lang="pt-BR" altLang="pt-BR" sz="4800" b="1">
                <a:latin typeface="Arial Black" panose="020B0A04020102020204" pitchFamily="34" charset="0"/>
              </a:rPr>
              <a:t> PROGRAMAÇÃO ESTRUTURADA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4800" b="1">
              <a:latin typeface="Arial Black" panose="020B0A040201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800" b="1">
                <a:latin typeface="Arial Black" panose="020B0A04020102020204" pitchFamily="34" charset="0"/>
              </a:rPr>
              <a:t>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Espaço Reservado para Número de Slide 1">
            <a:extLst>
              <a:ext uri="{FF2B5EF4-FFF2-40B4-BE49-F238E27FC236}">
                <a16:creationId xmlns:a16="http://schemas.microsoft.com/office/drawing/2014/main" id="{B08A1FAC-0561-9053-09BA-67132A187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589806C-55F6-4C4F-BBFB-0F75CA68A0C9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A55D246-037A-AB0F-6BE3-2F5DD3464924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1916113"/>
            <a:ext cx="8897937" cy="388778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ESTRUTURAS DE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REPETIÇÃO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COMANDO 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FOR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ço Reservado para Número de Slide 1">
            <a:extLst>
              <a:ext uri="{FF2B5EF4-FFF2-40B4-BE49-F238E27FC236}">
                <a16:creationId xmlns:a16="http://schemas.microsoft.com/office/drawing/2014/main" id="{937A40E4-409E-C72E-4D37-ED13B07AF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38C3F360-B86D-420C-949D-A080DF037E90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pt-BR" altLang="pt-BR" sz="1400"/>
          </a:p>
        </p:txBody>
      </p:sp>
      <p:sp>
        <p:nvSpPr>
          <p:cNvPr id="6147" name="Text Box 2">
            <a:extLst>
              <a:ext uri="{FF2B5EF4-FFF2-40B4-BE49-F238E27FC236}">
                <a16:creationId xmlns:a16="http://schemas.microsoft.com/office/drawing/2014/main" id="{A9B302FF-FDDF-1982-32B0-B81640A457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Comando for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C9EE865-792B-00F1-D31B-2096BB6F7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060575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Em algumas situações é comum que uma mesma instrução (ou conjunto de instruções) precise ser executada várias vezes seguidas.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Normalmente utilizamos um loop (ou laço de repetição) que permite executar o mesmo bloco de código enquanto uma condição é atendida.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Número de Slide 1">
            <a:extLst>
              <a:ext uri="{FF2B5EF4-FFF2-40B4-BE49-F238E27FC236}">
                <a16:creationId xmlns:a16="http://schemas.microsoft.com/office/drawing/2014/main" id="{8D9F3A50-5BB5-5C68-6214-BDF149602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2F83CCD2-4DB3-4C30-8D64-96AD2DAC19A1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pt-BR" altLang="pt-BR" sz="1400"/>
          </a:p>
        </p:txBody>
      </p:sp>
      <p:sp>
        <p:nvSpPr>
          <p:cNvPr id="7171" name="Text Box 2">
            <a:extLst>
              <a:ext uri="{FF2B5EF4-FFF2-40B4-BE49-F238E27FC236}">
                <a16:creationId xmlns:a16="http://schemas.microsoft.com/office/drawing/2014/main" id="{18BCD106-75B2-DE50-69A5-668F3E6B55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Comando for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42C143A2-9231-30FC-2430-107AC4C09A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238375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O laço for possibilita percorrer os itens de uma coleção e, para cada um deles, executar o bloco de código declarado no loop.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ço Reservado para Número de Slide 1">
            <a:extLst>
              <a:ext uri="{FF2B5EF4-FFF2-40B4-BE49-F238E27FC236}">
                <a16:creationId xmlns:a16="http://schemas.microsoft.com/office/drawing/2014/main" id="{A6FADCB3-9B51-CBB0-8FE5-FC68A7BF9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01C44FDC-437C-4B49-90CA-95F9E297AB8E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pt-BR" altLang="pt-BR" sz="1400"/>
          </a:p>
        </p:txBody>
      </p:sp>
      <p:sp>
        <p:nvSpPr>
          <p:cNvPr id="8195" name="Text Box 2">
            <a:extLst>
              <a:ext uri="{FF2B5EF4-FFF2-40B4-BE49-F238E27FC236}">
                <a16:creationId xmlns:a16="http://schemas.microsoft.com/office/drawing/2014/main" id="{12469CED-615A-0CD0-C7AA-CFDB60BF0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Comando for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6ADBF7DB-3DB5-9D22-AE5E-26EE65CFB0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238375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Sua sintaxe é a seguinte: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36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for variável em uma série de valores:         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   comandos do for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ço Reservado para Número de Slide 1">
            <a:extLst>
              <a:ext uri="{FF2B5EF4-FFF2-40B4-BE49-F238E27FC236}">
                <a16:creationId xmlns:a16="http://schemas.microsoft.com/office/drawing/2014/main" id="{704346ED-38FC-8D41-5FBF-13D9F9AB6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3C8FE677-A258-4C20-9FA3-8760A9582373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pt-BR" altLang="pt-BR" sz="1400"/>
          </a:p>
        </p:txBody>
      </p:sp>
      <p:sp>
        <p:nvSpPr>
          <p:cNvPr id="9219" name="Text Box 2">
            <a:extLst>
              <a:ext uri="{FF2B5EF4-FFF2-40B4-BE49-F238E27FC236}">
                <a16:creationId xmlns:a16="http://schemas.microsoft.com/office/drawing/2014/main" id="{305ED3D0-6BEE-2EFA-C20E-7B9E9D8C2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Comando for</a:t>
            </a:r>
          </a:p>
        </p:txBody>
      </p:sp>
      <p:grpSp>
        <p:nvGrpSpPr>
          <p:cNvPr id="9220" name="Agrupar 52">
            <a:extLst>
              <a:ext uri="{FF2B5EF4-FFF2-40B4-BE49-F238E27FC236}">
                <a16:creationId xmlns:a16="http://schemas.microsoft.com/office/drawing/2014/main" id="{F466EDF6-082D-F369-A5E9-B84DCE95B284}"/>
              </a:ext>
            </a:extLst>
          </p:cNvPr>
          <p:cNvGrpSpPr>
            <a:grpSpLocks/>
          </p:cNvGrpSpPr>
          <p:nvPr/>
        </p:nvGrpSpPr>
        <p:grpSpPr bwMode="auto">
          <a:xfrm>
            <a:off x="2159000" y="1643063"/>
            <a:ext cx="5557838" cy="5170487"/>
            <a:chOff x="2159521" y="1556792"/>
            <a:chExt cx="5557366" cy="5170060"/>
          </a:xfrm>
        </p:grpSpPr>
        <p:sp>
          <p:nvSpPr>
            <p:cNvPr id="9221" name="Losango 3">
              <a:extLst>
                <a:ext uri="{FF2B5EF4-FFF2-40B4-BE49-F238E27FC236}">
                  <a16:creationId xmlns:a16="http://schemas.microsoft.com/office/drawing/2014/main" id="{CEE5B104-2CF3-8201-E2F9-54AC243C68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5896" y="2996952"/>
              <a:ext cx="1368152" cy="1517029"/>
            </a:xfrm>
            <a:prstGeom prst="diamond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2400"/>
            </a:p>
          </p:txBody>
        </p:sp>
        <p:sp>
          <p:nvSpPr>
            <p:cNvPr id="9222" name="Retângulo 4">
              <a:extLst>
                <a:ext uri="{FF2B5EF4-FFF2-40B4-BE49-F238E27FC236}">
                  <a16:creationId xmlns:a16="http://schemas.microsoft.com/office/drawing/2014/main" id="{ACDED863-F5FA-9919-DCD5-5EF4E6C401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8305" y="5028828"/>
              <a:ext cx="2137791" cy="848444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2400"/>
            </a:p>
          </p:txBody>
        </p:sp>
        <p:cxnSp>
          <p:nvCxnSpPr>
            <p:cNvPr id="9223" name="Conector de Seta Reta 16">
              <a:extLst>
                <a:ext uri="{FF2B5EF4-FFF2-40B4-BE49-F238E27FC236}">
                  <a16:creationId xmlns:a16="http://schemas.microsoft.com/office/drawing/2014/main" id="{CD92251C-1619-79EB-BB1A-4A9F93A665D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283968" y="2132856"/>
              <a:ext cx="0" cy="864096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24" name="Conector de Seta Reta 18">
              <a:extLst>
                <a:ext uri="{FF2B5EF4-FFF2-40B4-BE49-F238E27FC236}">
                  <a16:creationId xmlns:a16="http://schemas.microsoft.com/office/drawing/2014/main" id="{CC1FA26A-6B57-8C6F-D84B-435133185C1D}"/>
                </a:ext>
              </a:extLst>
            </p:cNvPr>
            <p:cNvCxnSpPr>
              <a:cxnSpLocks noChangeShapeType="1"/>
              <a:stCxn id="9221" idx="2"/>
            </p:cNvCxnSpPr>
            <p:nvPr/>
          </p:nvCxnSpPr>
          <p:spPr bwMode="auto">
            <a:xfrm>
              <a:off x="4319972" y="4513981"/>
              <a:ext cx="0" cy="514847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25" name="Conector reto 23">
              <a:extLst>
                <a:ext uri="{FF2B5EF4-FFF2-40B4-BE49-F238E27FC236}">
                  <a16:creationId xmlns:a16="http://schemas.microsoft.com/office/drawing/2014/main" id="{922B85D0-3384-B648-90E1-EBD94BEE8089}"/>
                </a:ext>
              </a:extLst>
            </p:cNvPr>
            <p:cNvCxnSpPr>
              <a:cxnSpLocks noChangeShapeType="1"/>
              <a:stCxn id="9222" idx="1"/>
            </p:cNvCxnSpPr>
            <p:nvPr/>
          </p:nvCxnSpPr>
          <p:spPr bwMode="auto">
            <a:xfrm flipH="1">
              <a:off x="2159521" y="5453050"/>
              <a:ext cx="1138784" cy="0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26" name="Conector reto 25">
              <a:extLst>
                <a:ext uri="{FF2B5EF4-FFF2-40B4-BE49-F238E27FC236}">
                  <a16:creationId xmlns:a16="http://schemas.microsoft.com/office/drawing/2014/main" id="{D8BE8DEF-C505-FBEE-7D08-62400FD984B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159521" y="3755466"/>
              <a:ext cx="72009" cy="1697584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27" name="Conector de Seta Reta 28">
              <a:extLst>
                <a:ext uri="{FF2B5EF4-FFF2-40B4-BE49-F238E27FC236}">
                  <a16:creationId xmlns:a16="http://schemas.microsoft.com/office/drawing/2014/main" id="{6D062C90-EA3F-6B8A-DE88-259C8EBC5A81}"/>
                </a:ext>
              </a:extLst>
            </p:cNvPr>
            <p:cNvCxnSpPr>
              <a:cxnSpLocks noChangeShapeType="1"/>
              <a:endCxn id="9221" idx="1"/>
            </p:cNvCxnSpPr>
            <p:nvPr/>
          </p:nvCxnSpPr>
          <p:spPr bwMode="auto">
            <a:xfrm>
              <a:off x="2231529" y="3755466"/>
              <a:ext cx="1404367" cy="1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28" name="Conector reto 38">
              <a:extLst>
                <a:ext uri="{FF2B5EF4-FFF2-40B4-BE49-F238E27FC236}">
                  <a16:creationId xmlns:a16="http://schemas.microsoft.com/office/drawing/2014/main" id="{3128E7EF-7982-FE15-4FB7-2DF9208F3104}"/>
                </a:ext>
              </a:extLst>
            </p:cNvPr>
            <p:cNvCxnSpPr>
              <a:cxnSpLocks noChangeShapeType="1"/>
              <a:stCxn id="9221" idx="3"/>
            </p:cNvCxnSpPr>
            <p:nvPr/>
          </p:nvCxnSpPr>
          <p:spPr bwMode="auto">
            <a:xfrm flipV="1">
              <a:off x="5004048" y="3755466"/>
              <a:ext cx="864096" cy="1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29" name="Conector de Seta Reta 40">
              <a:extLst>
                <a:ext uri="{FF2B5EF4-FFF2-40B4-BE49-F238E27FC236}">
                  <a16:creationId xmlns:a16="http://schemas.microsoft.com/office/drawing/2014/main" id="{33E9E258-8E0D-58D6-3457-8D11202CC04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68144" y="3755466"/>
              <a:ext cx="72008" cy="2964422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230" name="CaixaDeTexto 41">
              <a:extLst>
                <a:ext uri="{FF2B5EF4-FFF2-40B4-BE49-F238E27FC236}">
                  <a16:creationId xmlns:a16="http://schemas.microsoft.com/office/drawing/2014/main" id="{47B2DE86-079A-B966-32C9-2AF187DC36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6056" y="5157192"/>
              <a:ext cx="2640831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pt-BR" b="1">
                  <a:latin typeface="Arial" panose="020B0604020202020204" pitchFamily="34" charset="0"/>
                  <a:cs typeface="Arial" panose="020B0604020202020204" pitchFamily="34" charset="0"/>
                </a:rPr>
                <a:t>fim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pt-BR" b="1">
                  <a:latin typeface="Arial" panose="020B0604020202020204" pitchFamily="34" charset="0"/>
                  <a:cs typeface="Arial" panose="020B0604020202020204" pitchFamily="34" charset="0"/>
                </a:rPr>
                <a:t>do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pt-BR" b="1">
                  <a:latin typeface="Arial" panose="020B0604020202020204" pitchFamily="34" charset="0"/>
                  <a:cs typeface="Arial" panose="020B0604020202020204" pitchFamily="34" charset="0"/>
                </a:rPr>
                <a:t>for</a:t>
              </a:r>
            </a:p>
          </p:txBody>
        </p:sp>
        <p:sp>
          <p:nvSpPr>
            <p:cNvPr id="9231" name="CaixaDeTexto 45">
              <a:extLst>
                <a:ext uri="{FF2B5EF4-FFF2-40B4-BE49-F238E27FC236}">
                  <a16:creationId xmlns:a16="http://schemas.microsoft.com/office/drawing/2014/main" id="{B84CE157-46D0-358A-A2B4-9BBE94F821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4409" y="1556792"/>
              <a:ext cx="1993775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pt-BR" b="1">
                  <a:latin typeface="Arial" panose="020B0604020202020204" pitchFamily="34" charset="0"/>
                  <a:cs typeface="Arial" panose="020B0604020202020204" pitchFamily="34" charset="0"/>
                </a:rPr>
                <a:t>entrada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pt-BR" b="1">
                  <a:latin typeface="Arial" panose="020B0604020202020204" pitchFamily="34" charset="0"/>
                  <a:cs typeface="Arial" panose="020B0604020202020204" pitchFamily="34" charset="0"/>
                </a:rPr>
                <a:t>do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pt-BR" b="1">
                  <a:latin typeface="Arial" panose="020B0604020202020204" pitchFamily="34" charset="0"/>
                  <a:cs typeface="Arial" panose="020B0604020202020204" pitchFamily="34" charset="0"/>
                </a:rPr>
                <a:t>for</a:t>
              </a:r>
            </a:p>
          </p:txBody>
        </p:sp>
        <p:sp>
          <p:nvSpPr>
            <p:cNvPr id="9232" name="CaixaDeTexto 46">
              <a:extLst>
                <a:ext uri="{FF2B5EF4-FFF2-40B4-BE49-F238E27FC236}">
                  <a16:creationId xmlns:a16="http://schemas.microsoft.com/office/drawing/2014/main" id="{C950D18F-18AD-9AFC-3C4D-A60AF2C655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7864" y="3356992"/>
              <a:ext cx="1993775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pt-BR" b="1">
                  <a:latin typeface="Arial" panose="020B0604020202020204" pitchFamily="34" charset="0"/>
                  <a:cs typeface="Arial" panose="020B0604020202020204" pitchFamily="34" charset="0"/>
                </a:rPr>
                <a:t>teste</a:t>
              </a:r>
            </a:p>
          </p:txBody>
        </p:sp>
        <p:sp>
          <p:nvSpPr>
            <p:cNvPr id="9233" name="CaixaDeTexto 47">
              <a:extLst>
                <a:ext uri="{FF2B5EF4-FFF2-40B4-BE49-F238E27FC236}">
                  <a16:creationId xmlns:a16="http://schemas.microsoft.com/office/drawing/2014/main" id="{31622397-5E77-D3EB-CB32-8121A2E059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0433" y="3636313"/>
              <a:ext cx="1993775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pt-BR" b="1">
                  <a:latin typeface="Arial" panose="020B0604020202020204" pitchFamily="34" charset="0"/>
                  <a:cs typeface="Arial" panose="020B0604020202020204" pitchFamily="34" charset="0"/>
                </a:rPr>
                <a:t>Sim</a:t>
              </a:r>
            </a:p>
          </p:txBody>
        </p:sp>
        <p:sp>
          <p:nvSpPr>
            <p:cNvPr id="9234" name="CaixaDeTexto 48">
              <a:extLst>
                <a:ext uri="{FF2B5EF4-FFF2-40B4-BE49-F238E27FC236}">
                  <a16:creationId xmlns:a16="http://schemas.microsoft.com/office/drawing/2014/main" id="{89EFA6F8-609F-AF5A-DBFE-81453A5DAF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0353" y="4428401"/>
              <a:ext cx="1993775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pt-BR" b="1">
                  <a:latin typeface="Arial" panose="020B0604020202020204" pitchFamily="34" charset="0"/>
                  <a:cs typeface="Arial" panose="020B0604020202020204" pitchFamily="34" charset="0"/>
                </a:rPr>
                <a:t>Não</a:t>
              </a:r>
            </a:p>
          </p:txBody>
        </p:sp>
        <p:sp>
          <p:nvSpPr>
            <p:cNvPr id="9235" name="CaixaDeTexto 49">
              <a:extLst>
                <a:ext uri="{FF2B5EF4-FFF2-40B4-BE49-F238E27FC236}">
                  <a16:creationId xmlns:a16="http://schemas.microsoft.com/office/drawing/2014/main" id="{EC769EF3-EC90-C32B-C490-AB5160A603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3297" y="4869160"/>
              <a:ext cx="2640831" cy="1077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pt-BR" b="1">
                  <a:latin typeface="Arial" panose="020B0604020202020204" pitchFamily="34" charset="0"/>
                  <a:cs typeface="Arial" panose="020B0604020202020204" pitchFamily="34" charset="0"/>
                </a:rPr>
                <a:t>comandos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pt-BR" altLang="pt-BR" b="1">
                  <a:latin typeface="Arial" panose="020B0604020202020204" pitchFamily="34" charset="0"/>
                  <a:cs typeface="Arial" panose="020B0604020202020204" pitchFamily="34" charset="0"/>
                </a:rPr>
                <a:t>Do for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ço Reservado para Número de Slide 1">
            <a:extLst>
              <a:ext uri="{FF2B5EF4-FFF2-40B4-BE49-F238E27FC236}">
                <a16:creationId xmlns:a16="http://schemas.microsoft.com/office/drawing/2014/main" id="{F8BBCD6D-4DD6-1AED-3619-A486E2B02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596EA99C-AB1A-4FC6-AE23-94258632B258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pt-BR" altLang="pt-BR" sz="1400"/>
          </a:p>
        </p:txBody>
      </p:sp>
      <p:sp>
        <p:nvSpPr>
          <p:cNvPr id="10243" name="Text Box 2">
            <a:extLst>
              <a:ext uri="{FF2B5EF4-FFF2-40B4-BE49-F238E27FC236}">
                <a16:creationId xmlns:a16="http://schemas.microsoft.com/office/drawing/2014/main" id="{A17DBE07-C9AB-1706-6739-5FE9FF6D98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21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1698AB85-EDE6-8D8C-2884-6AF6F5EA7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numeros = [5,5,3,8,4,2,5,4,1]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soma = 0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for var in numeros: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  soma = soma + var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print("A soma dos números é: ",soma)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SERÁ MOSTRADO:  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   A soma dos números é: 37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ço Reservado para Número de Slide 1">
            <a:extLst>
              <a:ext uri="{FF2B5EF4-FFF2-40B4-BE49-F238E27FC236}">
                <a16:creationId xmlns:a16="http://schemas.microsoft.com/office/drawing/2014/main" id="{E4D51BCE-5845-389A-0975-558290FB5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1EFC0A0-1F20-4370-A63C-6FFD237C6D9F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E493C1E-84AC-8C9D-4E2C-6ADC2D04DFE1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1916113"/>
            <a:ext cx="8897937" cy="388778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ESTRUTURAS DE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REPETIÇÃO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COMANDO 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FOR/ELSE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ço Reservado para Número de Slide 1">
            <a:extLst>
              <a:ext uri="{FF2B5EF4-FFF2-40B4-BE49-F238E27FC236}">
                <a16:creationId xmlns:a16="http://schemas.microsoft.com/office/drawing/2014/main" id="{2A89D6D4-873C-3840-DC9E-5BACF94BC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BCC8F01C-3834-4519-8FF2-51883C5A939C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pt-BR" altLang="pt-BR" sz="1400"/>
          </a:p>
        </p:txBody>
      </p:sp>
      <p:sp>
        <p:nvSpPr>
          <p:cNvPr id="12291" name="Text Box 2">
            <a:extLst>
              <a:ext uri="{FF2B5EF4-FFF2-40B4-BE49-F238E27FC236}">
                <a16:creationId xmlns:a16="http://schemas.microsoft.com/office/drawing/2014/main" id="{7AE84326-FBB0-1B6A-5160-1855E28D53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Comando for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1D86EABE-30D5-8CEE-CAD4-06F7A4ADE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060575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Pode-se adicionar ã clausula else no final do for.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Isso faz com que um bloco de código seja executado ao finalizar a iteração, como mostra o exemplo a seguir: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ço Reservado para Número de Slide 1">
            <a:extLst>
              <a:ext uri="{FF2B5EF4-FFF2-40B4-BE49-F238E27FC236}">
                <a16:creationId xmlns:a16="http://schemas.microsoft.com/office/drawing/2014/main" id="{C276F05A-D563-4F38-2573-65C1F982F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1BC9F46E-F630-4F41-89A1-666F1740EB16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pt-BR" altLang="pt-BR" sz="1400"/>
          </a:p>
        </p:txBody>
      </p:sp>
      <p:sp>
        <p:nvSpPr>
          <p:cNvPr id="13315" name="Text Box 2">
            <a:extLst>
              <a:ext uri="{FF2B5EF4-FFF2-40B4-BE49-F238E27FC236}">
                <a16:creationId xmlns:a16="http://schemas.microsoft.com/office/drawing/2014/main" id="{2564AD57-CAD8-736A-77E0-FAE843DC09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22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B2CDA810-F5E8-5253-F6B1-78B2E2161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337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numeros = [5,5,3,8,4,2,5,4,1]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soma = 0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for var in numeros: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   soma = soma + var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else: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   print("A soma dos números é: ",soma)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SERÁ MOSTRADO:  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A soma dos números é: 37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2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ço Reservado para Número de Slide 1">
            <a:extLst>
              <a:ext uri="{FF2B5EF4-FFF2-40B4-BE49-F238E27FC236}">
                <a16:creationId xmlns:a16="http://schemas.microsoft.com/office/drawing/2014/main" id="{AC4F95A4-49A9-7813-D335-158198BA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7500EF09-6BD6-457E-A376-735594EDE170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pt-BR" altLang="pt-BR" sz="1400"/>
          </a:p>
        </p:txBody>
      </p:sp>
      <p:sp>
        <p:nvSpPr>
          <p:cNvPr id="14339" name="Text Box 2">
            <a:extLst>
              <a:ext uri="{FF2B5EF4-FFF2-40B4-BE49-F238E27FC236}">
                <a16:creationId xmlns:a16="http://schemas.microsoft.com/office/drawing/2014/main" id="{AD7E450F-AC84-C592-BDA6-61BFD8C714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23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50D141EE-C3AB-F3D3-AC72-9ECD7E1C7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060575"/>
            <a:ext cx="8712200" cy="337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numeros = [5,5,3,8,0,2,5,4,1]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soma = 0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for var in numeros: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  if var != 0: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     soma = soma + var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  else: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      break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else: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  print("A soma dos números é: ",soma)</a:t>
            </a:r>
          </a:p>
        </p:txBody>
      </p:sp>
      <p:sp>
        <p:nvSpPr>
          <p:cNvPr id="2" name="Texto Explicativo Retangular com Cantos Arredondados 1">
            <a:extLst>
              <a:ext uri="{FF2B5EF4-FFF2-40B4-BE49-F238E27FC236}">
                <a16:creationId xmlns:a16="http://schemas.microsoft.com/office/drawing/2014/main" id="{810D936C-5BCC-21C4-65B7-A56AEF408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420938"/>
            <a:ext cx="3025775" cy="1223962"/>
          </a:xfrm>
          <a:prstGeom prst="wedgeRoundRectCallout">
            <a:avLst>
              <a:gd name="adj1" fmla="val -121569"/>
              <a:gd name="adj2" fmla="val -48000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400" b="1"/>
              <a:t>Sai pelo break 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400" b="1"/>
              <a:t>NÃO mostra nada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ço Reservado para Número de Slide 1">
            <a:extLst>
              <a:ext uri="{FF2B5EF4-FFF2-40B4-BE49-F238E27FC236}">
                <a16:creationId xmlns:a16="http://schemas.microsoft.com/office/drawing/2014/main" id="{75AB8F3E-37F5-D6D6-0689-4612253B8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03CD65A-3B56-4D6B-B238-5E08A9E04F9F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50ED1F8-5972-1A94-07B8-7ABC07373BA1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1916113"/>
            <a:ext cx="8897937" cy="388778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ESTRUTURAS DE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REPETIÇÃO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COMANDO 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FOR/RANGE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ço Reservado para Número de Slide 1">
            <a:extLst>
              <a:ext uri="{FF2B5EF4-FFF2-40B4-BE49-F238E27FC236}">
                <a16:creationId xmlns:a16="http://schemas.microsoft.com/office/drawing/2014/main" id="{2BC9B433-D331-8EC8-E15A-F60D0A2F9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71C0A401-EBA7-4500-BE71-74C365275AAF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pt-BR" altLang="pt-BR" sz="1400"/>
          </a:p>
        </p:txBody>
      </p:sp>
      <p:sp>
        <p:nvSpPr>
          <p:cNvPr id="16387" name="Text Box 2">
            <a:extLst>
              <a:ext uri="{FF2B5EF4-FFF2-40B4-BE49-F238E27FC236}">
                <a16:creationId xmlns:a16="http://schemas.microsoft.com/office/drawing/2014/main" id="{7FC89B84-99ED-26D3-7271-C4B7DDA36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Comando for/range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BFDE56AD-7942-AF03-B189-07F2A7388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060575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O range gera o intervalo de números inteiros.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Na primeira iteração, o valor da variável rodada será 1, depois 2 e até chegar ao valor final da função range().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ço Reservado para Número de Slide 1">
            <a:extLst>
              <a:ext uri="{FF2B5EF4-FFF2-40B4-BE49-F238E27FC236}">
                <a16:creationId xmlns:a16="http://schemas.microsoft.com/office/drawing/2014/main" id="{C87E3FE1-A436-AF7A-F0D1-B17303445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E8D63389-0810-43C2-B5C5-F2DF23A0E284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pt-BR" altLang="pt-BR" sz="1400"/>
          </a:p>
        </p:txBody>
      </p:sp>
      <p:sp>
        <p:nvSpPr>
          <p:cNvPr id="17411" name="Text Box 2">
            <a:extLst>
              <a:ext uri="{FF2B5EF4-FFF2-40B4-BE49-F238E27FC236}">
                <a16:creationId xmlns:a16="http://schemas.microsoft.com/office/drawing/2014/main" id="{0F34E638-4397-6307-90DD-B1CEB0163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24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7DFEE1BE-58AA-09C0-A290-605CEA0FC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060575"/>
            <a:ext cx="8712200" cy="337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4000">
                <a:latin typeface="Arial" panose="020B0604020202020204" pitchFamily="34" charset="0"/>
                <a:cs typeface="Arial" panose="020B0604020202020204" pitchFamily="34" charset="0"/>
              </a:rPr>
              <a:t>x = 1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4000">
                <a:latin typeface="Arial" panose="020B0604020202020204" pitchFamily="34" charset="0"/>
                <a:cs typeface="Arial" panose="020B0604020202020204" pitchFamily="34" charset="0"/>
              </a:rPr>
              <a:t>y = 12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4000">
                <a:latin typeface="Arial" panose="020B0604020202020204" pitchFamily="34" charset="0"/>
                <a:cs typeface="Arial" panose="020B0604020202020204" pitchFamily="34" charset="0"/>
              </a:rPr>
              <a:t>for var in range(x,y):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4000">
                <a:latin typeface="Arial" panose="020B0604020202020204" pitchFamily="34" charset="0"/>
                <a:cs typeface="Arial" panose="020B0604020202020204" pitchFamily="34" charset="0"/>
              </a:rPr>
              <a:t>  print(var)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4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4000">
                <a:latin typeface="Arial" panose="020B0604020202020204" pitchFamily="34" charset="0"/>
                <a:cs typeface="Arial" panose="020B0604020202020204" pitchFamily="34" charset="0"/>
              </a:rPr>
              <a:t>SERÁ MOSTRADO DE 1 a 11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400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pt-BR" altLang="pt-BR" sz="400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altLang="pt-BR" sz="4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Número de Slide 1">
            <a:extLst>
              <a:ext uri="{FF2B5EF4-FFF2-40B4-BE49-F238E27FC236}">
                <a16:creationId xmlns:a16="http://schemas.microsoft.com/office/drawing/2014/main" id="{FAEA9C8F-14D3-C993-BA86-767118CEF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3D50ECE7-D823-4B5F-BA43-256F7D8FFDA5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pt-BR" altLang="pt-BR" sz="1400"/>
          </a:p>
        </p:txBody>
      </p:sp>
      <p:sp>
        <p:nvSpPr>
          <p:cNvPr id="18435" name="Text Box 2">
            <a:extLst>
              <a:ext uri="{FF2B5EF4-FFF2-40B4-BE49-F238E27FC236}">
                <a16:creationId xmlns:a16="http://schemas.microsoft.com/office/drawing/2014/main" id="{A2BDC97E-87C4-D84E-E17F-3CEFB98739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25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A1684CE4-D047-10C9-CD5B-E1CD59BE3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060575"/>
            <a:ext cx="8712200" cy="337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4000">
                <a:latin typeface="Arial" panose="020B0604020202020204" pitchFamily="34" charset="0"/>
                <a:cs typeface="Arial" panose="020B0604020202020204" pitchFamily="34" charset="0"/>
              </a:rPr>
              <a:t>x = 1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4000">
                <a:latin typeface="Arial" panose="020B0604020202020204" pitchFamily="34" charset="0"/>
                <a:cs typeface="Arial" panose="020B0604020202020204" pitchFamily="34" charset="0"/>
              </a:rPr>
              <a:t>y = 30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4000">
                <a:latin typeface="Arial" panose="020B0604020202020204" pitchFamily="34" charset="0"/>
                <a:cs typeface="Arial" panose="020B0604020202020204" pitchFamily="34" charset="0"/>
              </a:rPr>
              <a:t>for var in range(x,y,3):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4000">
                <a:latin typeface="Arial" panose="020B0604020202020204" pitchFamily="34" charset="0"/>
                <a:cs typeface="Arial" panose="020B0604020202020204" pitchFamily="34" charset="0"/>
              </a:rPr>
              <a:t>  print(var)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4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4000">
                <a:latin typeface="Arial" panose="020B0604020202020204" pitchFamily="34" charset="0"/>
                <a:cs typeface="Arial" panose="020B0604020202020204" pitchFamily="34" charset="0"/>
              </a:rPr>
              <a:t>SERÁ MOSTRADO DE 1, 4, 7,...,28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ço Reservado para Número de Slide 1">
            <a:extLst>
              <a:ext uri="{FF2B5EF4-FFF2-40B4-BE49-F238E27FC236}">
                <a16:creationId xmlns:a16="http://schemas.microsoft.com/office/drawing/2014/main" id="{EE874F06-D492-7786-E4D3-03CB7FF8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11EA666-5014-4959-8F94-236CE55CAB2C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1273D3A-B073-B7D0-69CA-633D1B3303A8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1916113"/>
            <a:ext cx="8897937" cy="388778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ESTRUTURAS DE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REPETIÇÃO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COMANDO 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FOR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USADO COMO CONTADOR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ço Reservado para Número de Slide 1">
            <a:extLst>
              <a:ext uri="{FF2B5EF4-FFF2-40B4-BE49-F238E27FC236}">
                <a16:creationId xmlns:a16="http://schemas.microsoft.com/office/drawing/2014/main" id="{A960C311-5B12-EBFC-89C5-2B5EF2AB6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57A2101B-76DB-480D-857F-DD739E6E785B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pt-BR" altLang="pt-BR" sz="1400"/>
          </a:p>
        </p:txBody>
      </p:sp>
      <p:sp>
        <p:nvSpPr>
          <p:cNvPr id="20483" name="Text Box 2">
            <a:extLst>
              <a:ext uri="{FF2B5EF4-FFF2-40B4-BE49-F238E27FC236}">
                <a16:creationId xmlns:a16="http://schemas.microsoft.com/office/drawing/2014/main" id="{D589E223-8088-7055-4213-BD4F5A97C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26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4283D7BF-8D7C-A421-0F05-AB8AC8636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060575"/>
            <a:ext cx="8712200" cy="337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soma = 0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for i in range(1,11):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  numero_texto = input("Digite um Número: ")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  numero = int(numero_texto)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  if numero % 2 == 0: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    soma = soma + numero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else: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  print(“A Soma dos Npumeros PARES é: “, soma)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ço Reservado para Número de Slide 1">
            <a:extLst>
              <a:ext uri="{FF2B5EF4-FFF2-40B4-BE49-F238E27FC236}">
                <a16:creationId xmlns:a16="http://schemas.microsoft.com/office/drawing/2014/main" id="{23663DA0-AE04-CF92-7E19-6A3EB3AD5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0A3484A4-4990-4189-A980-F41DCED101A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pt-BR" altLang="pt-BR" sz="1400"/>
          </a:p>
        </p:txBody>
      </p:sp>
      <p:sp>
        <p:nvSpPr>
          <p:cNvPr id="21507" name="Text Box 2">
            <a:extLst>
              <a:ext uri="{FF2B5EF4-FFF2-40B4-BE49-F238E27FC236}">
                <a16:creationId xmlns:a16="http://schemas.microsoft.com/office/drawing/2014/main" id="{0D6D401F-6538-7DF1-DC73-1E443826F5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4200" b="1">
              <a:latin typeface="Arial" panose="020B0604020202020204" pitchFamily="34" charset="0"/>
            </a:endParaRPr>
          </a:p>
        </p:txBody>
      </p:sp>
      <p:pic>
        <p:nvPicPr>
          <p:cNvPr id="21508" name="Imagem 1">
            <a:extLst>
              <a:ext uri="{FF2B5EF4-FFF2-40B4-BE49-F238E27FC236}">
                <a16:creationId xmlns:a16="http://schemas.microsoft.com/office/drawing/2014/main" id="{B031D793-8A5B-5766-BFE6-B71AD7067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013" y="2501900"/>
            <a:ext cx="3663950" cy="359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Número de Slide 1">
            <a:extLst>
              <a:ext uri="{FF2B5EF4-FFF2-40B4-BE49-F238E27FC236}">
                <a16:creationId xmlns:a16="http://schemas.microsoft.com/office/drawing/2014/main" id="{4EBF20D8-711D-2A7D-C980-F43DA5507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B5DA7769-7CE2-48C3-AC9C-934F42693886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6AF631F-20E7-E474-5FDE-D1D09C2A2CD5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2133600"/>
            <a:ext cx="8897937" cy="3887788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EXERCÍCIOS</a:t>
            </a:r>
          </a:p>
        </p:txBody>
      </p:sp>
      <p:sp>
        <p:nvSpPr>
          <p:cNvPr id="22532" name="Text Box 2">
            <a:extLst>
              <a:ext uri="{FF2B5EF4-FFF2-40B4-BE49-F238E27FC236}">
                <a16:creationId xmlns:a16="http://schemas.microsoft.com/office/drawing/2014/main" id="{7BE92B5F-94E1-D940-1962-67EA8064F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Comando while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ço Reservado para Número de Slide 1">
            <a:extLst>
              <a:ext uri="{FF2B5EF4-FFF2-40B4-BE49-F238E27FC236}">
                <a16:creationId xmlns:a16="http://schemas.microsoft.com/office/drawing/2014/main" id="{D3C3A45E-3811-3B08-95CB-8307EC70B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1B36542F-62FD-4782-B518-D2A31CCEB002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pt-BR" altLang="pt-BR" sz="1400"/>
          </a:p>
        </p:txBody>
      </p:sp>
      <p:sp>
        <p:nvSpPr>
          <p:cNvPr id="23555" name="Text Box 2">
            <a:extLst>
              <a:ext uri="{FF2B5EF4-FFF2-40B4-BE49-F238E27FC236}">
                <a16:creationId xmlns:a16="http://schemas.microsoft.com/office/drawing/2014/main" id="{401B0075-4461-28CF-DF32-CFC9BA80F4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Exercício 21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4396E924-0819-01B7-8006-225B5B5E2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925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006475" indent="-5715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Desenvolver um programa em Python que solicite a digitação de 5 números, no final informe o menor e o maior número digitado.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ço Reservado para Número de Slide 1">
            <a:extLst>
              <a:ext uri="{FF2B5EF4-FFF2-40B4-BE49-F238E27FC236}">
                <a16:creationId xmlns:a16="http://schemas.microsoft.com/office/drawing/2014/main" id="{C5E1C559-D0D8-77E3-1216-74C40F2D2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CFBEBA9C-99D3-4193-BD3A-CE6683A94A22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pt-BR" altLang="pt-BR" sz="1400"/>
          </a:p>
        </p:txBody>
      </p:sp>
      <p:sp>
        <p:nvSpPr>
          <p:cNvPr id="24579" name="Text Box 2">
            <a:extLst>
              <a:ext uri="{FF2B5EF4-FFF2-40B4-BE49-F238E27FC236}">
                <a16:creationId xmlns:a16="http://schemas.microsoft.com/office/drawing/2014/main" id="{F077125C-D58D-C950-5236-C8634811E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Exercício 22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4083F4F0-27F6-2CD4-30B3-DB07124E3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925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006475" indent="-5715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Desenvolver um programa em Python que e</a:t>
            </a:r>
            <a:r>
              <a:rPr lang="pt-BR" altLang="pt-BR" b="1"/>
              <a:t>xiba em ordem decrescente todos os números de 10 até 1..</a:t>
            </a:r>
            <a:endParaRPr lang="pt-BR" altLang="pt-B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ço Reservado para Número de Slide 1">
            <a:extLst>
              <a:ext uri="{FF2B5EF4-FFF2-40B4-BE49-F238E27FC236}">
                <a16:creationId xmlns:a16="http://schemas.microsoft.com/office/drawing/2014/main" id="{30B63959-F8B9-8157-6147-91411ED00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537AFDD9-697E-4D93-957E-D9AD7B4D790B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pt-BR" altLang="pt-BR" sz="1400"/>
          </a:p>
        </p:txBody>
      </p:sp>
      <p:sp>
        <p:nvSpPr>
          <p:cNvPr id="25603" name="Text Box 2">
            <a:extLst>
              <a:ext uri="{FF2B5EF4-FFF2-40B4-BE49-F238E27FC236}">
                <a16:creationId xmlns:a16="http://schemas.microsoft.com/office/drawing/2014/main" id="{264CA57F-E267-D930-2774-C52DAF53E0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Exercício 23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9A44C508-2748-C945-F23F-3E765D6A9A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925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006475" indent="-5715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Desenvolver um programa em Python que solicite a digitação da idade e o sexo de 10 pessoas, calcule e imprima:</a:t>
            </a:r>
            <a:endParaRPr lang="pt-BR" altLang="pt-BR" sz="3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idade média das mulheres</a:t>
            </a:r>
            <a:endParaRPr lang="pt-BR" altLang="pt-BR" sz="3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idade média dos homens</a:t>
            </a:r>
            <a:endParaRPr lang="pt-BR" altLang="pt-BR" sz="3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idade média do grupo</a:t>
            </a:r>
          </a:p>
          <a:p>
            <a:pPr lvl="1"/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A maior idade</a:t>
            </a:r>
          </a:p>
          <a:p>
            <a:pPr lvl="1"/>
            <a:endParaRPr lang="pt-BR" altLang="pt-BR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ço Reservado para Número de Slide 1">
            <a:extLst>
              <a:ext uri="{FF2B5EF4-FFF2-40B4-BE49-F238E27FC236}">
                <a16:creationId xmlns:a16="http://schemas.microsoft.com/office/drawing/2014/main" id="{F7E377EC-BC03-A34A-C122-C1BBE9E43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00A394BF-4BFC-43A1-831C-B90B2A9F20DE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pt-BR" altLang="pt-BR" sz="1400"/>
          </a:p>
        </p:txBody>
      </p:sp>
      <p:sp>
        <p:nvSpPr>
          <p:cNvPr id="26627" name="Text Box 2">
            <a:extLst>
              <a:ext uri="{FF2B5EF4-FFF2-40B4-BE49-F238E27FC236}">
                <a16:creationId xmlns:a16="http://schemas.microsoft.com/office/drawing/2014/main" id="{5D4563DF-C69B-2538-E134-B7B177030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Exercício 24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13297584-8B2E-88DD-383A-3D283E5715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925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006475" indent="-5715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Desenvolver um programa em Python que solicite a digitação de </a:t>
            </a:r>
            <a:r>
              <a:rPr lang="pt-BR" altLang="pt-BR" b="1"/>
              <a:t>um número inteiro e mostr os números primo entre 1 e esse número lido.</a:t>
            </a:r>
            <a:endParaRPr lang="pt-BR" altLang="pt-B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ço Reservado para Número de Slide 1">
            <a:extLst>
              <a:ext uri="{FF2B5EF4-FFF2-40B4-BE49-F238E27FC236}">
                <a16:creationId xmlns:a16="http://schemas.microsoft.com/office/drawing/2014/main" id="{CD67DF90-553D-FB05-70BB-F273039AB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02267CD3-298F-4683-B392-99FD3AC7E40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pt-BR" altLang="pt-BR" sz="1400"/>
          </a:p>
        </p:txBody>
      </p:sp>
      <p:sp>
        <p:nvSpPr>
          <p:cNvPr id="27651" name="Text Box 2">
            <a:extLst>
              <a:ext uri="{FF2B5EF4-FFF2-40B4-BE49-F238E27FC236}">
                <a16:creationId xmlns:a16="http://schemas.microsoft.com/office/drawing/2014/main" id="{4E83545D-E19B-E671-3D65-3851C1C64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Exercício 25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C5522B5F-1C29-DAAF-84B7-01C09B795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925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006475" indent="-5715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Desenvolver um programa em Python que solicite ao usuário dois números inteiros, base e expoente, calcule e mostre o primeiro número elevado ao segundo número. Não utilizar a função de potência da linguagem.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ometrico">
  <a:themeElements>
    <a:clrScheme name="Geometrico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Geometrico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Geometrico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ometrico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ometrico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96FFDBFEEF43744B28FED0BED27951C" ma:contentTypeVersion="3" ma:contentTypeDescription="Crie um novo documento." ma:contentTypeScope="" ma:versionID="6b6c4c5daaee2a632d6b67adcf0c1dcb">
  <xsd:schema xmlns:xsd="http://www.w3.org/2001/XMLSchema" xmlns:xs="http://www.w3.org/2001/XMLSchema" xmlns:p="http://schemas.microsoft.com/office/2006/metadata/properties" xmlns:ns2="b8c6fbff-0035-4a65-874c-c953b48de930" targetNamespace="http://schemas.microsoft.com/office/2006/metadata/properties" ma:root="true" ma:fieldsID="baff7f672380be738a5ef06f0e14aaff" ns2:_="">
    <xsd:import namespace="b8c6fbff-0035-4a65-874c-c953b48de9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c6fbff-0035-4a65-874c-c953b48de9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ED35BF7-66E7-4DF5-86B5-34A84BCE3777}"/>
</file>

<file path=customXml/itemProps2.xml><?xml version="1.0" encoding="utf-8"?>
<ds:datastoreItem xmlns:ds="http://schemas.openxmlformats.org/officeDocument/2006/customXml" ds:itemID="{CF6AA1D8-89FD-4F89-B521-4FA67C315C95}"/>
</file>

<file path=customXml/itemProps3.xml><?xml version="1.0" encoding="utf-8"?>
<ds:datastoreItem xmlns:ds="http://schemas.openxmlformats.org/officeDocument/2006/customXml" ds:itemID="{7F5B25F9-D122-4AF6-A0C2-50CE1A7CF6EE}"/>
</file>

<file path=docProps/app.xml><?xml version="1.0" encoding="utf-8"?>
<Properties xmlns="http://schemas.openxmlformats.org/officeDocument/2006/extended-properties" xmlns:vt="http://schemas.openxmlformats.org/officeDocument/2006/docPropsVTypes">
  <Template>C:\Arquivos de programas\Microsoft Office\Templates\Estruturas de apresentação\Geometrico.pot</Template>
  <TotalTime>3711</TotalTime>
  <Words>460</Words>
  <Application>Microsoft Office PowerPoint</Application>
  <PresentationFormat>Apresentação na tela (4:3)</PresentationFormat>
  <Paragraphs>263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0" baseType="lpstr">
      <vt:lpstr>Arial</vt:lpstr>
      <vt:lpstr>Arial Black</vt:lpstr>
      <vt:lpstr>Calibri</vt:lpstr>
      <vt:lpstr>Tahoma</vt:lpstr>
      <vt:lpstr>Wingdings</vt:lpstr>
      <vt:lpstr>Geometrico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MA Inform[atica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Antonio Rodrigues da Silva</dc:creator>
  <cp:lastModifiedBy>MESTRE</cp:lastModifiedBy>
  <cp:revision>290</cp:revision>
  <dcterms:created xsi:type="dcterms:W3CDTF">2003-02-25T17:31:44Z</dcterms:created>
  <dcterms:modified xsi:type="dcterms:W3CDTF">2026-10-07T22:18:56Z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0x010100296FFDBFEEF43744B28FED0BED27951C</vt:lpwstr>
  </property>
</Properties>
</file>