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4"/>
  </p:notesMasterIdLst>
  <p:sldIdLst>
    <p:sldId id="256" r:id="rId2"/>
    <p:sldId id="371" r:id="rId3"/>
    <p:sldId id="398" r:id="rId4"/>
    <p:sldId id="410" r:id="rId5"/>
    <p:sldId id="411" r:id="rId6"/>
    <p:sldId id="408" r:id="rId7"/>
    <p:sldId id="420" r:id="rId8"/>
    <p:sldId id="421" r:id="rId9"/>
    <p:sldId id="422" r:id="rId10"/>
    <p:sldId id="423" r:id="rId11"/>
    <p:sldId id="428" r:id="rId12"/>
    <p:sldId id="425" r:id="rId13"/>
    <p:sldId id="432" r:id="rId14"/>
    <p:sldId id="433" r:id="rId15"/>
    <p:sldId id="429" r:id="rId16"/>
    <p:sldId id="431" r:id="rId17"/>
    <p:sldId id="424" r:id="rId18"/>
    <p:sldId id="412" r:id="rId19"/>
    <p:sldId id="430" r:id="rId20"/>
    <p:sldId id="434" r:id="rId21"/>
    <p:sldId id="435" r:id="rId22"/>
    <p:sldId id="436" r:id="rId23"/>
    <p:sldId id="437" r:id="rId24"/>
    <p:sldId id="438" r:id="rId25"/>
    <p:sldId id="439" r:id="rId26"/>
    <p:sldId id="440" r:id="rId27"/>
    <p:sldId id="441" r:id="rId28"/>
    <p:sldId id="442" r:id="rId29"/>
    <p:sldId id="445" r:id="rId30"/>
    <p:sldId id="444" r:id="rId31"/>
    <p:sldId id="443" r:id="rId32"/>
    <p:sldId id="446" r:id="rId33"/>
    <p:sldId id="447" r:id="rId34"/>
    <p:sldId id="448" r:id="rId35"/>
    <p:sldId id="449" r:id="rId36"/>
    <p:sldId id="450" r:id="rId37"/>
    <p:sldId id="451" r:id="rId38"/>
    <p:sldId id="452" r:id="rId39"/>
    <p:sldId id="402" r:id="rId40"/>
    <p:sldId id="419" r:id="rId41"/>
    <p:sldId id="455" r:id="rId42"/>
    <p:sldId id="456" r:id="rId43"/>
    <p:sldId id="457" r:id="rId44"/>
    <p:sldId id="463" r:id="rId45"/>
    <p:sldId id="462" r:id="rId46"/>
    <p:sldId id="464" r:id="rId47"/>
    <p:sldId id="453" r:id="rId48"/>
    <p:sldId id="454" r:id="rId49"/>
    <p:sldId id="458" r:id="rId50"/>
    <p:sldId id="459" r:id="rId51"/>
    <p:sldId id="460" r:id="rId52"/>
    <p:sldId id="461" r:id="rId53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CC"/>
    <a:srgbClr val="FFCC00"/>
    <a:srgbClr val="50FAEA"/>
    <a:srgbClr val="99FFCC"/>
    <a:srgbClr val="FF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58" autoAdjust="0"/>
    <p:restoredTop sz="90854" autoAdjust="0"/>
  </p:normalViewPr>
  <p:slideViewPr>
    <p:cSldViewPr>
      <p:cViewPr varScale="1">
        <p:scale>
          <a:sx n="57" d="100"/>
          <a:sy n="57" d="100"/>
        </p:scale>
        <p:origin x="177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80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3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4363AC8-CDA4-4DBA-BCEC-4E085FDFDC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71D822-B9E4-442B-A0EA-BE98C24684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735CB89-F5A7-435F-9181-116AB70D456B}" type="datetimeFigureOut">
              <a:rPr lang="pt-BR"/>
              <a:pPr>
                <a:defRPr/>
              </a:pPr>
              <a:t>06/10/2025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E543C53F-D090-4910-9494-3F46E78B8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83A7EEE5-9254-46AD-BC6B-38E3E1B64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CC989C-A219-42F2-B074-EF3616CC49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BED7A3-B933-4996-ACFE-7966B0061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C415FB5-B688-4F7E-84B8-42CC9440C9D8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86B77E-D324-9CEB-B044-B5C79BC10D5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62AF8AC-F883-A4A9-FD81-B686EECFCA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B2CB5420-D611-D738-AEEF-2C81693F3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0DD05202-4AA9-1A96-80C2-1B5B149FD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29E44714-A7CE-CAE9-0CF7-BD0713D5F4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23DFF63-BBD2-1CF5-2531-EC51244990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F9DC62-39EF-DD98-1006-1A3A2A8BA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1B34E86F-0439-2B44-4924-6937DE951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3BBA338-3269-2374-8962-281074224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8281596C-0E73-5E85-64DE-9286DDDF9F6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7E47A5A-F407-0B7E-1C20-F39BA376D7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5FEB72E-A42C-09E3-ED56-A3AFA46BDC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5F956412-EE71-636C-1195-0E7B664E8C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D0857F-B647-443B-83FC-EE39260ACB3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8069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BA208A2A-9131-569B-ED89-8E32C2FAE6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9C42A72D-EB73-0D8A-6DD6-0B50302186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C98C2319-A783-A2AF-1FD4-FD676881D0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DECF8A-A824-4142-8BAA-F005F81D097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5108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B7DD3ADD-F901-E1C7-75B5-CDB3ED122B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9D5D38E1-8F3E-60FA-DF58-93482A7F94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6A3751E3-C149-BB89-C91A-DA3CE6E982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08D755-B534-4D1D-90D2-BA1E2D285CB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5396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D2F667EF-D16F-C41D-FBD5-7C913F808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FE0E68D6-4DE8-99D3-0CDC-5E2596C6CE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B6FF29CA-53E9-3B23-B2DC-7345A414FD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FFA41-667B-4FF1-9090-FEC7F91F37F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77224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035">
            <a:extLst>
              <a:ext uri="{FF2B5EF4-FFF2-40B4-BE49-F238E27FC236}">
                <a16:creationId xmlns:a16="http://schemas.microsoft.com/office/drawing/2014/main" id="{606F8C33-9FD0-D1EC-4621-30335D266E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46095E4B-AE03-F554-DE10-F3808CDFF7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1037">
            <a:extLst>
              <a:ext uri="{FF2B5EF4-FFF2-40B4-BE49-F238E27FC236}">
                <a16:creationId xmlns:a16="http://schemas.microsoft.com/office/drawing/2014/main" id="{23847217-32AB-31EA-622F-5F58B3D449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2D91E-4146-410A-A983-93013541C4F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1771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FD3439D3-7B90-C757-497E-4F18486217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2EDFA4A1-06AF-2E72-ABF3-9D0063A60C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704E772C-C895-FCB2-CED4-E75EE42EDD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A922B7-728F-47F6-9E6D-82F193A974B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7095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9F538FDC-E4AA-F54D-1DDE-A979AF6BF0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D8D3F01A-8769-A55E-8128-69A17DBC08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CCA33CCE-DC28-6EA8-1043-9B8856ACCC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F50FD6-0209-4BDD-A2BE-C5CFF343D76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4082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0AD255BF-B58B-BCE0-6E7F-67E845171D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189E48F7-AB3F-C3C7-A694-79EB8C382F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F731936C-618D-36B6-265B-F2DA180C3C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EEFDA-F4C7-4C75-968D-951362E1396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966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9AFAD805-29E6-2D73-F64B-510729621C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F14320F3-0586-E7E2-1EC8-1014869EEF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D55CF963-3BE9-B82E-6851-9882A102BE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06DE69-AA26-4D28-9C7C-9A3BE5F58E9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23946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1741C1D-A561-0B5F-6FF0-BDF8D5BBD1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38DD75FE-42B6-A8CC-FD44-5847D22C0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85BEBF3A-33C8-8317-B5F8-A310D44CC7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DCD57F-21E6-497C-B226-3DCB6DC6B67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672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346F141F-FA56-6BF6-794E-E8DD737632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DD220B7F-F41E-C0A7-B5FD-B809E599D0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18064C66-D35C-15BA-1378-B11D477F94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5A2C88-E9D1-41A4-B94C-F280B0B2966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3752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FBA89211-03BB-4E74-9B07-AFC50817ED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EAF5671D-4A41-4D55-A3B2-4704DC2C43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8" name="Rectangle 1028">
            <a:extLst>
              <a:ext uri="{FF2B5EF4-FFF2-40B4-BE49-F238E27FC236}">
                <a16:creationId xmlns:a16="http://schemas.microsoft.com/office/drawing/2014/main" id="{CD7F6770-B1BF-45A3-B846-E90864BDC4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9" name="Rectangle 1029">
            <a:extLst>
              <a:ext uri="{FF2B5EF4-FFF2-40B4-BE49-F238E27FC236}">
                <a16:creationId xmlns:a16="http://schemas.microsoft.com/office/drawing/2014/main" id="{912F4071-C77C-4711-B6CC-8318D87A70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0" name="Rectangle 1030">
            <a:extLst>
              <a:ext uri="{FF2B5EF4-FFF2-40B4-BE49-F238E27FC236}">
                <a16:creationId xmlns:a16="http://schemas.microsoft.com/office/drawing/2014/main" id="{760538BD-1CD1-49BA-B62A-63B07791CF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1" name="Rectangle 1031">
            <a:extLst>
              <a:ext uri="{FF2B5EF4-FFF2-40B4-BE49-F238E27FC236}">
                <a16:creationId xmlns:a16="http://schemas.microsoft.com/office/drawing/2014/main" id="{1CBAAF11-5C7D-4922-9E5F-560ABDF75E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2" name="Rectangle 1032">
            <a:extLst>
              <a:ext uri="{FF2B5EF4-FFF2-40B4-BE49-F238E27FC236}">
                <a16:creationId xmlns:a16="http://schemas.microsoft.com/office/drawing/2014/main" id="{D8C651CA-584C-4942-AF35-8CE874B9C6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3" name="Rectangle 1033">
            <a:extLst>
              <a:ext uri="{FF2B5EF4-FFF2-40B4-BE49-F238E27FC236}">
                <a16:creationId xmlns:a16="http://schemas.microsoft.com/office/drawing/2014/main" id="{23F62040-233B-6E27-6609-F758AEE2A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07147233-5C40-7889-EA34-34AE37BEB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3083" name="Rectangle 1035">
            <a:extLst>
              <a:ext uri="{FF2B5EF4-FFF2-40B4-BE49-F238E27FC236}">
                <a16:creationId xmlns:a16="http://schemas.microsoft.com/office/drawing/2014/main" id="{641DDB03-A9CD-4287-BFBC-C9A3A09B5E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4" name="Rectangle 1036">
            <a:extLst>
              <a:ext uri="{FF2B5EF4-FFF2-40B4-BE49-F238E27FC236}">
                <a16:creationId xmlns:a16="http://schemas.microsoft.com/office/drawing/2014/main" id="{A509AD49-59A7-49E7-AF16-D0C4AE3405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5" name="Rectangle 1037">
            <a:extLst>
              <a:ext uri="{FF2B5EF4-FFF2-40B4-BE49-F238E27FC236}">
                <a16:creationId xmlns:a16="http://schemas.microsoft.com/office/drawing/2014/main" id="{942C8B03-B793-4436-9A4D-CECC1CEAF8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A4C63100-9532-451A-80D2-C795199B7D65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72" r:id="rId1"/>
    <p:sldLayoutId id="2147484562" r:id="rId2"/>
    <p:sldLayoutId id="2147484563" r:id="rId3"/>
    <p:sldLayoutId id="2147484564" r:id="rId4"/>
    <p:sldLayoutId id="2147484565" r:id="rId5"/>
    <p:sldLayoutId id="2147484566" r:id="rId6"/>
    <p:sldLayoutId id="2147484567" r:id="rId7"/>
    <p:sldLayoutId id="2147484568" r:id="rId8"/>
    <p:sldLayoutId id="2147484569" r:id="rId9"/>
    <p:sldLayoutId id="2147484570" r:id="rId10"/>
    <p:sldLayoutId id="21474845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>
            <a:extLst>
              <a:ext uri="{FF2B5EF4-FFF2-40B4-BE49-F238E27FC236}">
                <a16:creationId xmlns:a16="http://schemas.microsoft.com/office/drawing/2014/main" id="{DDFADBF2-C679-37A0-3137-2E1FDAA63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381750"/>
            <a:ext cx="572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</a:rPr>
              <a:t>Prof. Marcos Antonio e Marcos Junior</a:t>
            </a:r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32153CC6-063B-1D0D-6370-22C245774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989138"/>
            <a:ext cx="9144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>
                <a:latin typeface="Arial Black" panose="020B0A04020102020204" pitchFamily="34" charset="0"/>
              </a:rPr>
              <a:t>INTRODUÇÃO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>
                <a:latin typeface="Arial Black" panose="020B0A04020102020204" pitchFamily="34" charset="0"/>
              </a:rPr>
              <a:t>À</a:t>
            </a:r>
            <a:br>
              <a:rPr lang="pt-BR" altLang="pt-BR" sz="4800" b="1">
                <a:latin typeface="Arial Black" panose="020B0A04020102020204" pitchFamily="34" charset="0"/>
              </a:rPr>
            </a:br>
            <a:r>
              <a:rPr lang="pt-BR" altLang="pt-BR" sz="4800" b="1">
                <a:latin typeface="Arial Black" panose="020B0A04020102020204" pitchFamily="34" charset="0"/>
              </a:rPr>
              <a:t> PROGRAMAÇÃO ESTRUTURADA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800" b="1">
              <a:latin typeface="Arial Black" panose="020B0A040201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>
                <a:latin typeface="Arial Black" panose="020B0A04020102020204" pitchFamily="34" charset="0"/>
              </a:rPr>
              <a:t>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1">
            <a:extLst>
              <a:ext uri="{FF2B5EF4-FFF2-40B4-BE49-F238E27FC236}">
                <a16:creationId xmlns:a16="http://schemas.microsoft.com/office/drawing/2014/main" id="{FEE16A04-595C-439D-D6E4-CADF0FFC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394E2A-BAD0-46A2-A35C-6481F6E1F9B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92FABE-59E9-DB53-D1F6-A6B8B33202C7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ESTRUTURAS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DE DADOS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LISTA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Número de Slide 1">
            <a:extLst>
              <a:ext uri="{FF2B5EF4-FFF2-40B4-BE49-F238E27FC236}">
                <a16:creationId xmlns:a16="http://schemas.microsoft.com/office/drawing/2014/main" id="{97B2473C-E953-BB88-D59C-65C9B32B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D4537A74-819A-4423-AC03-85E41C4A4BD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pt-BR" altLang="pt-BR" sz="1400"/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C07D6FDE-B593-9348-24AC-F29EF9BE2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Listas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C3A88EC-0D12-428E-9048-37A494D5C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 Lista, em Python, é uma estrutura de dados utilizada para armazenar elementos de forma sequencial e ordenada.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D4AFE34A-1895-9794-5D9B-6561D7EA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AE497F1-C176-46F2-8E90-792BDC9E43B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pt-BR" altLang="pt-BR" sz="14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289DF0D-B36E-FE84-1AAB-F75820971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As listas são acessadas por meio de um índice que inicia com o valor 0 para o primeiro elemento e é incrementada com 1 a cada novo item. </a:t>
            </a:r>
          </a:p>
        </p:txBody>
      </p:sp>
      <p:sp>
        <p:nvSpPr>
          <p:cNvPr id="7172" name="Text Box 2">
            <a:extLst>
              <a:ext uri="{FF2B5EF4-FFF2-40B4-BE49-F238E27FC236}">
                <a16:creationId xmlns:a16="http://schemas.microsoft.com/office/drawing/2014/main" id="{CC85413E-4EB5-D9EF-8F2D-DD2C80B08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Listas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Número de Slide 1">
            <a:extLst>
              <a:ext uri="{FF2B5EF4-FFF2-40B4-BE49-F238E27FC236}">
                <a16:creationId xmlns:a16="http://schemas.microsoft.com/office/drawing/2014/main" id="{3A931EEB-BB87-CDF8-6557-B203E648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FC01A9FC-2304-4461-991D-ACEAD1079C0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pt-BR" altLang="pt-BR" sz="140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F26B6C-E0C7-C3AE-8C31-00892B452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Além disso, o último item da lista é representado pelo índice “–1”.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É um tipo de dado mutável, isso significa que elas podem ser modificadas, ou seja, é possível sobrescrever os valores atribuídos a ela. </a:t>
            </a:r>
          </a:p>
        </p:txBody>
      </p:sp>
      <p:sp>
        <p:nvSpPr>
          <p:cNvPr id="8196" name="Text Box 2">
            <a:extLst>
              <a:ext uri="{FF2B5EF4-FFF2-40B4-BE49-F238E27FC236}">
                <a16:creationId xmlns:a16="http://schemas.microsoft.com/office/drawing/2014/main" id="{2141429A-7693-06A8-7264-BB279DE71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Listas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Número de Slide 1">
            <a:extLst>
              <a:ext uri="{FF2B5EF4-FFF2-40B4-BE49-F238E27FC236}">
                <a16:creationId xmlns:a16="http://schemas.microsoft.com/office/drawing/2014/main" id="{8C1177F5-9EA2-8DC7-D1E0-F6405FEC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09937EF-F67D-451F-9F45-03E3F888B5D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pt-BR" altLang="pt-BR" sz="140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D770528-8732-E7D5-D18A-4C79F09C5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Uma lista é delimitada pelos sinais de colchetes: “[“ e “]” e todos os elementos pertencentes a ela são separados por vírgulas.</a:t>
            </a:r>
          </a:p>
        </p:txBody>
      </p:sp>
      <p:sp>
        <p:nvSpPr>
          <p:cNvPr id="9220" name="Text Box 2">
            <a:extLst>
              <a:ext uri="{FF2B5EF4-FFF2-40B4-BE49-F238E27FC236}">
                <a16:creationId xmlns:a16="http://schemas.microsoft.com/office/drawing/2014/main" id="{8A15FBC5-443B-FBC1-4D52-D939ABB65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Listas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Número de Slide 1">
            <a:extLst>
              <a:ext uri="{FF2B5EF4-FFF2-40B4-BE49-F238E27FC236}">
                <a16:creationId xmlns:a16="http://schemas.microsoft.com/office/drawing/2014/main" id="{7AADA76B-0C6E-212D-C297-73C74EC7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B84FC0-02AC-4902-9A7D-8784C1B5AFF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7BE5D52-9F15-9AD9-09B1-0050955DCFEC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Como Criar Listas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Número de Slide 1">
            <a:extLst>
              <a:ext uri="{FF2B5EF4-FFF2-40B4-BE49-F238E27FC236}">
                <a16:creationId xmlns:a16="http://schemas.microsoft.com/office/drawing/2014/main" id="{DF99452B-79B3-FA89-9605-D275179D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5D15DF0-135B-4D70-81DA-382E4AB0DC7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pt-BR" altLang="pt-BR" sz="140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84515BD-EE7A-D299-05A1-EE6B1BEFF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nome_da_lista = []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animais = [“cão”,”gato”,”peixe”,”boi”,”cobra”]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 = [“João”,”Maria”,“Jose”,”Ana”,”Mario”]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pessoas = [“Ari”,34,”Eva”,25,”Nair”,63,”Mauro”,19,”Antonio”,42]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E7089606-655C-A9C4-B71D-A81C0DC42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Listas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Número de Slide 1">
            <a:extLst>
              <a:ext uri="{FF2B5EF4-FFF2-40B4-BE49-F238E27FC236}">
                <a16:creationId xmlns:a16="http://schemas.microsoft.com/office/drawing/2014/main" id="{256DB7FC-97C0-52B3-9CE1-E97A7036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9D60EA-607B-4135-896F-64E5B814E6C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119A5A-30BD-BE96-C160-EE7B79CC668D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Como Ver 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Tamanho de uma Listas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Número de Slide 1">
            <a:extLst>
              <a:ext uri="{FF2B5EF4-FFF2-40B4-BE49-F238E27FC236}">
                <a16:creationId xmlns:a16="http://schemas.microsoft.com/office/drawing/2014/main" id="{D110B743-7902-1F1F-E9A6-8D46C190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CE190A3A-6B70-4B0A-B5F2-8C3B1D01741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pt-BR" altLang="pt-BR" sz="140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2944615-F9A3-D6E7-E474-493B11615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len(nome_da_lista)   Resposta: 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len(animais)               Resposta: 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len(alunos)                 Resposta: 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len(pessoas)              Resposta: 10</a:t>
            </a:r>
          </a:p>
        </p:txBody>
      </p:sp>
      <p:sp>
        <p:nvSpPr>
          <p:cNvPr id="13316" name="Text Box 2">
            <a:extLst>
              <a:ext uri="{FF2B5EF4-FFF2-40B4-BE49-F238E27FC236}">
                <a16:creationId xmlns:a16="http://schemas.microsoft.com/office/drawing/2014/main" id="{601BD9D9-CE29-90E4-0057-C8091B05C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Listas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Número de Slide 1">
            <a:extLst>
              <a:ext uri="{FF2B5EF4-FFF2-40B4-BE49-F238E27FC236}">
                <a16:creationId xmlns:a16="http://schemas.microsoft.com/office/drawing/2014/main" id="{8FAA5D48-B3FA-B6C9-FD5D-CFD320BF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0691A7-6921-4BB3-92DB-144824115B0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944C26-F2BC-DC2B-48ED-409BB4BADDDD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Verificar a existência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de um elemento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Número de Slide 1">
            <a:extLst>
              <a:ext uri="{FF2B5EF4-FFF2-40B4-BE49-F238E27FC236}">
                <a16:creationId xmlns:a16="http://schemas.microsoft.com/office/drawing/2014/main" id="{39F9D872-4438-CBEB-CCDC-8D9956B1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47E7D9A1-9BCD-4405-B6C3-42FBBD41D4E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40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C67D7D6-A336-3656-A347-4A890F46D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alunos = ["</a:t>
            </a:r>
            <a:r>
              <a:rPr lang="pt-BR" alt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João","Maria","Jose","Ana","Mario</a:t>
            </a: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"Jose" in alunos: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   print("EXISTE")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   print("NÃO EXISTE")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Resposta: EXISTE</a:t>
            </a:r>
          </a:p>
        </p:txBody>
      </p:sp>
      <p:sp>
        <p:nvSpPr>
          <p:cNvPr id="15364" name="Text Box 2">
            <a:extLst>
              <a:ext uri="{FF2B5EF4-FFF2-40B4-BE49-F238E27FC236}">
                <a16:creationId xmlns:a16="http://schemas.microsoft.com/office/drawing/2014/main" id="{29473954-5E8E-37B8-4324-4979D57A6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Listas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Número de Slide 1">
            <a:extLst>
              <a:ext uri="{FF2B5EF4-FFF2-40B4-BE49-F238E27FC236}">
                <a16:creationId xmlns:a16="http://schemas.microsoft.com/office/drawing/2014/main" id="{86FFBB0E-8550-536E-47E6-888C21C5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7D2C3D-915F-4E19-B8FA-A66773A733B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CC443A-D0A8-CF7C-65DA-69E4867A4C12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Percorrendo os Elementos de uma Lista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Número de Slide 1">
            <a:extLst>
              <a:ext uri="{FF2B5EF4-FFF2-40B4-BE49-F238E27FC236}">
                <a16:creationId xmlns:a16="http://schemas.microsoft.com/office/drawing/2014/main" id="{8F31F3EC-358E-ED8B-FC2D-1993C6CD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C6EF1DA-1D29-4BF5-AC40-E512CC51186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pt-BR" altLang="pt-BR" sz="140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BF9481C-1411-71FD-9990-0BB737CF8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2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 = ["João","Maria","Jose","Ana","Mario"]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 nome_aluno in alunos: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print(nome_aluno)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Resposta: "João“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           "Maria“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           "Jose“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           "Ana“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           "Mario"</a:t>
            </a:r>
          </a:p>
        </p:txBody>
      </p:sp>
      <p:sp>
        <p:nvSpPr>
          <p:cNvPr id="17412" name="Text Box 2">
            <a:extLst>
              <a:ext uri="{FF2B5EF4-FFF2-40B4-BE49-F238E27FC236}">
                <a16:creationId xmlns:a16="http://schemas.microsoft.com/office/drawing/2014/main" id="{4D083B41-73E0-180F-D4CF-314C6F432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Listas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Número de Slide 1">
            <a:extLst>
              <a:ext uri="{FF2B5EF4-FFF2-40B4-BE49-F238E27FC236}">
                <a16:creationId xmlns:a16="http://schemas.microsoft.com/office/drawing/2014/main" id="{F3236D04-F64D-218C-2801-7F4924CC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87B053-B739-4F6F-AC70-6033BFA6396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0B3F6C-8894-31E4-6F72-821FAEA14C73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Concatenando Listas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Número de Slide 1">
            <a:extLst>
              <a:ext uri="{FF2B5EF4-FFF2-40B4-BE49-F238E27FC236}">
                <a16:creationId xmlns:a16="http://schemas.microsoft.com/office/drawing/2014/main" id="{7319D814-6894-C0A4-2D07-F596D222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CA0DEE74-AA60-4D32-872D-88DF24782DF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pt-BR" altLang="pt-BR" sz="140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000DBC7-094E-BE2A-24DF-3741B5114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animais = ["cão","gato","peixe","boi","cobra"]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 = ["João","Maria","Jose","Ana","Mario"]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nova_lista = alunos + animais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print(nova_lista)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Resposta: ["João","Maria","Jose","Ana","Mario“, "cão","gato","peixe","boi","cobra"]</a:t>
            </a:r>
            <a:b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Text Box 2">
            <a:extLst>
              <a:ext uri="{FF2B5EF4-FFF2-40B4-BE49-F238E27FC236}">
                <a16:creationId xmlns:a16="http://schemas.microsoft.com/office/drawing/2014/main" id="{6D664A8B-F6CC-1666-729D-B7CE53AB6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Listas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Número de Slide 1">
            <a:extLst>
              <a:ext uri="{FF2B5EF4-FFF2-40B4-BE49-F238E27FC236}">
                <a16:creationId xmlns:a16="http://schemas.microsoft.com/office/drawing/2014/main" id="{27BF973D-C97E-E54C-54B0-F0B57C2F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BC900E-C2B3-4721-9C86-938C997A590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233FA6-872E-8359-8776-45300239B5F4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Principais Funções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index()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Número de Slide 1">
            <a:extLst>
              <a:ext uri="{FF2B5EF4-FFF2-40B4-BE49-F238E27FC236}">
                <a16:creationId xmlns:a16="http://schemas.microsoft.com/office/drawing/2014/main" id="{68762DE3-C0DF-5292-8C67-835A458C7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1518CBFE-3014-4951-88E8-536368DEB28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pt-BR" altLang="pt-BR" sz="140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8AEF96E-5177-1D73-1D7C-8D28D4839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Mostra o índice do elemento passado como parâmetro.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OBS: Não esquecer que começa com 0.</a:t>
            </a:r>
          </a:p>
        </p:txBody>
      </p:sp>
      <p:sp>
        <p:nvSpPr>
          <p:cNvPr id="21508" name="Text Box 2">
            <a:extLst>
              <a:ext uri="{FF2B5EF4-FFF2-40B4-BE49-F238E27FC236}">
                <a16:creationId xmlns:a16="http://schemas.microsoft.com/office/drawing/2014/main" id="{A1AC72B1-C8C4-9616-5201-6B30DBB36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index()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Número de Slide 1">
            <a:extLst>
              <a:ext uri="{FF2B5EF4-FFF2-40B4-BE49-F238E27FC236}">
                <a16:creationId xmlns:a16="http://schemas.microsoft.com/office/drawing/2014/main" id="{4705D443-DCD8-8DAF-8CB4-64D25401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F08AC1E-8201-49F0-8A0A-D1321AE30A6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pt-BR" altLang="pt-BR" sz="140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BBBF057-81BC-1A35-9CB9-9C950B0A6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 = ["João","Maria","Jose","Ana","Mario"]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print(alunos.index(“Jose”))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2</a:t>
            </a:r>
          </a:p>
        </p:txBody>
      </p:sp>
      <p:sp>
        <p:nvSpPr>
          <p:cNvPr id="22532" name="Text Box 2">
            <a:extLst>
              <a:ext uri="{FF2B5EF4-FFF2-40B4-BE49-F238E27FC236}">
                <a16:creationId xmlns:a16="http://schemas.microsoft.com/office/drawing/2014/main" id="{3C48DA7B-45A2-DDD3-B77F-8E03B401A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index()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Número de Slide 1">
            <a:extLst>
              <a:ext uri="{FF2B5EF4-FFF2-40B4-BE49-F238E27FC236}">
                <a16:creationId xmlns:a16="http://schemas.microsoft.com/office/drawing/2014/main" id="{69402A1D-2A46-130C-F1C3-07ED2DBC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ECF70E-D0D3-4701-854B-DFC2B08FEBB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8243AE-666E-D028-C5D9-BFC4E0F1EA6A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Principais Funções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 err="1">
                <a:latin typeface="Arial Black" panose="020B0A04020102020204" pitchFamily="34" charset="0"/>
              </a:rPr>
              <a:t>insert</a:t>
            </a:r>
            <a:r>
              <a:rPr lang="pt-BR" altLang="pt-BR" sz="4600" b="1" kern="0" dirty="0">
                <a:latin typeface="Arial Black" panose="020B0A04020102020204" pitchFamily="34" charset="0"/>
              </a:rPr>
              <a:t>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Número de Slide 1">
            <a:extLst>
              <a:ext uri="{FF2B5EF4-FFF2-40B4-BE49-F238E27FC236}">
                <a16:creationId xmlns:a16="http://schemas.microsoft.com/office/drawing/2014/main" id="{40C16777-1580-8D46-52ED-5889B12A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DFADDD79-5DD1-4FBD-82D7-35E07770886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pt-BR" altLang="pt-BR" sz="14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1A7CD4C-5C08-C98A-5849-C6FC3C150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Insere um elemento válido conforme o índice informado junto com o elemento nos parâmetros.</a:t>
            </a:r>
          </a:p>
        </p:txBody>
      </p:sp>
      <p:sp>
        <p:nvSpPr>
          <p:cNvPr id="24580" name="Text Box 2">
            <a:extLst>
              <a:ext uri="{FF2B5EF4-FFF2-40B4-BE49-F238E27FC236}">
                <a16:creationId xmlns:a16="http://schemas.microsoft.com/office/drawing/2014/main" id="{202C2E71-E1B4-CC6A-38C9-CE2D54AB6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insert()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Número de Slide 1">
            <a:extLst>
              <a:ext uri="{FF2B5EF4-FFF2-40B4-BE49-F238E27FC236}">
                <a16:creationId xmlns:a16="http://schemas.microsoft.com/office/drawing/2014/main" id="{A1DFEA07-30BF-0922-EF0B-9BC202C2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C7E51EC-58CC-4FAF-A88E-6327095B9CE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pt-BR" altLang="pt-BR" sz="140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92C0D90-3230-1155-70E3-6E959BB01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 = ["João","Maria","Jose","Ana","Mario"]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alunos.insert(2,”Filomena”)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print(alunos)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['João', 'Maria', 'Filomena', 'Jose', 'Ana', 'Mario']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4" name="Text Box 2">
            <a:extLst>
              <a:ext uri="{FF2B5EF4-FFF2-40B4-BE49-F238E27FC236}">
                <a16:creationId xmlns:a16="http://schemas.microsoft.com/office/drawing/2014/main" id="{CDE0C519-D7B2-8056-F5BF-07E11410B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insert()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1">
            <a:extLst>
              <a:ext uri="{FF2B5EF4-FFF2-40B4-BE49-F238E27FC236}">
                <a16:creationId xmlns:a16="http://schemas.microsoft.com/office/drawing/2014/main" id="{7EC2B609-9E88-03D1-0E11-F2DAB754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CADBD6-32B8-4BAB-A921-BEFFA11CB03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1B5138-9822-3148-0C1B-CA7B8D3B493C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Principais Funções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remove()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Número de Slide 1">
            <a:extLst>
              <a:ext uri="{FF2B5EF4-FFF2-40B4-BE49-F238E27FC236}">
                <a16:creationId xmlns:a16="http://schemas.microsoft.com/office/drawing/2014/main" id="{8817FFAD-9338-07F6-E93E-C6284697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12E31B8-62E1-4737-9A33-75F8C423F15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pt-BR" altLang="pt-BR" sz="14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D4D34AA-1FBD-B24B-C6C8-8001C6DE6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Remove um elemento conforme informado no parâmetro.</a:t>
            </a:r>
          </a:p>
        </p:txBody>
      </p:sp>
      <p:sp>
        <p:nvSpPr>
          <p:cNvPr id="27652" name="Text Box 2">
            <a:extLst>
              <a:ext uri="{FF2B5EF4-FFF2-40B4-BE49-F238E27FC236}">
                <a16:creationId xmlns:a16="http://schemas.microsoft.com/office/drawing/2014/main" id="{52DF6681-40D7-5A29-F9B5-3EB1A5E1C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remove()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Número de Slide 1">
            <a:extLst>
              <a:ext uri="{FF2B5EF4-FFF2-40B4-BE49-F238E27FC236}">
                <a16:creationId xmlns:a16="http://schemas.microsoft.com/office/drawing/2014/main" id="{73E8502D-9379-35F6-3D46-35E501E6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B97786B-26D2-42BA-ACE2-9FB65A93032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pt-BR" altLang="pt-BR" sz="140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D4413AF-D832-DE9C-8DC4-363F9A789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 = ["João","Maria","Jose","Ana","Mario"]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alunos.remove(”Jose”)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print(alunos)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['João', 'Maria', 'Ana', 'Mario']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Text Box 2">
            <a:extLst>
              <a:ext uri="{FF2B5EF4-FFF2-40B4-BE49-F238E27FC236}">
                <a16:creationId xmlns:a16="http://schemas.microsoft.com/office/drawing/2014/main" id="{0BE19B52-6F00-CBD0-28D6-FAD7B2FC4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remove()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Número de Slide 1">
            <a:extLst>
              <a:ext uri="{FF2B5EF4-FFF2-40B4-BE49-F238E27FC236}">
                <a16:creationId xmlns:a16="http://schemas.microsoft.com/office/drawing/2014/main" id="{A2D8B7BE-505E-66C9-C496-ECFE44435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115C03-9577-47F1-B213-578213FACDE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F64093-3556-E434-9381-C44CEF27E6F0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Principais Funções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 err="1">
                <a:latin typeface="Arial Black" panose="020B0A04020102020204" pitchFamily="34" charset="0"/>
              </a:rPr>
              <a:t>append</a:t>
            </a:r>
            <a:r>
              <a:rPr lang="pt-BR" altLang="pt-BR" sz="4600" b="1" kern="0" dirty="0">
                <a:latin typeface="Arial Black" panose="020B0A04020102020204" pitchFamily="34" charset="0"/>
              </a:rPr>
              <a:t>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Número de Slide 1">
            <a:extLst>
              <a:ext uri="{FF2B5EF4-FFF2-40B4-BE49-F238E27FC236}">
                <a16:creationId xmlns:a16="http://schemas.microsoft.com/office/drawing/2014/main" id="{88C39ECC-F06A-CABF-0D7F-9CF77D33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9B33A28-72D1-4053-A85A-B0CCA2F14E4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pt-BR" altLang="pt-BR" sz="140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81D6DD3-35CF-3C09-2F4A-25E46A50D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Insere um elemento conforme informado no parâmetro, no final da lista.</a:t>
            </a:r>
          </a:p>
        </p:txBody>
      </p:sp>
      <p:sp>
        <p:nvSpPr>
          <p:cNvPr id="30724" name="Text Box 2">
            <a:extLst>
              <a:ext uri="{FF2B5EF4-FFF2-40B4-BE49-F238E27FC236}">
                <a16:creationId xmlns:a16="http://schemas.microsoft.com/office/drawing/2014/main" id="{2FAAC87C-39B8-A81F-8BD2-9C51CEB88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append()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Número de Slide 1">
            <a:extLst>
              <a:ext uri="{FF2B5EF4-FFF2-40B4-BE49-F238E27FC236}">
                <a16:creationId xmlns:a16="http://schemas.microsoft.com/office/drawing/2014/main" id="{6DD5D4CD-EB8D-262C-225D-B9945096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BC53E3FC-80EE-4EA2-820F-2371F279AD6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pt-BR" altLang="pt-BR" sz="140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C2A4BB6-8844-FEE6-ADE3-4468989BD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 = ["João","Maria","Jose","Ana","Mario"]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alunos.append(”Filomena”)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print(alunos)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['João', 'Maria', 'Jose', 'Ana', 'Mario', 'Filomena']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8" name="Text Box 2">
            <a:extLst>
              <a:ext uri="{FF2B5EF4-FFF2-40B4-BE49-F238E27FC236}">
                <a16:creationId xmlns:a16="http://schemas.microsoft.com/office/drawing/2014/main" id="{55DBBF89-2D50-C9B3-0616-D8DD6E8CD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append()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Número de Slide 1">
            <a:extLst>
              <a:ext uri="{FF2B5EF4-FFF2-40B4-BE49-F238E27FC236}">
                <a16:creationId xmlns:a16="http://schemas.microsoft.com/office/drawing/2014/main" id="{D02FBCA8-58DD-2402-1CDD-31B7136F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483BAB-FCBD-416F-8836-8F27A505FBF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9D49FD-705D-C61C-63A5-A0BA0F7C775B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Principais Funções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pop()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Número de Slide 1">
            <a:extLst>
              <a:ext uri="{FF2B5EF4-FFF2-40B4-BE49-F238E27FC236}">
                <a16:creationId xmlns:a16="http://schemas.microsoft.com/office/drawing/2014/main" id="{29D06F85-1C2D-546B-BC57-2E5AF0D9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45C4DBFF-516E-40C9-B1DC-6345CFF98AA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pt-BR" altLang="pt-BR" sz="1400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A581937-9545-AB83-B579-18304EA1F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Remove através do índice, informdo por parâmetro (retorna o valor removido).</a:t>
            </a: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6" name="Text Box 2">
            <a:extLst>
              <a:ext uri="{FF2B5EF4-FFF2-40B4-BE49-F238E27FC236}">
                <a16:creationId xmlns:a16="http://schemas.microsoft.com/office/drawing/2014/main" id="{1FE7B2C4-9536-E1E8-3D6E-09044D2EF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pop()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Número de Slide 1">
            <a:extLst>
              <a:ext uri="{FF2B5EF4-FFF2-40B4-BE49-F238E27FC236}">
                <a16:creationId xmlns:a16="http://schemas.microsoft.com/office/drawing/2014/main" id="{676CA35E-9707-8D2D-974E-425CB806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4AE4506C-5929-4413-819A-8F7A0E096DE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pt-BR" altLang="pt-BR" sz="140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F5C535B-2C21-B5F8-CBB4-C245A41BF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 = ["João","Maria","Jose","Ana","Mario"]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alunos.pop(2)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‘Jose'</a:t>
            </a:r>
          </a:p>
        </p:txBody>
      </p:sp>
      <p:sp>
        <p:nvSpPr>
          <p:cNvPr id="34820" name="Text Box 2">
            <a:extLst>
              <a:ext uri="{FF2B5EF4-FFF2-40B4-BE49-F238E27FC236}">
                <a16:creationId xmlns:a16="http://schemas.microsoft.com/office/drawing/2014/main" id="{0F9F2E66-315E-B8D6-4642-A9D54ED03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pop()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Número de Slide 1">
            <a:extLst>
              <a:ext uri="{FF2B5EF4-FFF2-40B4-BE49-F238E27FC236}">
                <a16:creationId xmlns:a16="http://schemas.microsoft.com/office/drawing/2014/main" id="{B0698AF8-E24F-7BC9-DA88-D5D9DFDB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88914C-E9D0-4303-94E0-0670B8B0261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35F1F5-8F3B-2461-0ACA-CBCDC1A311A4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Principais Funções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 err="1">
                <a:latin typeface="Arial Black" panose="020B0A04020102020204" pitchFamily="34" charset="0"/>
              </a:rPr>
              <a:t>sort</a:t>
            </a:r>
            <a:r>
              <a:rPr lang="pt-BR" altLang="pt-BR" sz="4600" b="1" kern="0" dirty="0">
                <a:latin typeface="Arial Black" panose="020B0A04020102020204" pitchFamily="34" charset="0"/>
              </a:rPr>
              <a:t>()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Número de Slide 1">
            <a:extLst>
              <a:ext uri="{FF2B5EF4-FFF2-40B4-BE49-F238E27FC236}">
                <a16:creationId xmlns:a16="http://schemas.microsoft.com/office/drawing/2014/main" id="{8FB32C89-67F4-70FC-651F-DC218EA2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79638241-7412-45BD-875F-C817A227551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pt-BR" altLang="pt-BR" sz="1400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A67D153-DE05-D27D-7F00-4A1A849EC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Classifica os elementos em ordem crescente.</a:t>
            </a: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8" name="Text Box 2">
            <a:extLst>
              <a:ext uri="{FF2B5EF4-FFF2-40B4-BE49-F238E27FC236}">
                <a16:creationId xmlns:a16="http://schemas.microsoft.com/office/drawing/2014/main" id="{3D1A6BAF-6C09-0240-CD72-E54008C6A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sort()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Número de Slide 1">
            <a:extLst>
              <a:ext uri="{FF2B5EF4-FFF2-40B4-BE49-F238E27FC236}">
                <a16:creationId xmlns:a16="http://schemas.microsoft.com/office/drawing/2014/main" id="{21AED843-2E5C-2AFC-093B-FA90EDCD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3A10154-6FDB-4A6D-A4FC-4D425B05E88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pt-BR" altLang="pt-BR" sz="140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502A71E-C0A1-76FD-775D-896313E46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 = ["João","Maria","Jose","Ana","Mario"]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alunos.sort()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print(alunos)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['Ana', 'Jose', 'João', 'Maria', 'Mario']</a:t>
            </a: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Text Box 2">
            <a:extLst>
              <a:ext uri="{FF2B5EF4-FFF2-40B4-BE49-F238E27FC236}">
                <a16:creationId xmlns:a16="http://schemas.microsoft.com/office/drawing/2014/main" id="{9119F027-ECB9-36C4-DE77-C9720473E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sort()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Número de Slide 1">
            <a:extLst>
              <a:ext uri="{FF2B5EF4-FFF2-40B4-BE49-F238E27FC236}">
                <a16:creationId xmlns:a16="http://schemas.microsoft.com/office/drawing/2014/main" id="{1B1F7B61-77BE-FCB3-937F-5A957552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269E18-4B0C-4F37-91FB-0E6FFC9D83A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64D740-1588-300F-4076-D319F6F260E3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Principais Funções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 err="1">
                <a:latin typeface="Arial Black" panose="020B0A04020102020204" pitchFamily="34" charset="0"/>
              </a:rPr>
              <a:t>sorted</a:t>
            </a:r>
            <a:r>
              <a:rPr lang="pt-BR" altLang="pt-BR" sz="4600" b="1" kern="0" dirty="0">
                <a:latin typeface="Arial Black" panose="020B0A04020102020204" pitchFamily="34" charset="0"/>
              </a:rPr>
              <a:t>()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Número de Slide 1">
            <a:extLst>
              <a:ext uri="{FF2B5EF4-FFF2-40B4-BE49-F238E27FC236}">
                <a16:creationId xmlns:a16="http://schemas.microsoft.com/office/drawing/2014/main" id="{B912536A-E8CD-79A1-5D6A-B6BF191C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5B60358-62EE-4879-8D0D-D90EC0CD69E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pt-BR" altLang="pt-BR" sz="140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0BCA615-035A-D283-6F3B-05A44C943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Classifica os elementos em ordem crescente, 	quando usado dentro de outro comando, sem mudar a lista original.</a:t>
            </a: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40" name="Text Box 2">
            <a:extLst>
              <a:ext uri="{FF2B5EF4-FFF2-40B4-BE49-F238E27FC236}">
                <a16:creationId xmlns:a16="http://schemas.microsoft.com/office/drawing/2014/main" id="{A8F8310D-11B9-CB04-F17A-00439CB38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sorted()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Número de Slide 1">
            <a:extLst>
              <a:ext uri="{FF2B5EF4-FFF2-40B4-BE49-F238E27FC236}">
                <a16:creationId xmlns:a16="http://schemas.microsoft.com/office/drawing/2014/main" id="{594A5574-3FD0-D866-A696-A0DE43CA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818526F8-A1E1-4B9D-9F3A-63BC68A7751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pt-BR" altLang="pt-BR" sz="1400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76C143D-55A5-4564-5EC8-45875ED7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alunos = ["João","Maria","Jose","Ana","Mario"]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print(alunos.sort())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 None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print(sorted(alunos))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A Resposta será: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/>
              <a:t>['Ana', 'Jose', 'João', 'Maria', 'Mario']</a:t>
            </a: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4" name="Text Box 2">
            <a:extLst>
              <a:ext uri="{FF2B5EF4-FFF2-40B4-BE49-F238E27FC236}">
                <a16:creationId xmlns:a16="http://schemas.microsoft.com/office/drawing/2014/main" id="{967F28B4-CCCD-43F0-6FF4-8B9CEF667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Função: sorted()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Número de Slide 1">
            <a:extLst>
              <a:ext uri="{FF2B5EF4-FFF2-40B4-BE49-F238E27FC236}">
                <a16:creationId xmlns:a16="http://schemas.microsoft.com/office/drawing/2014/main" id="{3ABFA351-7454-37F9-DBE0-71366D26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99CF07-B854-4B85-A826-289240BFA32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4FB144-B76C-BD99-7E92-BD7AF37A680E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Um Exemplo para Povoar uma Lista Vazia, com Elementos Informados pelo Usuário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Número de Slide 1">
            <a:extLst>
              <a:ext uri="{FF2B5EF4-FFF2-40B4-BE49-F238E27FC236}">
                <a16:creationId xmlns:a16="http://schemas.microsoft.com/office/drawing/2014/main" id="{45A6EDCF-4E17-7763-06F0-0669BFC4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A93CE99-03EB-42A4-9EA0-20A80AA10F1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pt-BR" altLang="pt-BR" sz="1400"/>
          </a:p>
        </p:txBody>
      </p:sp>
      <p:sp>
        <p:nvSpPr>
          <p:cNvPr id="43011" name="Text Box 2">
            <a:extLst>
              <a:ext uri="{FF2B5EF4-FFF2-40B4-BE49-F238E27FC236}">
                <a16:creationId xmlns:a16="http://schemas.microsoft.com/office/drawing/2014/main" id="{5CBB59C1-9FB5-8066-052B-C01423838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27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A156E9C-3AFF-5747-B418-01E517904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Criar uma lista para nome e média de 10 alunos.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Pedir para o usuário digitar os nomes e as médias, armazenar na lista.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No final mostrar os nomes e as médias, um embaixo do outro.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Número de Slide 1">
            <a:extLst>
              <a:ext uri="{FF2B5EF4-FFF2-40B4-BE49-F238E27FC236}">
                <a16:creationId xmlns:a16="http://schemas.microsoft.com/office/drawing/2014/main" id="{66BBD9C9-2D96-8BBE-3576-8ECE84C2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35C8F63-A14F-49F7-9DA2-6A48109778F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pt-BR" altLang="pt-BR" sz="1400"/>
          </a:p>
        </p:txBody>
      </p:sp>
      <p:sp>
        <p:nvSpPr>
          <p:cNvPr id="44035" name="Text Box 2">
            <a:extLst>
              <a:ext uri="{FF2B5EF4-FFF2-40B4-BE49-F238E27FC236}">
                <a16:creationId xmlns:a16="http://schemas.microsoft.com/office/drawing/2014/main" id="{4746E196-807B-A8EE-A6C0-3AFE16A9F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27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02616FF-26DD-C592-2E18-0F0DD4A5C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nomes_alunos = []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 i in range(0,10,2):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nomes_alunos.insert(i, input("Digite o nome do Aluno: "))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media_texto = input("Digite a média do Aluno: 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nomes_alunos.insert((i + 1), float(media_texto))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 k in range(0,10,2):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print(nomes_alunos[k],"  ",nomes_alunos[k + 1])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Número de Slide 1">
            <a:extLst>
              <a:ext uri="{FF2B5EF4-FFF2-40B4-BE49-F238E27FC236}">
                <a16:creationId xmlns:a16="http://schemas.microsoft.com/office/drawing/2014/main" id="{FDAFF28F-44F2-9A22-C8EB-506732FC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C5A379-821F-47D5-91B1-5768C12BE14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87BCD85-79C4-984D-B6B6-E13B309AB737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Classificação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de uma lista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em ordem crescente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Número de Slide 1">
            <a:extLst>
              <a:ext uri="{FF2B5EF4-FFF2-40B4-BE49-F238E27FC236}">
                <a16:creationId xmlns:a16="http://schemas.microsoft.com/office/drawing/2014/main" id="{0F959275-9431-0046-27EC-8FBDF9D3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8682864D-A0C0-41DB-A721-003764E22F6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pt-BR" altLang="pt-BR" sz="1400"/>
          </a:p>
        </p:txBody>
      </p:sp>
      <p:sp>
        <p:nvSpPr>
          <p:cNvPr id="46083" name="Text Box 2">
            <a:extLst>
              <a:ext uri="{FF2B5EF4-FFF2-40B4-BE49-F238E27FC236}">
                <a16:creationId xmlns:a16="http://schemas.microsoft.com/office/drawing/2014/main" id="{CB07502F-A8E6-81AB-A7AB-AC3C27250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28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793DF544-9407-7819-B6E9-4E0217FAC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pessoas = []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 i in range(0,10):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pessoas.append(input("Digite o nome da Pessoa: "))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print("SEM CLASSIFICAÇÃO")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 k in range(0,10):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print(pessoas[k])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Número de Slide 1">
            <a:extLst>
              <a:ext uri="{FF2B5EF4-FFF2-40B4-BE49-F238E27FC236}">
                <a16:creationId xmlns:a16="http://schemas.microsoft.com/office/drawing/2014/main" id="{45479185-4190-54C4-0F99-49D7A1E2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7CE20504-6ADA-4CF9-A4B9-FB5692FD834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pt-BR" altLang="pt-BR" sz="1400"/>
          </a:p>
        </p:txBody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4C8015F1-B2EF-7263-81BA-FA51D5F42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28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FC0F8A3-AF70-575A-59AD-32EF76FF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 i in range(0,10):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for k in range((i + 1),10):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if pessoas[i] &gt; pessoas[k]: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auxiliar = pessoas[i]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pessoas[i] = pessoas[k]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pessoas[k] = auxiliar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print("COM CLASSIFICAÇÃO")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 k in range(0,10):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print(pessoas[k])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Número de Slide 1">
            <a:extLst>
              <a:ext uri="{FF2B5EF4-FFF2-40B4-BE49-F238E27FC236}">
                <a16:creationId xmlns:a16="http://schemas.microsoft.com/office/drawing/2014/main" id="{4E73FFF5-5560-96C3-C80F-D489A526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8DDB817C-A20A-4659-AA09-DE05C3BCCF5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873CCE-940F-0137-2DFE-C8E9993616E9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2133600"/>
            <a:ext cx="8897937" cy="388778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OU</a:t>
            </a:r>
          </a:p>
        </p:txBody>
      </p:sp>
      <p:sp>
        <p:nvSpPr>
          <p:cNvPr id="48132" name="Text Box 2">
            <a:extLst>
              <a:ext uri="{FF2B5EF4-FFF2-40B4-BE49-F238E27FC236}">
                <a16:creationId xmlns:a16="http://schemas.microsoft.com/office/drawing/2014/main" id="{76962735-693F-8E8A-7294-6FE9C67C6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Lista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Número de Slide 1">
            <a:extLst>
              <a:ext uri="{FF2B5EF4-FFF2-40B4-BE49-F238E27FC236}">
                <a16:creationId xmlns:a16="http://schemas.microsoft.com/office/drawing/2014/main" id="{050EB3AC-1B78-4272-B022-C84C59AE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B3089E1B-B57B-4E0B-B8DB-4B96BC00182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pt-BR" altLang="pt-BR" sz="1400"/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23A0CC97-69CE-4CBE-6616-2A5C86A0B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28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B2210BBE-2EA2-3AF6-2A77-6D615AFA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pessoas = []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for i in range(0,10):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pessoas.append(input("Digite o nome da Pessoa: "))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print("SEM CLASSIFICAÇÃO")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for k in range(0,10):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print(pessoas[k])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pessoas.sort()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print(“COM CLASSIFICAÇÃO")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for k in range(0,10):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print(pessoas[k])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Número de Slide 1">
            <a:extLst>
              <a:ext uri="{FF2B5EF4-FFF2-40B4-BE49-F238E27FC236}">
                <a16:creationId xmlns:a16="http://schemas.microsoft.com/office/drawing/2014/main" id="{633F8DF3-7CBE-14B6-4287-1F9B3E010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117B4C9-ABE8-405F-BE13-6D1CA96B2AA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pt-BR" altLang="pt-BR" sz="1400"/>
          </a:p>
        </p:txBody>
      </p:sp>
      <p:sp>
        <p:nvSpPr>
          <p:cNvPr id="50179" name="Text Box 2">
            <a:extLst>
              <a:ext uri="{FF2B5EF4-FFF2-40B4-BE49-F238E27FC236}">
                <a16:creationId xmlns:a16="http://schemas.microsoft.com/office/drawing/2014/main" id="{3CFE23B7-4750-FF77-BE01-15823DF25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  <p:pic>
        <p:nvPicPr>
          <p:cNvPr id="50180" name="Imagem 1">
            <a:extLst>
              <a:ext uri="{FF2B5EF4-FFF2-40B4-BE49-F238E27FC236}">
                <a16:creationId xmlns:a16="http://schemas.microsoft.com/office/drawing/2014/main" id="{4E760EDD-8E02-7A1C-8559-28A26EC75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2501900"/>
            <a:ext cx="366395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Número de Slide 1">
            <a:extLst>
              <a:ext uri="{FF2B5EF4-FFF2-40B4-BE49-F238E27FC236}">
                <a16:creationId xmlns:a16="http://schemas.microsoft.com/office/drawing/2014/main" id="{E4798264-DE7A-8942-3AF0-68101D67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83CEE833-E9BA-4A5D-9C70-757EBD50F86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ABB5F7-366F-6FD0-58A9-688D7C93A5DD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2133600"/>
            <a:ext cx="8897937" cy="388778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EXERCÍCIOS</a:t>
            </a:r>
          </a:p>
        </p:txBody>
      </p:sp>
      <p:sp>
        <p:nvSpPr>
          <p:cNvPr id="51204" name="Text Box 2">
            <a:extLst>
              <a:ext uri="{FF2B5EF4-FFF2-40B4-BE49-F238E27FC236}">
                <a16:creationId xmlns:a16="http://schemas.microsoft.com/office/drawing/2014/main" id="{46573916-B23E-E670-131D-3E04D99AA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Lista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Número de Slide 1">
            <a:extLst>
              <a:ext uri="{FF2B5EF4-FFF2-40B4-BE49-F238E27FC236}">
                <a16:creationId xmlns:a16="http://schemas.microsoft.com/office/drawing/2014/main" id="{EB5303EB-47A0-1ACB-7182-D85AFFB3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B4FB230-C624-4604-8847-6796322D45E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pt-BR" altLang="pt-BR" sz="1400"/>
          </a:p>
        </p:txBody>
      </p:sp>
      <p:sp>
        <p:nvSpPr>
          <p:cNvPr id="52227" name="Text Box 2">
            <a:extLst>
              <a:ext uri="{FF2B5EF4-FFF2-40B4-BE49-F238E27FC236}">
                <a16:creationId xmlns:a16="http://schemas.microsoft.com/office/drawing/2014/main" id="{06C00C07-5AC1-6FDE-95A8-25905C5D9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26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1C88009-50A9-CA5A-5C5F-D805EAFF7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leia 5 números inteiros, armazene-os em uma lista.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No final mostrá-los.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Número de Slide 1">
            <a:extLst>
              <a:ext uri="{FF2B5EF4-FFF2-40B4-BE49-F238E27FC236}">
                <a16:creationId xmlns:a16="http://schemas.microsoft.com/office/drawing/2014/main" id="{F24E45A2-7CFE-65DB-7AE9-56DD5AF9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9639460-D111-454B-88F4-F135D334B7B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pt-BR" altLang="pt-BR" sz="1400"/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A8B11DFB-25E9-75B8-5B63-A74824E8B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27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BAB834A-66D6-8056-43C6-B4ABD1858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leia 10 números reais, armazene-os em uma lista.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No final mostrá-los na ordem inversa à entrada.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Número de Slide 1">
            <a:extLst>
              <a:ext uri="{FF2B5EF4-FFF2-40B4-BE49-F238E27FC236}">
                <a16:creationId xmlns:a16="http://schemas.microsoft.com/office/drawing/2014/main" id="{D5473B68-5CB9-B768-D89B-8AFC2BC5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A573CE6-95EA-4097-8785-37ADC14864A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pt-BR" altLang="pt-BR" sz="1400"/>
          </a:p>
        </p:txBody>
      </p:sp>
      <p:sp>
        <p:nvSpPr>
          <p:cNvPr id="54275" name="Text Box 2">
            <a:extLst>
              <a:ext uri="{FF2B5EF4-FFF2-40B4-BE49-F238E27FC236}">
                <a16:creationId xmlns:a16="http://schemas.microsoft.com/office/drawing/2014/main" id="{DAD786EF-469A-5B84-98F9-64B7F7C9C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28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5782F404-ECE2-2BC6-9D06-169046FA6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leia 10 números inteiros armazenamdo-os numa Lista.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Armazene os números pares na lista PAR e os números ímpares na lista IMPAR. No final mostre as três listas.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Número de Slide 1">
            <a:extLst>
              <a:ext uri="{FF2B5EF4-FFF2-40B4-BE49-F238E27FC236}">
                <a16:creationId xmlns:a16="http://schemas.microsoft.com/office/drawing/2014/main" id="{E04B7705-E414-6776-2FF2-4DCE6FD7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DFF82EB7-C1AF-40F0-A845-D0D8D463AFC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pt-BR" altLang="pt-BR" sz="1400"/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7EFADF58-034A-8F58-423B-A1432BC2C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29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1510DD15-905F-C9BF-8983-5E32D4BAD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1279525" indent="-5715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leia 10 nomes, idade e altura armazenamdo-os numa Lista.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No final mostre o nome, a idade e a altura das pessoas:</a:t>
            </a:r>
          </a:p>
          <a:p>
            <a:pPr lvl="1">
              <a:spcBef>
                <a:spcPct val="0"/>
              </a:spcBef>
              <a:buSzPct val="102000"/>
              <a:buFont typeface="Wingdings" panose="05000000000000000000" pitchFamily="2" charset="2"/>
              <a:buChar char="§"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com maior idade;</a:t>
            </a:r>
          </a:p>
          <a:p>
            <a:pPr lvl="1">
              <a:spcBef>
                <a:spcPct val="0"/>
              </a:spcBef>
              <a:buSzPct val="102000"/>
              <a:buFont typeface="Wingdings" panose="05000000000000000000" pitchFamily="2" charset="2"/>
              <a:buChar char="§"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com menor altura;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Número de Slide 1">
            <a:extLst>
              <a:ext uri="{FF2B5EF4-FFF2-40B4-BE49-F238E27FC236}">
                <a16:creationId xmlns:a16="http://schemas.microsoft.com/office/drawing/2014/main" id="{E3F5B624-BE98-CB27-B5CA-B4F7E8E4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C18462E5-D18A-40DD-A2B1-9B9DF2FDCDF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pt-BR" altLang="pt-BR" sz="1400"/>
          </a:p>
        </p:txBody>
      </p:sp>
      <p:sp>
        <p:nvSpPr>
          <p:cNvPr id="56323" name="Text Box 2">
            <a:extLst>
              <a:ext uri="{FF2B5EF4-FFF2-40B4-BE49-F238E27FC236}">
                <a16:creationId xmlns:a16="http://schemas.microsoft.com/office/drawing/2014/main" id="{ECD14905-8048-D47C-D123-B07569A39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30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464F36A1-9082-DB8A-70DE-77AB6D8DC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receba a temperatura média de cada mês do ano armazenando-as em uma lista.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Após isto, calcule a média anual das temperaturas e mostre todas as temperaturas acima da média anual, e em que mês elas ocorrem.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96FFDBFEEF43744B28FED0BED27951C" ma:contentTypeVersion="3" ma:contentTypeDescription="Crie um novo documento." ma:contentTypeScope="" ma:versionID="6b6c4c5daaee2a632d6b67adcf0c1dcb">
  <xsd:schema xmlns:xsd="http://www.w3.org/2001/XMLSchema" xmlns:xs="http://www.w3.org/2001/XMLSchema" xmlns:p="http://schemas.microsoft.com/office/2006/metadata/properties" xmlns:ns2="b8c6fbff-0035-4a65-874c-c953b48de930" targetNamespace="http://schemas.microsoft.com/office/2006/metadata/properties" ma:root="true" ma:fieldsID="baff7f672380be738a5ef06f0e14aaff" ns2:_="">
    <xsd:import namespace="b8c6fbff-0035-4a65-874c-c953b48de9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c6fbff-0035-4a65-874c-c953b48de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07B427-0ABB-475B-AB71-A093AE931806}"/>
</file>

<file path=customXml/itemProps2.xml><?xml version="1.0" encoding="utf-8"?>
<ds:datastoreItem xmlns:ds="http://schemas.openxmlformats.org/officeDocument/2006/customXml" ds:itemID="{EDE4018C-C113-4935-8185-D6EE3DA34EAE}"/>
</file>

<file path=customXml/itemProps3.xml><?xml version="1.0" encoding="utf-8"?>
<ds:datastoreItem xmlns:ds="http://schemas.openxmlformats.org/officeDocument/2006/customXml" ds:itemID="{075F1069-4704-4C00-8D24-70A654E894FC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apresentação\Geometrico.pot</Template>
  <TotalTime>4207</TotalTime>
  <Words>1585</Words>
  <Application>Microsoft Office PowerPoint</Application>
  <PresentationFormat>Apresentação na tela (4:3)</PresentationFormat>
  <Paragraphs>494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8" baseType="lpstr">
      <vt:lpstr>Tahoma</vt:lpstr>
      <vt:lpstr>Arial</vt:lpstr>
      <vt:lpstr>Wingdings</vt:lpstr>
      <vt:lpstr>Calibri</vt:lpstr>
      <vt:lpstr>Arial Black</vt:lpstr>
      <vt:lpstr>Geometrico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 Inform[atica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Antonio Rodrigues da Silva</dc:creator>
  <cp:lastModifiedBy>MARCOS JR</cp:lastModifiedBy>
  <cp:revision>343</cp:revision>
  <dcterms:created xsi:type="dcterms:W3CDTF">2003-02-25T17:31:44Z</dcterms:created>
  <dcterms:modified xsi:type="dcterms:W3CDTF">2025-10-06T04:30:17Z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0x010100296FFDBFEEF43744B28FED0BED27951C</vt:lpwstr>
  </property>
</Properties>
</file>