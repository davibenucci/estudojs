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0"/>
  </p:notesMasterIdLst>
  <p:sldIdLst>
    <p:sldId id="256" r:id="rId2"/>
    <p:sldId id="371" r:id="rId3"/>
    <p:sldId id="398" r:id="rId4"/>
    <p:sldId id="399" r:id="rId5"/>
    <p:sldId id="400" r:id="rId6"/>
    <p:sldId id="401" r:id="rId7"/>
    <p:sldId id="402" r:id="rId8"/>
    <p:sldId id="403" r:id="rId9"/>
    <p:sldId id="404" r:id="rId10"/>
    <p:sldId id="408" r:id="rId11"/>
    <p:sldId id="409" r:id="rId12"/>
    <p:sldId id="410" r:id="rId13"/>
    <p:sldId id="411" r:id="rId14"/>
    <p:sldId id="417" r:id="rId15"/>
    <p:sldId id="420" r:id="rId16"/>
    <p:sldId id="419" r:id="rId17"/>
    <p:sldId id="415" r:id="rId18"/>
    <p:sldId id="416" r:id="rId19"/>
    <p:sldId id="418" r:id="rId20"/>
    <p:sldId id="421" r:id="rId21"/>
    <p:sldId id="422" r:id="rId22"/>
    <p:sldId id="423" r:id="rId23"/>
    <p:sldId id="405" r:id="rId24"/>
    <p:sldId id="406" r:id="rId25"/>
    <p:sldId id="407" r:id="rId26"/>
    <p:sldId id="412" r:id="rId27"/>
    <p:sldId id="413" r:id="rId28"/>
    <p:sldId id="414" r:id="rId29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CC"/>
    <a:srgbClr val="FFCC00"/>
    <a:srgbClr val="50FAEA"/>
    <a:srgbClr val="99FFCC"/>
    <a:srgbClr val="FFCC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58" autoAdjust="0"/>
    <p:restoredTop sz="90854" autoAdjust="0"/>
  </p:normalViewPr>
  <p:slideViewPr>
    <p:cSldViewPr>
      <p:cViewPr varScale="1">
        <p:scale>
          <a:sx n="57" d="100"/>
          <a:sy n="57" d="100"/>
        </p:scale>
        <p:origin x="177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99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E4363AC8-CDA4-4DBA-BCEC-4E085FDFDC7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C71D822-B9E4-442B-A0EA-BE98C24684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90917A8-A250-4516-9D94-769D1C227E6B}" type="datetimeFigureOut">
              <a:rPr lang="pt-BR"/>
              <a:pPr>
                <a:defRPr/>
              </a:pPr>
              <a:t>08/09/2025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E543C53F-D090-4910-9494-3F46E78B88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83A7EEE5-9254-46AD-BC6B-38E3E1B649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ACC989C-A219-42F2-B074-EF3616CC49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3BED7A3-B933-4996-ACFE-7966B0061E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9026E10-C83B-4AC8-B89C-634DA76BDFA7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0E6DCC3-4ECD-BA3D-8A54-DC91F8E674A6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3" name="Group 3">
              <a:extLst>
                <a:ext uri="{FF2B5EF4-FFF2-40B4-BE49-F238E27FC236}">
                  <a16:creationId xmlns:a16="http://schemas.microsoft.com/office/drawing/2014/main" id="{5B701C7C-A96D-10DA-8F6D-30ED87CEDF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0" name="Rectangle 4">
                <a:extLst>
                  <a:ext uri="{FF2B5EF4-FFF2-40B4-BE49-F238E27FC236}">
                    <a16:creationId xmlns:a16="http://schemas.microsoft.com/office/drawing/2014/main" id="{E5CAC965-1095-D63B-51F6-7083B67C99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sp>
            <p:nvSpPr>
              <p:cNvPr id="11" name="Rectangle 5">
                <a:extLst>
                  <a:ext uri="{FF2B5EF4-FFF2-40B4-BE49-F238E27FC236}">
                    <a16:creationId xmlns:a16="http://schemas.microsoft.com/office/drawing/2014/main" id="{297A1E5C-EF4F-7A9D-5651-C197ED0E6A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</p:grpSp>
        <p:grpSp>
          <p:nvGrpSpPr>
            <p:cNvPr id="4" name="Group 6">
              <a:extLst>
                <a:ext uri="{FF2B5EF4-FFF2-40B4-BE49-F238E27FC236}">
                  <a16:creationId xmlns:a16="http://schemas.microsoft.com/office/drawing/2014/main" id="{0A246409-FDBC-C212-DFD6-F4785CADCB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89DBFB0B-9726-FAF7-2202-A6AC100C5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6069BA2B-4AA4-3C6C-4073-E69837DA29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pt-BR" altLang="pt-BR"/>
              </a:p>
            </p:txBody>
          </p:sp>
        </p:grpSp>
        <p:sp>
          <p:nvSpPr>
            <p:cNvPr id="5" name="Rectangle 9">
              <a:extLst>
                <a:ext uri="{FF2B5EF4-FFF2-40B4-BE49-F238E27FC236}">
                  <a16:creationId xmlns:a16="http://schemas.microsoft.com/office/drawing/2014/main" id="{C008D1F0-DA01-8C1B-44B8-8C1487F4C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6" name="Rectangle 10">
              <a:extLst>
                <a:ext uri="{FF2B5EF4-FFF2-40B4-BE49-F238E27FC236}">
                  <a16:creationId xmlns:a16="http://schemas.microsoft.com/office/drawing/2014/main" id="{57DF68CD-2260-BDF4-408E-17E0CE91D6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  <p:sp>
          <p:nvSpPr>
            <p:cNvPr id="7" name="Rectangle 11">
              <a:extLst>
                <a:ext uri="{FF2B5EF4-FFF2-40B4-BE49-F238E27FC236}">
                  <a16:creationId xmlns:a16="http://schemas.microsoft.com/office/drawing/2014/main" id="{3EA755BE-8930-DB72-DCC1-267CC8FE969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34" charset="0"/>
                </a:defRPr>
              </a:lvl9pPr>
            </a:lstStyle>
            <a:p>
              <a:pPr eaLnBrk="1" hangingPunct="1">
                <a:defRPr/>
              </a:pPr>
              <a:endParaRPr lang="pt-BR" altLang="pt-BR"/>
            </a:p>
          </p:txBody>
        </p:sp>
      </p:grpSp>
      <p:sp>
        <p:nvSpPr>
          <p:cNvPr id="410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12" name="Rectangle 14">
            <a:extLst>
              <a:ext uri="{FF2B5EF4-FFF2-40B4-BE49-F238E27FC236}">
                <a16:creationId xmlns:a16="http://schemas.microsoft.com/office/drawing/2014/main" id="{D3709D05-2FC1-61EE-54CD-3E90E5DB7C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C4E7ED4E-A7D8-9A4F-E90B-F626696AC8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79EB771D-6873-AADE-D20B-4578A056E5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2F28F1F-EFA8-4A14-9FD0-06A745CD3698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637186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98FE0671-0690-B85C-7E2B-D400DE9ED0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C496D9F9-C001-C6CA-A627-0D4ABBC5EB2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1CC334A8-5622-A916-C0CA-6DD09F4883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69A2DB-FEBF-47CF-9537-DA9687E19175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70109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2AB5469F-3B9C-6F38-7C42-799CA2536F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0158DC8E-5763-B68C-931C-8DFFBDC417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37C1645E-E61C-BF55-BDEB-16E0AAF4BA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C60F061-E69E-4025-807B-2434EC67E8F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79389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096C5948-9B44-C61C-8EEC-B1A93BC342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3A33C453-85A8-DC3E-1B0B-C08D5B1368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3B1C5B5D-99D6-92CA-B3A5-719A39DB39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9D6624-70A3-4FB1-9EA5-926F04DBB74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67048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1035">
            <a:extLst>
              <a:ext uri="{FF2B5EF4-FFF2-40B4-BE49-F238E27FC236}">
                <a16:creationId xmlns:a16="http://schemas.microsoft.com/office/drawing/2014/main" id="{AFC3AECD-0555-C37F-6442-3E4F85224D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1036">
            <a:extLst>
              <a:ext uri="{FF2B5EF4-FFF2-40B4-BE49-F238E27FC236}">
                <a16:creationId xmlns:a16="http://schemas.microsoft.com/office/drawing/2014/main" id="{1F2EED10-DB45-2F93-3519-8032BC3AD8A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1037">
            <a:extLst>
              <a:ext uri="{FF2B5EF4-FFF2-40B4-BE49-F238E27FC236}">
                <a16:creationId xmlns:a16="http://schemas.microsoft.com/office/drawing/2014/main" id="{964ED320-695B-51D8-E062-F93BFCAE3A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75B002A-FAE0-4AB6-9723-D2B0458881F4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957030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1035">
            <a:extLst>
              <a:ext uri="{FF2B5EF4-FFF2-40B4-BE49-F238E27FC236}">
                <a16:creationId xmlns:a16="http://schemas.microsoft.com/office/drawing/2014/main" id="{0D068E07-D253-4481-B701-910B3A1486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36">
            <a:extLst>
              <a:ext uri="{FF2B5EF4-FFF2-40B4-BE49-F238E27FC236}">
                <a16:creationId xmlns:a16="http://schemas.microsoft.com/office/drawing/2014/main" id="{D5E1821D-0EE7-A6A4-167C-9D17BC337D4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7">
            <a:extLst>
              <a:ext uri="{FF2B5EF4-FFF2-40B4-BE49-F238E27FC236}">
                <a16:creationId xmlns:a16="http://schemas.microsoft.com/office/drawing/2014/main" id="{04B55158-7A1A-BC1E-CCBC-CC525BE80D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658F54-802A-4348-99F4-A9EFC425543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26944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5">
            <a:extLst>
              <a:ext uri="{FF2B5EF4-FFF2-40B4-BE49-F238E27FC236}">
                <a16:creationId xmlns:a16="http://schemas.microsoft.com/office/drawing/2014/main" id="{CD0E67DD-DADB-F60F-0646-37E350F88F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1036">
            <a:extLst>
              <a:ext uri="{FF2B5EF4-FFF2-40B4-BE49-F238E27FC236}">
                <a16:creationId xmlns:a16="http://schemas.microsoft.com/office/drawing/2014/main" id="{B6EA5503-78B3-99F3-237C-EEDE4A5172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1037">
            <a:extLst>
              <a:ext uri="{FF2B5EF4-FFF2-40B4-BE49-F238E27FC236}">
                <a16:creationId xmlns:a16="http://schemas.microsoft.com/office/drawing/2014/main" id="{8C41D1E9-3ED5-0200-7E1F-97EA18CE97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3CC6A5-C047-4193-96BA-A4CF7268243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39201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5618B298-17D0-C48B-A23C-C025BFA354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26B1678C-E3D4-3145-2929-10155AE3CE8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3B22F9D0-392C-E7E3-07A9-F58BEE60BA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6E0F3D-31F7-4A7A-8CC7-FC24FD5FF01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713325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1035">
            <a:extLst>
              <a:ext uri="{FF2B5EF4-FFF2-40B4-BE49-F238E27FC236}">
                <a16:creationId xmlns:a16="http://schemas.microsoft.com/office/drawing/2014/main" id="{A1C9FA31-525B-C81C-A297-ECD822D11A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6">
            <a:extLst>
              <a:ext uri="{FF2B5EF4-FFF2-40B4-BE49-F238E27FC236}">
                <a16:creationId xmlns:a16="http://schemas.microsoft.com/office/drawing/2014/main" id="{E7B80BF8-50E4-841D-E9F6-B307E84915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1037">
            <a:extLst>
              <a:ext uri="{FF2B5EF4-FFF2-40B4-BE49-F238E27FC236}">
                <a16:creationId xmlns:a16="http://schemas.microsoft.com/office/drawing/2014/main" id="{738221C4-FD92-B4FF-CAD5-6811161036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AA03C0-C88E-4EF4-828A-F37C5608085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19163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02E61F5D-1A75-0EF3-1792-E8D671DC92C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6FF23718-98D4-A6B8-3030-D47A1EC730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405AF9E7-7BC6-D53D-B36F-6788F80C68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A19CF9-B047-4C2F-8B99-4EE5541989D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56881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756CE10D-E413-6696-1EFF-3467A412F4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6ABC9CCD-F3C7-321C-0A9A-41ABC50322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5447A3BD-5215-9B82-DD6F-D1EF2B9FB5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C9C079-4ED6-431D-A442-A328C118735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84098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26">
            <a:extLst>
              <a:ext uri="{FF2B5EF4-FFF2-40B4-BE49-F238E27FC236}">
                <a16:creationId xmlns:a16="http://schemas.microsoft.com/office/drawing/2014/main" id="{FBA89211-03BB-4E74-9B07-AFC50817ED2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7" name="Rectangle 1027">
            <a:extLst>
              <a:ext uri="{FF2B5EF4-FFF2-40B4-BE49-F238E27FC236}">
                <a16:creationId xmlns:a16="http://schemas.microsoft.com/office/drawing/2014/main" id="{EAF5671D-4A41-4D55-A3B2-4704DC2C436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8" name="Rectangle 1028">
            <a:extLst>
              <a:ext uri="{FF2B5EF4-FFF2-40B4-BE49-F238E27FC236}">
                <a16:creationId xmlns:a16="http://schemas.microsoft.com/office/drawing/2014/main" id="{CD7F6770-B1BF-45A3-B846-E90864BDC42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29" name="Rectangle 1029">
            <a:extLst>
              <a:ext uri="{FF2B5EF4-FFF2-40B4-BE49-F238E27FC236}">
                <a16:creationId xmlns:a16="http://schemas.microsoft.com/office/drawing/2014/main" id="{912F4071-C77C-4711-B6CC-8318D87A708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0" name="Rectangle 1030">
            <a:extLst>
              <a:ext uri="{FF2B5EF4-FFF2-40B4-BE49-F238E27FC236}">
                <a16:creationId xmlns:a16="http://schemas.microsoft.com/office/drawing/2014/main" id="{760538BD-1CD1-49BA-B62A-63B07791CFB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1" name="Rectangle 1031">
            <a:extLst>
              <a:ext uri="{FF2B5EF4-FFF2-40B4-BE49-F238E27FC236}">
                <a16:creationId xmlns:a16="http://schemas.microsoft.com/office/drawing/2014/main" id="{1CBAAF11-5C7D-4922-9E5F-560ABDF75E9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2" name="Rectangle 1032">
            <a:extLst>
              <a:ext uri="{FF2B5EF4-FFF2-40B4-BE49-F238E27FC236}">
                <a16:creationId xmlns:a16="http://schemas.microsoft.com/office/drawing/2014/main" id="{D8C651CA-584C-4942-AF35-8CE874B9C6F3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>
              <a:defRPr/>
            </a:pPr>
            <a:endParaRPr kumimoji="1" lang="pt-BR" altLang="pt-BR"/>
          </a:p>
        </p:txBody>
      </p:sp>
      <p:sp>
        <p:nvSpPr>
          <p:cNvPr id="1033" name="Rectangle 1033">
            <a:extLst>
              <a:ext uri="{FF2B5EF4-FFF2-40B4-BE49-F238E27FC236}">
                <a16:creationId xmlns:a16="http://schemas.microsoft.com/office/drawing/2014/main" id="{071587E8-65E9-E29A-20DF-9AF8A46131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34" name="Rectangle 1034">
            <a:extLst>
              <a:ext uri="{FF2B5EF4-FFF2-40B4-BE49-F238E27FC236}">
                <a16:creationId xmlns:a16="http://schemas.microsoft.com/office/drawing/2014/main" id="{D23DE0B5-2E06-3D62-8305-A11407EE51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3083" name="Rectangle 1035">
            <a:extLst>
              <a:ext uri="{FF2B5EF4-FFF2-40B4-BE49-F238E27FC236}">
                <a16:creationId xmlns:a16="http://schemas.microsoft.com/office/drawing/2014/main" id="{641DDB03-A9CD-4287-BFBC-C9A3A09B5E9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84" name="Rectangle 1036">
            <a:extLst>
              <a:ext uri="{FF2B5EF4-FFF2-40B4-BE49-F238E27FC236}">
                <a16:creationId xmlns:a16="http://schemas.microsoft.com/office/drawing/2014/main" id="{A509AD49-59A7-49E7-AF16-D0C4AE34052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85" name="Rectangle 1037">
            <a:extLst>
              <a:ext uri="{FF2B5EF4-FFF2-40B4-BE49-F238E27FC236}">
                <a16:creationId xmlns:a16="http://schemas.microsoft.com/office/drawing/2014/main" id="{942C8B03-B793-4436-9A4D-CECC1CEAF8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A80A1380-311B-4958-BFF3-1D75223BD5BC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92" r:id="rId1"/>
    <p:sldLayoutId id="2147484382" r:id="rId2"/>
    <p:sldLayoutId id="2147484383" r:id="rId3"/>
    <p:sldLayoutId id="2147484384" r:id="rId4"/>
    <p:sldLayoutId id="2147484385" r:id="rId5"/>
    <p:sldLayoutId id="2147484386" r:id="rId6"/>
    <p:sldLayoutId id="2147484387" r:id="rId7"/>
    <p:sldLayoutId id="2147484388" r:id="rId8"/>
    <p:sldLayoutId id="2147484389" r:id="rId9"/>
    <p:sldLayoutId id="2147484390" r:id="rId10"/>
    <p:sldLayoutId id="2147484391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3">
            <a:extLst>
              <a:ext uri="{FF2B5EF4-FFF2-40B4-BE49-F238E27FC236}">
                <a16:creationId xmlns:a16="http://schemas.microsoft.com/office/drawing/2014/main" id="{74C96993-98B5-51CD-99AC-98D95D686C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6381750"/>
            <a:ext cx="57277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400" b="1">
                <a:latin typeface="Arial" panose="020B0604020202020204" pitchFamily="34" charset="0"/>
              </a:rPr>
              <a:t>Prof. Marcos Antonio e Marcos Junior</a:t>
            </a:r>
          </a:p>
        </p:txBody>
      </p:sp>
      <p:sp>
        <p:nvSpPr>
          <p:cNvPr id="4099" name="Text Box 2">
            <a:extLst>
              <a:ext uri="{FF2B5EF4-FFF2-40B4-BE49-F238E27FC236}">
                <a16:creationId xmlns:a16="http://schemas.microsoft.com/office/drawing/2014/main" id="{36625462-7431-CE6A-C65A-5841F5CB29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13" y="1989138"/>
            <a:ext cx="9144000" cy="452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 dirty="0">
                <a:latin typeface="Arial Black" panose="020B0A04020102020204" pitchFamily="34" charset="0"/>
              </a:rPr>
              <a:t>INTRODUÇÃO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 dirty="0">
                <a:latin typeface="Arial Black" panose="020B0A04020102020204" pitchFamily="34" charset="0"/>
              </a:rPr>
              <a:t>A</a:t>
            </a:r>
            <a:br>
              <a:rPr lang="pt-BR" altLang="pt-BR" sz="4800" b="1" dirty="0">
                <a:latin typeface="Arial Black" panose="020B0A04020102020204" pitchFamily="34" charset="0"/>
              </a:rPr>
            </a:br>
            <a:r>
              <a:rPr lang="pt-BR" altLang="pt-BR" sz="4800" b="1" dirty="0">
                <a:latin typeface="Arial Black" panose="020B0A04020102020204" pitchFamily="34" charset="0"/>
              </a:rPr>
              <a:t> PROGRAMAÇÃO ESTRUTURADA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4800" b="1" dirty="0">
              <a:latin typeface="Arial Black" panose="020B0A040201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800" b="1" dirty="0">
                <a:latin typeface="Arial Black" panose="020B0A04020102020204" pitchFamily="34" charset="0"/>
              </a:rPr>
              <a:t>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Espaço Reservado para Número de Slide 1">
            <a:extLst>
              <a:ext uri="{FF2B5EF4-FFF2-40B4-BE49-F238E27FC236}">
                <a16:creationId xmlns:a16="http://schemas.microsoft.com/office/drawing/2014/main" id="{E95E9F79-8399-E214-4F95-C6451C72F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99D92E-284E-4F4D-8027-379973E24B2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44D1F6-9B4B-EE2E-8C3C-C9E19D55A5A6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ESTRUTURAS DE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REPETIÇÃO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COMANDO 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WHILE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Espaço Reservado para Número de Slide 1">
            <a:extLst>
              <a:ext uri="{FF2B5EF4-FFF2-40B4-BE49-F238E27FC236}">
                <a16:creationId xmlns:a16="http://schemas.microsoft.com/office/drawing/2014/main" id="{6F07F643-92C1-CD9F-6037-BBE9E6B28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95560C2E-CE2A-4D5F-B400-E1F8E3733C23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pt-BR" altLang="pt-BR" sz="1400"/>
          </a:p>
        </p:txBody>
      </p:sp>
      <p:sp>
        <p:nvSpPr>
          <p:cNvPr id="6147" name="Text Box 2">
            <a:extLst>
              <a:ext uri="{FF2B5EF4-FFF2-40B4-BE49-F238E27FC236}">
                <a16:creationId xmlns:a16="http://schemas.microsoft.com/office/drawing/2014/main" id="{BD9B3CA9-AA96-7ED2-FD3E-73237B3A96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Comando while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71C4A1AE-75DD-20FB-93A5-10F3B90593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38375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A repetição em um código de Python não precisa ser manual.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É possível configurar recursos que simplificam o processo e fazem o trabalho de repetição.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Espaço Reservado para Número de Slide 1">
            <a:extLst>
              <a:ext uri="{FF2B5EF4-FFF2-40B4-BE49-F238E27FC236}">
                <a16:creationId xmlns:a16="http://schemas.microsoft.com/office/drawing/2014/main" id="{19670F12-EB1F-2CA7-CFAC-BB5AE7F66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EFB11AB8-180D-4DA6-9E4C-95918EA310C7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pt-BR" altLang="pt-BR" sz="1400"/>
          </a:p>
        </p:txBody>
      </p:sp>
      <p:sp>
        <p:nvSpPr>
          <p:cNvPr id="7171" name="Text Box 2">
            <a:extLst>
              <a:ext uri="{FF2B5EF4-FFF2-40B4-BE49-F238E27FC236}">
                <a16:creationId xmlns:a16="http://schemas.microsoft.com/office/drawing/2014/main" id="{524884EC-E38D-2A3D-69B6-9E741E2D0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Comando while</a:t>
            </a:r>
          </a:p>
        </p:txBody>
      </p:sp>
      <p:sp>
        <p:nvSpPr>
          <p:cNvPr id="7172" name="Rectangle 3">
            <a:extLst>
              <a:ext uri="{FF2B5EF4-FFF2-40B4-BE49-F238E27FC236}">
                <a16:creationId xmlns:a16="http://schemas.microsoft.com/office/drawing/2014/main" id="{5A1C766C-FA91-1B9F-4A5E-AB45152BB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38375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Um dos comandos destas estruturas é o </a:t>
            </a:r>
            <a:r>
              <a:rPr lang="pt-BR" altLang="pt-BR" sz="4000" b="1">
                <a:latin typeface="Arial Black" panose="020B0A04020102020204" pitchFamily="34" charset="0"/>
                <a:cs typeface="Arial" panose="020B0604020202020204" pitchFamily="34" charset="0"/>
              </a:rPr>
              <a:t>while</a:t>
            </a: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 que facilita e ajuda a elevar o nível de  programação.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Espaço Reservado para Número de Slide 1">
            <a:extLst>
              <a:ext uri="{FF2B5EF4-FFF2-40B4-BE49-F238E27FC236}">
                <a16:creationId xmlns:a16="http://schemas.microsoft.com/office/drawing/2014/main" id="{8DBD3B56-CEB5-DAA3-A0ED-E8C6AFC6A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E9C1BABB-1EE6-432C-815D-743DB3D23A2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pt-BR" altLang="pt-BR" sz="1400"/>
          </a:p>
        </p:txBody>
      </p:sp>
      <p:sp>
        <p:nvSpPr>
          <p:cNvPr id="8195" name="Text Box 2">
            <a:extLst>
              <a:ext uri="{FF2B5EF4-FFF2-40B4-BE49-F238E27FC236}">
                <a16:creationId xmlns:a16="http://schemas.microsoft.com/office/drawing/2014/main" id="{44C1124D-C8BE-820B-90AE-D05F56B2E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16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F9E1FCD6-2107-7BFF-D56A-6E3C4E870E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22500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x = 5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while(x &gt; 1):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   print(x)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   x = x - 1</a:t>
            </a: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o Explicativo Retangular com Cantos Arredondados 1">
            <a:extLst>
              <a:ext uri="{FF2B5EF4-FFF2-40B4-BE49-F238E27FC236}">
                <a16:creationId xmlns:a16="http://schemas.microsoft.com/office/drawing/2014/main" id="{964840EE-03BD-E8E4-A1E0-7E051C161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636838"/>
            <a:ext cx="3168650" cy="2808287"/>
          </a:xfrm>
          <a:prstGeom prst="wedgeRoundRectCallout">
            <a:avLst>
              <a:gd name="adj1" fmla="val -120579"/>
              <a:gd name="adj2" fmla="val -10616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b="1">
                <a:latin typeface="Arial Black" panose="020B0A04020102020204" pitchFamily="34" charset="0"/>
                <a:cs typeface="Arial" panose="020B0604020202020204" pitchFamily="34" charset="0"/>
              </a:rPr>
              <a:t>Será mostrado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b="1">
                <a:latin typeface="Arial Black" panose="020B0A04020102020204" pitchFamily="34" charset="0"/>
                <a:cs typeface="Arial" panose="020B0604020202020204" pitchFamily="34" charset="0"/>
              </a:rPr>
              <a:t>5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b="1">
                <a:latin typeface="Arial Black" panose="020B0A04020102020204" pitchFamily="34" charset="0"/>
                <a:cs typeface="Arial" panose="020B0604020202020204" pitchFamily="34" charset="0"/>
              </a:rPr>
              <a:t>4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b="1">
                <a:latin typeface="Arial Black" panose="020B0A04020102020204" pitchFamily="34" charset="0"/>
                <a:cs typeface="Arial" panose="020B0604020202020204" pitchFamily="34" charset="0"/>
              </a:rPr>
              <a:t>3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b="1">
                <a:latin typeface="Arial Black" panose="020B0A04020102020204" pitchFamily="34" charset="0"/>
                <a:cs typeface="Arial" panose="020B0604020202020204" pitchFamily="34" charset="0"/>
              </a:rPr>
              <a:t>2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b="1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Espaço Reservado para Número de Slide 1">
            <a:extLst>
              <a:ext uri="{FF2B5EF4-FFF2-40B4-BE49-F238E27FC236}">
                <a16:creationId xmlns:a16="http://schemas.microsoft.com/office/drawing/2014/main" id="{5E7DC890-9744-C7C1-21C7-AD9E5FF1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546FE0C-26E9-4CC0-879A-E7641C5855D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pt-BR" altLang="pt-BR" sz="1400"/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573E0066-6C2C-F332-DE13-693DD4A7BF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17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E7C4A6AC-F13F-C94C-C87B-08DBB1178E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22500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Calcular o fatorial de um número fornecido pelo usuário.</a:t>
            </a: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Espaço Reservado para Número de Slide 1">
            <a:extLst>
              <a:ext uri="{FF2B5EF4-FFF2-40B4-BE49-F238E27FC236}">
                <a16:creationId xmlns:a16="http://schemas.microsoft.com/office/drawing/2014/main" id="{30003A3F-6C34-904F-0292-1B2085B0A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E3E98459-70BB-4D32-ADED-757FE42D56C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pt-BR" altLang="pt-BR" sz="1400"/>
          </a:p>
        </p:txBody>
      </p:sp>
      <p:sp>
        <p:nvSpPr>
          <p:cNvPr id="10243" name="Text Box 2">
            <a:extLst>
              <a:ext uri="{FF2B5EF4-FFF2-40B4-BE49-F238E27FC236}">
                <a16:creationId xmlns:a16="http://schemas.microsoft.com/office/drawing/2014/main" id="{9DB0F9E0-32AC-9AEA-32E7-562599FEA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17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0C8046EF-C86E-4E2F-BA81-FA528AE72B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numero_texto = input("Digite um Número: 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numero = int(numero_texto)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fatorial = 1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while(numero &gt; 0):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    fatorial = fatorial * numero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    numero = numero - 1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print("O Fatorial do Número: ",  numero_texto,  " é: ",  fatorial)</a:t>
            </a:r>
          </a:p>
          <a:p>
            <a:pPr>
              <a:buFont typeface="Wingdings" panose="05000000000000000000" pitchFamily="2" charset="2"/>
              <a:buNone/>
            </a:pPr>
            <a:b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altLang="pt-BR" sz="2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ço Reservado para Número de Slide 1">
            <a:extLst>
              <a:ext uri="{FF2B5EF4-FFF2-40B4-BE49-F238E27FC236}">
                <a16:creationId xmlns:a16="http://schemas.microsoft.com/office/drawing/2014/main" id="{3E6C8834-FE05-0884-E98D-5995E2618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1540D056-20C6-4D7C-A772-499646ECF4A0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pt-BR" altLang="pt-BR" sz="1400"/>
          </a:p>
        </p:txBody>
      </p:sp>
      <p:sp>
        <p:nvSpPr>
          <p:cNvPr id="11267" name="Text Box 2">
            <a:extLst>
              <a:ext uri="{FF2B5EF4-FFF2-40B4-BE49-F238E27FC236}">
                <a16:creationId xmlns:a16="http://schemas.microsoft.com/office/drawing/2014/main" id="{7CD5DCC5-F713-0A2B-3F4A-83B563BBA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18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F8CFC31F-165C-74D1-5CD3-1D06C99A9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peça uma nota, entre zero e dez.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Se a nota for inválida (&lt; 0 ou &gt; 10), mostre uma mensagem e continue pedindo até que o usuário informe um valor válido, mostrado em uma mensagem.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Espaço Reservado para Número de Slide 1">
            <a:extLst>
              <a:ext uri="{FF2B5EF4-FFF2-40B4-BE49-F238E27FC236}">
                <a16:creationId xmlns:a16="http://schemas.microsoft.com/office/drawing/2014/main" id="{0627CEE8-4C7B-5332-514B-A2E07A67E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4951A367-09CF-4D83-AC88-D80AB22F947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pt-BR" altLang="pt-BR" sz="1400"/>
          </a:p>
        </p:txBody>
      </p:sp>
      <p:sp>
        <p:nvSpPr>
          <p:cNvPr id="12291" name="Text Box 2">
            <a:extLst>
              <a:ext uri="{FF2B5EF4-FFF2-40B4-BE49-F238E27FC236}">
                <a16:creationId xmlns:a16="http://schemas.microsoft.com/office/drawing/2014/main" id="{81567631-9FD1-625F-CC5F-0DCF3D8E10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18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DCF8EED0-90DD-79DA-9CCA-73EC60153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nota_texto = input("Digite uma nota: 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nota = float(nota_texto)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while(nota &lt; 0 or nota &gt; 10):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  print("Nota Inválida: ", nota)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  nota_texto = input("Digite uma nota: 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  nota = float(nota_texto)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print("Nota Válida: ", nota)</a:t>
            </a:r>
          </a:p>
          <a:p>
            <a:pPr>
              <a:buFont typeface="Wingdings" panose="05000000000000000000" pitchFamily="2" charset="2"/>
              <a:buNone/>
            </a:pPr>
            <a:b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altLang="pt-B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Número de Slide 1">
            <a:extLst>
              <a:ext uri="{FF2B5EF4-FFF2-40B4-BE49-F238E27FC236}">
                <a16:creationId xmlns:a16="http://schemas.microsoft.com/office/drawing/2014/main" id="{AA869888-7D07-933C-C147-2D44413EE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E0D662C-4D41-48E4-8064-20B6B75E5583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435685A-7379-EFB0-1118-6D836F896D61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NAS ESTRUTURAS DE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REPETIÇÃO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COMANDO 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BREAK/ CONTINUE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ço Reservado para Número de Slide 1">
            <a:extLst>
              <a:ext uri="{FF2B5EF4-FFF2-40B4-BE49-F238E27FC236}">
                <a16:creationId xmlns:a16="http://schemas.microsoft.com/office/drawing/2014/main" id="{1B9B407C-1B3B-875D-3B1D-FD8225742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BBA8237A-9590-4A2B-84FC-86B6B9623891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pt-BR" altLang="pt-BR" sz="1400"/>
          </a:p>
        </p:txBody>
      </p:sp>
      <p:sp>
        <p:nvSpPr>
          <p:cNvPr id="14339" name="Text Box 2">
            <a:extLst>
              <a:ext uri="{FF2B5EF4-FFF2-40B4-BE49-F238E27FC236}">
                <a16:creationId xmlns:a16="http://schemas.microsoft.com/office/drawing/2014/main" id="{C972328B-AFD3-7B95-7C3F-195EBC7BCD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Comando break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12219C54-CEA3-A82C-3F96-E18E93887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2647950"/>
            <a:ext cx="8980487" cy="3694113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696" tIns="0" rIns="12696" bIns="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A instrução break encerra o laço que o contém.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4000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O controle do programa vai para a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instrução imediatamente após o corpo do laço.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ço Reservado para Número de Slide 1">
            <a:extLst>
              <a:ext uri="{FF2B5EF4-FFF2-40B4-BE49-F238E27FC236}">
                <a16:creationId xmlns:a16="http://schemas.microsoft.com/office/drawing/2014/main" id="{AD5522A3-A5DD-13A1-4EBF-1945D2F96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73DAEFA9-2FB5-4C29-B6CC-E709A387B68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pt-BR" altLang="pt-BR" sz="1400"/>
          </a:p>
        </p:txBody>
      </p:sp>
      <p:sp>
        <p:nvSpPr>
          <p:cNvPr id="15363" name="Text Box 2">
            <a:extLst>
              <a:ext uri="{FF2B5EF4-FFF2-40B4-BE49-F238E27FC236}">
                <a16:creationId xmlns:a16="http://schemas.microsoft.com/office/drawing/2014/main" id="{826A585F-7540-6F95-B77C-FD2DB476C9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18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19157834-39DA-972D-42EB-574525E2E0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peça números inteiros.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Nestes valores mostrar somente quando for digitado o numero 13, parando a digitação.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ço Reservado para Número de Slide 1">
            <a:extLst>
              <a:ext uri="{FF2B5EF4-FFF2-40B4-BE49-F238E27FC236}">
                <a16:creationId xmlns:a16="http://schemas.microsoft.com/office/drawing/2014/main" id="{CAB44DF2-0383-CD8D-3D3E-12D535EC9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483DA2B-F3A7-48B3-8247-2B3D2133B10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pt-BR" altLang="pt-BR" sz="1400"/>
          </a:p>
        </p:txBody>
      </p:sp>
      <p:sp>
        <p:nvSpPr>
          <p:cNvPr id="16387" name="Text Box 2">
            <a:extLst>
              <a:ext uri="{FF2B5EF4-FFF2-40B4-BE49-F238E27FC236}">
                <a16:creationId xmlns:a16="http://schemas.microsoft.com/office/drawing/2014/main" id="{4E6391FF-4D63-A065-D931-A5581A1EB4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18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36C25444-86E5-D095-A86A-CD27C50F6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1916113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numero = 0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while(numero != 13):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  numero_texto = input("Digite um número: ")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  numero = int(numero_texto)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  if numero == 13: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    break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  <a:t>print("FOI DIGITADO O NÚMERO 13")</a:t>
            </a:r>
          </a:p>
          <a:p>
            <a:pPr>
              <a:buFont typeface="Wingdings" panose="05000000000000000000" pitchFamily="2" charset="2"/>
              <a:buNone/>
            </a:pPr>
            <a:br>
              <a:rPr lang="pt-BR" altLang="pt-BR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altLang="pt-BR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Número de Slide 1">
            <a:extLst>
              <a:ext uri="{FF2B5EF4-FFF2-40B4-BE49-F238E27FC236}">
                <a16:creationId xmlns:a16="http://schemas.microsoft.com/office/drawing/2014/main" id="{5E26EC60-FA8F-AF73-790C-F4A0FA8C2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9DC41A6-77FC-4E34-A3F0-461D7D8DD70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pt-BR" altLang="pt-BR" sz="1400"/>
          </a:p>
        </p:txBody>
      </p:sp>
      <p:sp>
        <p:nvSpPr>
          <p:cNvPr id="17411" name="Text Box 2">
            <a:extLst>
              <a:ext uri="{FF2B5EF4-FFF2-40B4-BE49-F238E27FC236}">
                <a16:creationId xmlns:a16="http://schemas.microsoft.com/office/drawing/2014/main" id="{B0417207-A2E6-63F9-7F79-E6D333C5DF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Comando continue</a:t>
            </a:r>
          </a:p>
        </p:txBody>
      </p:sp>
      <p:sp>
        <p:nvSpPr>
          <p:cNvPr id="17412" name="Rectangle 4">
            <a:extLst>
              <a:ext uri="{FF2B5EF4-FFF2-40B4-BE49-F238E27FC236}">
                <a16:creationId xmlns:a16="http://schemas.microsoft.com/office/drawing/2014/main" id="{C5CA45AE-3E60-EFBF-4A39-01B7F22AF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2060575"/>
            <a:ext cx="8980487" cy="1846263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696" tIns="0" rIns="12696" bIns="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Com o comando continue pode-se parar a iteração atual e continuar com a próxima (no teste):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ço Reservado para Número de Slide 1">
            <a:extLst>
              <a:ext uri="{FF2B5EF4-FFF2-40B4-BE49-F238E27FC236}">
                <a16:creationId xmlns:a16="http://schemas.microsoft.com/office/drawing/2014/main" id="{76F18BEE-2D35-214D-5436-A17C91A94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36CA6373-370B-4D14-B19C-85B58AAAECC0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pt-BR" altLang="pt-BR" sz="1400"/>
          </a:p>
        </p:txBody>
      </p:sp>
      <p:sp>
        <p:nvSpPr>
          <p:cNvPr id="18435" name="Text Box 2">
            <a:extLst>
              <a:ext uri="{FF2B5EF4-FFF2-40B4-BE49-F238E27FC236}">
                <a16:creationId xmlns:a16="http://schemas.microsoft.com/office/drawing/2014/main" id="{9FE51871-501C-5509-E366-4BEE2DB48E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19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89868C4E-3177-7F97-C7F3-1BE021685B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peça para o usuário digitar 10 números inteiros.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Nestes valores mostrar somente quando for digitado o numero par.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endParaRPr lang="pt-BR" altLang="pt-BR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ço Reservado para Número de Slide 1">
            <a:extLst>
              <a:ext uri="{FF2B5EF4-FFF2-40B4-BE49-F238E27FC236}">
                <a16:creationId xmlns:a16="http://schemas.microsoft.com/office/drawing/2014/main" id="{D16735AC-97E3-818E-7465-AD8B27DAB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9D6A5A9-A4AC-4517-9598-FCF252D6C045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pt-BR" altLang="pt-BR" sz="1400"/>
          </a:p>
        </p:txBody>
      </p:sp>
      <p:sp>
        <p:nvSpPr>
          <p:cNvPr id="19459" name="Text Box 2">
            <a:extLst>
              <a:ext uri="{FF2B5EF4-FFF2-40B4-BE49-F238E27FC236}">
                <a16:creationId xmlns:a16="http://schemas.microsoft.com/office/drawing/2014/main" id="{94A35510-3899-EA64-C8BC-A43865EB0A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19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5789F9C6-F1C1-ABF1-8800-92BCAAF35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1916113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contador = 0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while(contador &lt; 10):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numero_texto = input("Digite um número: ")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numero = int(numero_texto)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contador = contador + 1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if numero % 2 == 0 and numero != 0: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   print("O Número: “, nume, “ É PAR")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else: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   continue  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b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altLang="pt-BR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ço Reservado para Número de Slide 1">
            <a:extLst>
              <a:ext uri="{FF2B5EF4-FFF2-40B4-BE49-F238E27FC236}">
                <a16:creationId xmlns:a16="http://schemas.microsoft.com/office/drawing/2014/main" id="{A7B98BC5-4432-8D34-CD01-3C9473859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DD5894-0A9D-4502-9E3E-40D6FC5FDC9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624487C-94D5-5470-D2A9-7B6C442EEE15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1916113"/>
            <a:ext cx="8897937" cy="3887787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ESTRUTURAS DE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REPETIÇÃO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COMANDO </a:t>
            </a: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WHILE - ELSE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ço Reservado para Número de Slide 1">
            <a:extLst>
              <a:ext uri="{FF2B5EF4-FFF2-40B4-BE49-F238E27FC236}">
                <a16:creationId xmlns:a16="http://schemas.microsoft.com/office/drawing/2014/main" id="{137FCDEA-5D09-8492-37E7-E2CF2B943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ACFEFF82-0B1F-427A-8584-2B4F91821A3A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pt-BR" altLang="pt-BR" sz="1400"/>
          </a:p>
        </p:txBody>
      </p:sp>
      <p:sp>
        <p:nvSpPr>
          <p:cNvPr id="21507" name="Text Box 2">
            <a:extLst>
              <a:ext uri="{FF2B5EF4-FFF2-40B4-BE49-F238E27FC236}">
                <a16:creationId xmlns:a16="http://schemas.microsoft.com/office/drawing/2014/main" id="{02E62074-8F61-58A9-C830-651571331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Comando while/else</a:t>
            </a: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C45D0977-8408-8EA4-DECA-8BE29F1006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3" y="2060575"/>
            <a:ext cx="8980487" cy="2462213"/>
          </a:xfrm>
          <a:prstGeom prst="rect">
            <a:avLst/>
          </a:prstGeom>
          <a:solidFill>
            <a:srgbClr val="F9FAF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696" tIns="0" rIns="12696" bIns="0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000" b="1">
                <a:latin typeface="Arial" panose="020B0604020202020204" pitchFamily="34" charset="0"/>
                <a:cs typeface="Arial" panose="020B0604020202020204" pitchFamily="34" charset="0"/>
              </a:rPr>
              <a:t>Com a instrução else pode-se executar um bloco de códigos uma vez quando a condição não for mais verdadeira.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ço Reservado para Número de Slide 1">
            <a:extLst>
              <a:ext uri="{FF2B5EF4-FFF2-40B4-BE49-F238E27FC236}">
                <a16:creationId xmlns:a16="http://schemas.microsoft.com/office/drawing/2014/main" id="{6F2424D9-4614-4D85-4047-5E77E8A5B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5E8B8E1A-DFDD-4E57-B19E-1156BBCCD97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pt-BR" altLang="pt-BR" sz="1400"/>
          </a:p>
        </p:txBody>
      </p:sp>
      <p:sp>
        <p:nvSpPr>
          <p:cNvPr id="22531" name="Text Box 2">
            <a:extLst>
              <a:ext uri="{FF2B5EF4-FFF2-40B4-BE49-F238E27FC236}">
                <a16:creationId xmlns:a16="http://schemas.microsoft.com/office/drawing/2014/main" id="{387066CE-3302-BD92-C58D-83E7199DD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20</a:t>
            </a: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8586F1E9-A251-A95B-38C7-3B73752F7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peça para o usuário digitar 10 números inteiros.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Nestes valores mostrar somente quando for digitado o numero par.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OBS: Se for digitado um zero, parar a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    entrada de números;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    Quando forem digitados os 10     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    números mostrar a mensagem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    “JÁ FORAM DIGITADOS OS 10  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          NUMEROS”.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ço Reservado para Número de Slide 1">
            <a:extLst>
              <a:ext uri="{FF2B5EF4-FFF2-40B4-BE49-F238E27FC236}">
                <a16:creationId xmlns:a16="http://schemas.microsoft.com/office/drawing/2014/main" id="{5E216E06-58D2-CBF9-8103-593092671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77404137-B535-4368-AFD2-D0B4834A6F2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pt-BR" altLang="pt-BR" sz="1400"/>
          </a:p>
        </p:txBody>
      </p:sp>
      <p:sp>
        <p:nvSpPr>
          <p:cNvPr id="23555" name="Text Box 2">
            <a:extLst>
              <a:ext uri="{FF2B5EF4-FFF2-40B4-BE49-F238E27FC236}">
                <a16:creationId xmlns:a16="http://schemas.microsoft.com/office/drawing/2014/main" id="{22A61033-D32D-9C63-87C1-5C2699E18E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20</a:t>
            </a: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E26DB8E8-FE0A-DF4B-CA41-89058F686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contador = 0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while(contador &lt; 10):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numero_texto = input("Digite um número: ")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numero = int(numero_texto)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contador = contador + 1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if numero % 2 == 0 and numero != 0: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   print("O Número: “, numero, “ É PAR")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elif numero == 0: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   break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else: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   continue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else: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 print(“JÁ FORAM DIGITADOS OS 10 NUMEROS")  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b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altLang="pt-BR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ço Reservado para Número de Slide 1">
            <a:extLst>
              <a:ext uri="{FF2B5EF4-FFF2-40B4-BE49-F238E27FC236}">
                <a16:creationId xmlns:a16="http://schemas.microsoft.com/office/drawing/2014/main" id="{C6988895-CFEE-FBB7-94AA-6044A84AA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C3C10707-D003-4389-8BC0-51B29E68B752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pt-BR" altLang="pt-BR" sz="1400"/>
          </a:p>
        </p:txBody>
      </p:sp>
      <p:sp>
        <p:nvSpPr>
          <p:cNvPr id="24579" name="Text Box 2">
            <a:extLst>
              <a:ext uri="{FF2B5EF4-FFF2-40B4-BE49-F238E27FC236}">
                <a16:creationId xmlns:a16="http://schemas.microsoft.com/office/drawing/2014/main" id="{D4B0A16C-04F9-DA24-B513-30E56A3A29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Exemplo 20</a:t>
            </a:r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8DBA2282-C647-4008-6D3F-E45F1C2D84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contador = 0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while(contador &lt; 10):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numero_texto = input("Digite um número: ")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numero = int(numero_texto)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contador = contador + 1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if numero % 2 == 0 and numero != 0: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   print("O Número: “, numero, “ É PAR")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elif numero == 0: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   break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else: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   continue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else: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  <a:t>    print(“JÁ FORAM DIGITADOS OS 10 NUMEROS")  </a:t>
            </a:r>
          </a:p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br>
              <a:rPr lang="pt-BR" altLang="pt-BR" sz="2400" b="1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pt-BR" altLang="pt-BR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o Explicativo Retangular com Cantos Arredondados 1">
            <a:extLst>
              <a:ext uri="{FF2B5EF4-FFF2-40B4-BE49-F238E27FC236}">
                <a16:creationId xmlns:a16="http://schemas.microsoft.com/office/drawing/2014/main" id="{82ADDDE6-F70E-0EEE-D95F-EB6BE5760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133600"/>
            <a:ext cx="3406775" cy="1295400"/>
          </a:xfrm>
          <a:prstGeom prst="wedgeRoundRectCallout">
            <a:avLst>
              <a:gd name="adj1" fmla="val -154565"/>
              <a:gd name="adj2" fmla="val 182606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Sai  totalmente do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while(sem o else)</a:t>
            </a:r>
          </a:p>
        </p:txBody>
      </p:sp>
      <p:sp>
        <p:nvSpPr>
          <p:cNvPr id="6" name="Texto Explicativo Retangular com Cantos Arredondados 5">
            <a:extLst>
              <a:ext uri="{FF2B5EF4-FFF2-40B4-BE49-F238E27FC236}">
                <a16:creationId xmlns:a16="http://schemas.microsoft.com/office/drawing/2014/main" id="{D022F5DA-A6BC-B468-A091-208F47D3E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4149725"/>
            <a:ext cx="3406775" cy="1582738"/>
          </a:xfrm>
          <a:prstGeom prst="wedgeRoundRectCallout">
            <a:avLst>
              <a:gd name="adj1" fmla="val -178579"/>
              <a:gd name="adj2" fmla="val 92782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Quando termina 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normalmente o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2800" b="1">
                <a:latin typeface="Arial" panose="020B0604020202020204" pitchFamily="34" charset="0"/>
                <a:cs typeface="Arial" panose="020B0604020202020204" pitchFamily="34" charset="0"/>
              </a:rPr>
              <a:t>while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ço Reservado para Número de Slide 1">
            <a:extLst>
              <a:ext uri="{FF2B5EF4-FFF2-40B4-BE49-F238E27FC236}">
                <a16:creationId xmlns:a16="http://schemas.microsoft.com/office/drawing/2014/main" id="{E31C3988-B25C-5502-0694-66435A740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D2FA7E6D-8130-463A-8B0E-FD2331D09DC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pt-BR" altLang="pt-BR" sz="1400"/>
          </a:p>
        </p:txBody>
      </p:sp>
      <p:sp>
        <p:nvSpPr>
          <p:cNvPr id="25603" name="Text Box 2">
            <a:extLst>
              <a:ext uri="{FF2B5EF4-FFF2-40B4-BE49-F238E27FC236}">
                <a16:creationId xmlns:a16="http://schemas.microsoft.com/office/drawing/2014/main" id="{4CCA9CE5-FBBA-FD2E-1238-D7B6A78EBE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pt-BR" altLang="pt-BR" sz="4200" b="1">
              <a:latin typeface="Arial" panose="020B0604020202020204" pitchFamily="34" charset="0"/>
            </a:endParaRPr>
          </a:p>
        </p:txBody>
      </p:sp>
      <p:pic>
        <p:nvPicPr>
          <p:cNvPr id="25604" name="Imagem 1">
            <a:extLst>
              <a:ext uri="{FF2B5EF4-FFF2-40B4-BE49-F238E27FC236}">
                <a16:creationId xmlns:a16="http://schemas.microsoft.com/office/drawing/2014/main" id="{4A79844C-F82C-5E5E-F6C8-F09655409E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2013" y="2501900"/>
            <a:ext cx="3663950" cy="3590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ço Reservado para Número de Slide 1">
            <a:extLst>
              <a:ext uri="{FF2B5EF4-FFF2-40B4-BE49-F238E27FC236}">
                <a16:creationId xmlns:a16="http://schemas.microsoft.com/office/drawing/2014/main" id="{F7CF71AB-3212-7278-09B3-69E7D9D74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3B9715FA-D790-4A03-98F4-45D9F58C61DF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pt-BR" altLang="pt-BR" sz="140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F831DE8-5066-BD3A-C5CD-6A5E0180B2AA}"/>
              </a:ext>
            </a:extLst>
          </p:cNvPr>
          <p:cNvSpPr txBox="1">
            <a:spLocks noChangeArrowheads="1"/>
          </p:cNvSpPr>
          <p:nvPr/>
        </p:nvSpPr>
        <p:spPr>
          <a:xfrm>
            <a:off x="246063" y="2133600"/>
            <a:ext cx="8897937" cy="3887788"/>
          </a:xfrm>
          <a:prstGeom prst="rect">
            <a:avLst/>
          </a:prstGeom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algn="ctr">
              <a:spcBef>
                <a:spcPts val="0"/>
              </a:spcBef>
              <a:buFontTx/>
              <a:buNone/>
              <a:defRPr/>
            </a:pPr>
            <a:endParaRPr lang="pt-BR" altLang="pt-BR" sz="4600" b="1" kern="0" dirty="0">
              <a:latin typeface="Arial Black" panose="020B0A04020102020204" pitchFamily="34" charset="0"/>
            </a:endParaRPr>
          </a:p>
          <a:p>
            <a:pPr marL="0" indent="0" algn="ctr">
              <a:spcBef>
                <a:spcPts val="0"/>
              </a:spcBef>
              <a:buFontTx/>
              <a:buNone/>
              <a:defRPr/>
            </a:pPr>
            <a:r>
              <a:rPr lang="pt-BR" altLang="pt-BR" sz="4600" b="1" kern="0" dirty="0">
                <a:latin typeface="Arial Black" panose="020B0A04020102020204" pitchFamily="34" charset="0"/>
              </a:rPr>
              <a:t>EXERCÍCIOS</a:t>
            </a:r>
          </a:p>
        </p:txBody>
      </p:sp>
      <p:sp>
        <p:nvSpPr>
          <p:cNvPr id="26628" name="Text Box 2">
            <a:extLst>
              <a:ext uri="{FF2B5EF4-FFF2-40B4-BE49-F238E27FC236}">
                <a16:creationId xmlns:a16="http://schemas.microsoft.com/office/drawing/2014/main" id="{CEA92514-8DCA-E398-927A-053D3E314D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Comando while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ço Reservado para Número de Slide 1">
            <a:extLst>
              <a:ext uri="{FF2B5EF4-FFF2-40B4-BE49-F238E27FC236}">
                <a16:creationId xmlns:a16="http://schemas.microsoft.com/office/drawing/2014/main" id="{F0762BD8-69C6-1F9F-8BBD-BBE86071F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93595AF6-AC82-49B3-99A1-3E15D855293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pt-BR" altLang="pt-BR" sz="1400"/>
          </a:p>
        </p:txBody>
      </p:sp>
      <p:sp>
        <p:nvSpPr>
          <p:cNvPr id="27651" name="Text Box 2">
            <a:extLst>
              <a:ext uri="{FF2B5EF4-FFF2-40B4-BE49-F238E27FC236}">
                <a16:creationId xmlns:a16="http://schemas.microsoft.com/office/drawing/2014/main" id="{9F76CD55-CED6-2901-9D4A-404DB1A44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Exercício 16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46C51925-8E00-1DE2-60FD-FAA6472C4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925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006475" indent="-5715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leia e valide as seguintes informações, mostrando mensagens de erro:</a:t>
            </a:r>
          </a:p>
          <a:p>
            <a:pPr lvl="2">
              <a:spcBef>
                <a:spcPct val="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Nome: diferente de “ “;</a:t>
            </a:r>
          </a:p>
          <a:p>
            <a:pPr lvl="2">
              <a:spcBef>
                <a:spcPct val="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Idade: entre 14 e 80;</a:t>
            </a:r>
          </a:p>
          <a:p>
            <a:pPr lvl="2">
              <a:spcBef>
                <a:spcPct val="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Salário: maior que zero;</a:t>
            </a:r>
          </a:p>
          <a:p>
            <a:pPr lvl="2">
              <a:spcBef>
                <a:spcPct val="0"/>
              </a:spcBef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Sexo: ‘F' ou ‘M';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ço Reservado para Número de Slide 1">
            <a:extLst>
              <a:ext uri="{FF2B5EF4-FFF2-40B4-BE49-F238E27FC236}">
                <a16:creationId xmlns:a16="http://schemas.microsoft.com/office/drawing/2014/main" id="{429DCC75-3DD8-430A-BC88-2AE08CA9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339828C5-3A1B-47DF-8343-E8204D67C20E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pt-BR" altLang="pt-BR" sz="1400"/>
          </a:p>
        </p:txBody>
      </p:sp>
      <p:sp>
        <p:nvSpPr>
          <p:cNvPr id="28675" name="Text Box 2">
            <a:extLst>
              <a:ext uri="{FF2B5EF4-FFF2-40B4-BE49-F238E27FC236}">
                <a16:creationId xmlns:a16="http://schemas.microsoft.com/office/drawing/2014/main" id="{756B7578-E5EE-0113-B7BF-DAE4DBD3E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Exercício 17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419BD84D-FA44-37BF-0468-B66ACDFD0F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peça para o usuário digitar quantos valores ele quer avaliar.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Depois entre com esta quantidade de valores mostrando no final o maior valor digitado.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ço Reservado para Número de Slide 1">
            <a:extLst>
              <a:ext uri="{FF2B5EF4-FFF2-40B4-BE49-F238E27FC236}">
                <a16:creationId xmlns:a16="http://schemas.microsoft.com/office/drawing/2014/main" id="{4AAB9A6C-7E4C-AA34-2E7E-8E8853EDD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E67AB606-97AE-4901-A78C-027220BEBB09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pt-BR" altLang="pt-BR" sz="1400"/>
          </a:p>
        </p:txBody>
      </p:sp>
      <p:sp>
        <p:nvSpPr>
          <p:cNvPr id="29699" name="Text Box 2">
            <a:extLst>
              <a:ext uri="{FF2B5EF4-FFF2-40B4-BE49-F238E27FC236}">
                <a16:creationId xmlns:a16="http://schemas.microsoft.com/office/drawing/2014/main" id="{5175EC56-8D1D-3252-89C7-4FD6351E9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Exercício 18</a:t>
            </a:r>
          </a:p>
        </p:txBody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1E8BE2E9-1A42-BF48-72C1-062E18590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peça para o usuário digitar quantos valores inteiros, parando quando for digiyado o valor zero.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3600" b="1">
                <a:latin typeface="Arial" panose="020B0604020202020204" pitchFamily="34" charset="0"/>
                <a:cs typeface="Arial" panose="020B0604020202020204" pitchFamily="34" charset="0"/>
              </a:rPr>
              <a:t>Durante a digitação mostrar, um embaixo do outro, somente os valores ímpares.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ço Reservado para Número de Slide 1">
            <a:extLst>
              <a:ext uri="{FF2B5EF4-FFF2-40B4-BE49-F238E27FC236}">
                <a16:creationId xmlns:a16="http://schemas.microsoft.com/office/drawing/2014/main" id="{BC37A3F4-222C-9396-6A0C-F103E68CE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661CB117-C587-47B2-A27A-C8A1C1012224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pt-BR" altLang="pt-BR" sz="1400"/>
          </a:p>
        </p:txBody>
      </p:sp>
      <p:sp>
        <p:nvSpPr>
          <p:cNvPr id="30723" name="Text Box 2">
            <a:extLst>
              <a:ext uri="{FF2B5EF4-FFF2-40B4-BE49-F238E27FC236}">
                <a16:creationId xmlns:a16="http://schemas.microsoft.com/office/drawing/2014/main" id="{70E379FF-12FC-EB67-276A-A71E2578DB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Exercício 19</a:t>
            </a:r>
          </a:p>
        </p:txBody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4434F3E8-CF2D-4560-2B41-F2DF939DC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pt-BR" alt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peça para o usuário digitar quantos valores inteiros, parando quando for digitado o valor zero.</a:t>
            </a:r>
          </a:p>
          <a:p>
            <a:pPr>
              <a:buFont typeface="Wingdings" panose="05000000000000000000" pitchFamily="2" charset="2"/>
              <a:buNone/>
            </a:pPr>
            <a:r>
              <a:rPr lang="pt-BR" alt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Durante a digitação mostrar, um ao lado do outro, somente os valores pares.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ço Reservado para Número de Slide 1">
            <a:extLst>
              <a:ext uri="{FF2B5EF4-FFF2-40B4-BE49-F238E27FC236}">
                <a16:creationId xmlns:a16="http://schemas.microsoft.com/office/drawing/2014/main" id="{455DE6EA-6D11-C696-BDF6-A1C52A68D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39528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pt-BR" altLang="pt-BR" sz="1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fld id="{F22D464B-E572-45F7-A5F6-996DF694869D}" type="slidenum">
              <a:rPr lang="pt-BR" altLang="pt-BR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28</a:t>
            </a:fld>
            <a:endParaRPr lang="pt-BR" altLang="pt-BR" sz="1400"/>
          </a:p>
        </p:txBody>
      </p:sp>
      <p:sp>
        <p:nvSpPr>
          <p:cNvPr id="31747" name="Text Box 2">
            <a:extLst>
              <a:ext uri="{FF2B5EF4-FFF2-40B4-BE49-F238E27FC236}">
                <a16:creationId xmlns:a16="http://schemas.microsoft.com/office/drawing/2014/main" id="{34F3882C-7830-B93C-F2B1-FAAADBF43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3" y="141288"/>
            <a:ext cx="9144001" cy="141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400" b="1">
                <a:latin typeface="Arial" panose="020B0604020202020204" pitchFamily="34" charset="0"/>
              </a:rPr>
              <a:t>LINGUAGEM DE PROG. PYTHON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pt-BR" altLang="pt-BR" sz="4200" b="1">
                <a:latin typeface="Arial" panose="020B0604020202020204" pitchFamily="34" charset="0"/>
              </a:rPr>
              <a:t>Exercício 20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B1636467-42E3-9E59-6C83-0EBD4020E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1989138"/>
            <a:ext cx="8712200" cy="408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pt-BR" altLang="pt-BR" sz="3600" b="1" dirty="0">
                <a:latin typeface="Arial" panose="020B0604020202020204" pitchFamily="34" charset="0"/>
                <a:cs typeface="Arial" panose="020B0604020202020204" pitchFamily="34" charset="0"/>
              </a:rPr>
              <a:t>Desenvolver um programa em Python que </a:t>
            </a: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mostre se um número é </a:t>
            </a:r>
            <a:r>
              <a:rPr lang="pt-BR" altLang="pt-BR" b="1" dirty="0">
                <a:latin typeface="Arial Black" panose="020B0A04020102020204" pitchFamily="34" charset="0"/>
                <a:cs typeface="Arial" panose="020B0604020202020204" pitchFamily="34" charset="0"/>
              </a:rPr>
              <a:t>primo </a:t>
            </a:r>
            <a:r>
              <a:rPr lang="pt-BR" altLang="pt-BR" b="1" dirty="0">
                <a:latin typeface="Arial" panose="020B0604020202020204" pitchFamily="34" charset="0"/>
                <a:cs typeface="Arial" panose="020B0604020202020204" pitchFamily="34" charset="0"/>
              </a:rPr>
              <a:t>ou não.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ometrico">
  <a:themeElements>
    <a:clrScheme name="Geometrico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Geometric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Geometrico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ometrico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ometrico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96FFDBFEEF43744B28FED0BED27951C" ma:contentTypeVersion="3" ma:contentTypeDescription="Crie um novo documento." ma:contentTypeScope="" ma:versionID="6b6c4c5daaee2a632d6b67adcf0c1dcb">
  <xsd:schema xmlns:xsd="http://www.w3.org/2001/XMLSchema" xmlns:xs="http://www.w3.org/2001/XMLSchema" xmlns:p="http://schemas.microsoft.com/office/2006/metadata/properties" xmlns:ns2="b8c6fbff-0035-4a65-874c-c953b48de930" targetNamespace="http://schemas.microsoft.com/office/2006/metadata/properties" ma:root="true" ma:fieldsID="baff7f672380be738a5ef06f0e14aaff" ns2:_="">
    <xsd:import namespace="b8c6fbff-0035-4a65-874c-c953b48de9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c6fbff-0035-4a65-874c-c953b48de9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3A4641E-74B8-4F09-96E4-E2B427C58531}"/>
</file>

<file path=customXml/itemProps2.xml><?xml version="1.0" encoding="utf-8"?>
<ds:datastoreItem xmlns:ds="http://schemas.openxmlformats.org/officeDocument/2006/customXml" ds:itemID="{CEB5B303-E4D2-4243-AE44-37557AA78F55}"/>
</file>

<file path=customXml/itemProps3.xml><?xml version="1.0" encoding="utf-8"?>
<ds:datastoreItem xmlns:ds="http://schemas.openxmlformats.org/officeDocument/2006/customXml" ds:itemID="{6F5B8D4B-CF37-450C-A6C6-788D0CD517EB}"/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apresentação\Geometrico.pot</Template>
  <TotalTime>5220</TotalTime>
  <Words>1133</Words>
  <Application>Microsoft Office PowerPoint</Application>
  <PresentationFormat>Apresentação na tela (4:3)</PresentationFormat>
  <Paragraphs>329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4" baseType="lpstr">
      <vt:lpstr>Tahoma</vt:lpstr>
      <vt:lpstr>Arial</vt:lpstr>
      <vt:lpstr>Wingdings</vt:lpstr>
      <vt:lpstr>Calibri</vt:lpstr>
      <vt:lpstr>Arial Black</vt:lpstr>
      <vt:lpstr>Geometrico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MA Inform[atica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Antonio Rodrigues da Silva</dc:creator>
  <cp:lastModifiedBy>MARCOS JR</cp:lastModifiedBy>
  <cp:revision>266</cp:revision>
  <dcterms:created xsi:type="dcterms:W3CDTF">2003-02-25T17:31:44Z</dcterms:created>
  <dcterms:modified xsi:type="dcterms:W3CDTF">2025-09-09T21:38:04Z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0x010100296FFDBFEEF43744B28FED0BED27951C</vt:lpwstr>
  </property>
</Properties>
</file>